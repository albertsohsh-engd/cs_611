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0489487-0DD1-4340-B78E-99ADF551D652}">
          <p14:sldIdLst>
            <p14:sldId id="256"/>
            <p14:sldId id="257"/>
            <p14:sldId id="258"/>
          </p14:sldIdLst>
        </p14:section>
        <p14:section name="Part 1 · Bronze EDA" id="{0C230980-946A-4D1A-8136-FEA5D8A4B858}">
          <p14:sldIdLst>
            <p14:sldId id="259"/>
            <p14:sldId id="260"/>
            <p14:sldId id="261"/>
            <p14:sldId id="262"/>
            <p14:sldId id="263"/>
          </p14:sldIdLst>
        </p14:section>
        <p14:section name="Part 2 · Silver data cleaning" id="{55D8913C-B793-4ED6-B99A-01D647976EFA}">
          <p14:sldIdLst>
            <p14:sldId id="264"/>
            <p14:sldId id="265"/>
            <p14:sldId id="266"/>
            <p14:sldId id="267"/>
            <p14:sldId id="268"/>
          </p14:sldIdLst>
        </p14:section>
        <p14:section name="Part 3 · Gold feature store" id="{FE249850-9EA3-4996-84EB-4902029DF932}">
          <p14:sldIdLst>
            <p14:sldId id="269"/>
            <p14:sldId id="270"/>
            <p14:sldId id="271"/>
            <p14:sldId id="272"/>
          </p14:sldIdLst>
        </p14:section>
        <p14:section name="Part 4 · EDA to findings" id="{7D42FC77-7D87-4B01-B62D-FA30E24006CC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art 5 · Feature engineering" id="{80020B50-B797-42FD-BD6D-305F348A975E}">
          <p14:sldIdLst>
            <p14:sldId id="279"/>
            <p14:sldId id="280"/>
            <p14:sldId id="281"/>
            <p14:sldId id="282"/>
            <p14:sldId id="283"/>
          </p14:sldIdLst>
        </p14:section>
        <p14:section name="Summary" id="{9E0543B7-BB04-4708-AFCE-6C825136E7CB}">
          <p14:sldIdLst>
            <p14:sldId id="28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4213D"/>
                </a:solidFill>
                <a:latin typeface="Calibri"/>
              </a:rPr>
              <a:t>Raw EDA issues by severity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Issues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21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CD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4213D"/>
                </a:solidFill>
                <a:latin typeface="Calibri"/>
              </a:rPr>
              <a:t>103 validation rules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cleaning</c:v>
                </c:pt>
              </c:strCache>
            </c:strRef>
          </c:tx>
          <c:spPr>
            <a:solidFill>
              <a:srgbClr val="5B6472"/>
            </a:solidFill>
          </c:spPr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WARN</c:v>
                </c:pt>
                <c:pt idx="2">
                  <c:v>FAIL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6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cleaning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WARN</c:v>
                </c:pt>
                <c:pt idx="2">
                  <c:v>FAIL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CD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4213D"/>
                </a:solidFill>
                <a:latin typeface="Calibri"/>
              </a:rPr>
              <a:t>Decision register: 39 findings (35 EDA + 3 audit + 1 step 08)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Transform</c:v>
                </c:pt>
                <c:pt idx="1">
                  <c:v>Defer to Gold</c:v>
                </c:pt>
                <c:pt idx="2">
                  <c:v>Correct</c:v>
                </c:pt>
                <c:pt idx="3">
                  <c:v>Accept</c:v>
                </c:pt>
                <c:pt idx="4">
                  <c:v>Exclude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7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CD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4213D"/>
                </a:solidFill>
                <a:latin typeface="Calibri"/>
              </a:rPr>
              <a:t>68 features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Source</c:v>
                </c:pt>
                <c:pt idx="1">
                  <c:v>Silver-derived</c:v>
                </c:pt>
                <c:pt idx="2">
                  <c:v>Gold flags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19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CD2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4213D"/>
                </a:solidFill>
                <a:latin typeface="Calibri"/>
              </a:rPr>
              <a:t>Action register status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Closed</c:v>
                </c:pt>
                <c:pt idx="1">
                  <c:v>Accepted</c:v>
                </c:pt>
                <c:pt idx="2">
                  <c:v>Assigned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13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CD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everything up to model development. Steps 01-23 of the V6.6 checklist. Models (steps 24-30) come next. The deck explains what was built and, more importantly, why each choice was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parts, each ending in a checked output. Key numbers: 4 sources, ~378k raw rows, 12,500 loans with a 28.8% default rate. Gates 1-3 passed. Emphasise the train-only principle - it drives most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contract answers: what do we predict, for which unit, at what moment, with which data. Lab convention for the label: DPD computed from missed instalments; label = DPD &gt;= 30 at MOB 6. check_predictors() rejects any column not available at scoring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audit checks per table: count and per-partition reconciliation, current-file check, freshness, missing months, null and duplicate keys, schema drift, column layout. Only freshness warns.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Chart: share of rows with a problem per column, stacked by problem type. 35 issues: 11 high, 21 medium, 3 low. The register records findings only - the treatment is decided in Silver, as the checklist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Symmetric-log x axis shows negatives in real units; log y axis makes small error clusters visible. Shaded band = plausible range. The gap between the body and the far cluster is the evidence for treating them as invalid (set to null in Silver) rather than capping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bars = placeholder or unclear codes. Personal data never enters Silver or any report (HTML profiles are generated without Name/SSN and without sample rows).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debate: null vs quarantine vs cap. Null keeps the row and its other good values; the model imputes later with training-only medians (step 18). Quarantine is reserved for critical fields (keys, dates, label inputs).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Rules: keys, null %, ranges, categories, formats, dates, loan-ledger reconciliation, cross-field (instalment vs salary, loan count vs loan list), foreign keys. Same rules run before and after cleaning. Right: what cleaning changed per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Blue = Bronze, orange = Silver on identical axes. Where they overlap, cleaning did nothing; only the separate error clusters disappear. PSI caveat: Num_of_Loan PSI 0.45 because removing the -100 code empties one bin, median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Bronze-vs-Silver distribution overlay revealed a residual cluster for Total_EMI_per_month that the fixed upper bound let through. The decision register links every Bronze issue ID to a decision and a verification test; a test fails if any finding is unmapped.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Grain = loan (equals customer here, but loan grain is correct and future-proof). Feature store partitioned by scoring month, label store by outcome month. Contract bumped to v1.1.0 to declare the derived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chart: missing features per loan is bimodal. Left cluster = cleaning nulls (1-5 features); right cluster = no clickstream history (20+ features). 130,468 future-dated clickstream rows were excluded by the as-of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 edge case documented and unit-tested: under the calendar-day DPD convention, one missed instalment over February gives 29 days (label 0). No such loan exists here: the minimum at MOB 6 is two missed instalments.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not a purely random split: the model scores future applicants, so the honest final estimate must come from later loans (out-of-time). In-time test vs out-of-time shows drift. Also note: OOT has no clickstream, so model A is the one evaluated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Information value: &lt;0.02 not useful, 0.02-0.1 weak, 0.1-0.3 medium, 0.3-0.5 strong, &gt;0.5 suspicious. Real leakage usually shows univariate AUC above 0.9; here the strongest is 0.73.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rate by decile of each feature, training data only; dashed line = training average 28.9%.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PSI below 0.1 = stable. The control chart shows each month's default rate against 3-sigma sampling limits (train only). Slight upward trend of +0.21 pp per month; chi-square homogeneity p = 0.048.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register consolidates Bronze, Silver and Gold findings: 34 closed (done and verified), 13 accepted with rationale, 9 assigned to a named later step. Gate 2 requires nothing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choice: OpenFE (flat tabular interactions) over Featuretools (relational DFS) because after Gold there is one row per loan. Technical issue: OpenFE 0.0.12 crashes with LightGBM 4.x; pinned LightGBM 3.3.5.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bars = generated, blue = original. The definition catalog records formula, inputs, operator, zero-denominator rule and training IV/AUC for each generated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V6.6 asks to flag rather than blindly drop and to document validation impact. Reference models trained on train and scored on validation only. Early signal, not a decision: generated features don't help the tree model (A_fe 0.605 vs A_raw 0.626), clickstream may help in-time (B_raw 0.651).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duplicate indicators: features that already carry an _invalid flag from Silver don't get a second missing indicator. Example of no-refit evidence: Outstanding_Debt train median 1169.20 is used everywhere; validation median would be 1161.06.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four takeaways and the plan for section 04. Primary metric proposed: PR-AUC (defaults are 29% of loans), with ROC-AUC, recall and precision as secondary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CS611 · ASSIGNMENT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6070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Loan default prediction: building a leakage-safe data and feature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Bronze → Silver → Gold → split and EDA → automated feature engineering
Checklist V6.6, steps 01–23 · PySpark 3.5 · scikit-learn · OpenFE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October 2026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The pipeline at a glance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7373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mbria"/>
              </a:rPr>
              <a:t>Bronze 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737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Ingest as-is, audit,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Steps 02–04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8608" y="2286000"/>
            <a:ext cx="23774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4173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50876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783080"/>
            <a:ext cx="17373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mbria"/>
              </a:rPr>
              <a:t>Silver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423160"/>
            <a:ext cx="1737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Schema, validate, clean,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78892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Steps 05–09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64608" y="2286000"/>
            <a:ext cx="23774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14173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50876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783080"/>
            <a:ext cx="17373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mbria"/>
              </a:rPr>
              <a:t>Gold feature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423160"/>
            <a:ext cx="1737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As-of joins, labels, 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78892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Steps 10–13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0608" y="2286000"/>
            <a:ext cx="23774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14173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50876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PART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1783080"/>
            <a:ext cx="17373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mbria"/>
              </a:rPr>
              <a:t>EDA to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423160"/>
            <a:ext cx="1737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Split, target EDA,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78892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Steps 14–17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36608" y="2286000"/>
            <a:ext cx="23774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92640" y="14173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150876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PART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783080"/>
            <a:ext cx="17373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mbria"/>
              </a:rPr>
              <a:t>Feature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423160"/>
            <a:ext cx="1737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AutoFE, filtering, preprocessing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78892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Steps 18–23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61188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03320"/>
            <a:ext cx="146303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mbri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325112"/>
            <a:ext cx="1463039" cy="4846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raw sources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50592" y="361188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87752" y="3703320"/>
            <a:ext cx="146303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mbria"/>
              </a:rPr>
              <a:t>377,876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87752" y="4325112"/>
            <a:ext cx="1463039" cy="4846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raw rows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52544" y="361188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9704" y="3703320"/>
            <a:ext cx="146303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mbria"/>
              </a:rPr>
              <a:t>12,500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704" y="4325112"/>
            <a:ext cx="1463039" cy="4846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loans, one per customer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54496" y="361188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91656" y="3703320"/>
            <a:ext cx="146303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EB6834"/>
                </a:solidFill>
                <a:latin typeface="Cambria"/>
              </a:rPr>
              <a:t>28.8%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6" y="4325112"/>
            <a:ext cx="1463039" cy="4846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default rate (30 DPD at month 6)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361188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93608" y="3703320"/>
            <a:ext cx="146303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mbria"/>
              </a:rPr>
              <a:t>68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3608" y="4325112"/>
            <a:ext cx="1463039" cy="4846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Gold features + 20 generated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58400" y="361188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60" y="3703320"/>
            <a:ext cx="146303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mbria"/>
              </a:rPr>
              <a:t>3 /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4325112"/>
            <a:ext cx="1463039" cy="4846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quality gates passed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Principle throughout: </a:t>
            </a:r>
            <a:r>
              <a:rPr sz="1400" b="0">
                <a:solidFill>
                  <a:srgbClr val="1F2937"/>
                </a:solidFill>
                <a:latin typeface="Calibri"/>
              </a:rPr>
              <a:t>anything that learns or chooses uses training data only; fixed formulas apply to every row; the out-of-time holdout stays untouched until the final test.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Code: </a:t>
            </a:r>
            <a:r>
              <a:rPr sz="1400" b="0">
                <a:solidFill>
                  <a:srgbClr val="1F2937"/>
                </a:solidFill>
                <a:latin typeface="Calibri"/>
              </a:rPr>
              <a:t>developed in notebooks, converted to importable modules (util/*.py) with outputs verified identical; two orchestrator notebooks run the whole flow, and an Airflow DAG runs it month by month (back-fill 2023-01 → 2025-11), verified identical to the full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01: a signed prediction contract drives every layer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01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640" y="1325880"/>
          <a:ext cx="694944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Entity / grain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loan_id, one row per loan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Scoring time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loan_start_date (at application)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30+ days past due at month-on-book 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Horizon / eligibility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months; mature labels only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Feature rule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latest snapshot on or before loan start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Not allowed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loan ledger (contains the outcome), Name, SSN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v1.1.0: derived features declared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325880"/>
            <a:ext cx="3794760" cy="21031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417320"/>
            <a:ext cx="3520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Why a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783080"/>
            <a:ext cx="3520440" cy="1600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source of truth: sources, keys, target and allowed predictors are read from YAML by every layer, not re-typed in code. Changing it means a new version and a new sign-off.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611880"/>
            <a:ext cx="3794760" cy="19659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703320"/>
            <a:ext cx="3520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17 contract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069080"/>
            <a:ext cx="3520440" cy="1463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Structure, sources, derived features, predictor rules and data checks, including a deliberately future-dated row that must never be picked.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Bronze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Ingest the raw files exactly as received, prove the load is complete and repeatable, then profile the raw data. Bronze is never cleaned.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377440" cy="4572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Steps 02–04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Steps 02–03: complete, repeatable raw load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STEPS 02–03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640" y="1325880"/>
          <a:ext cx="676656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1280160"/>
                <a:gridCol w="1280160"/>
                <a:gridCol w="18288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Snapshots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lms_loan_daily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137,500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2023-01 → 2025-11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feature_clickstream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215,376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2023-01 → 2024-12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features_attributes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12,500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2023-01 → 2025-01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features_financials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12,500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2023-01 → 2025-01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94760"/>
            <a:ext cx="6766560" cy="2468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Values unchanged: </a:t>
            </a:r>
            <a:r>
              <a:rPr sz="1400" b="0">
                <a:solidFill>
                  <a:srgbClr val="1F2937"/>
                </a:solidFill>
                <a:latin typeface="Calibri"/>
              </a:rPr>
              <a:t>all columns stored as text plus lineage (source file, row number, batch, schema version).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Idempotent: </a:t>
            </a:r>
            <a:r>
              <a:rPr sz="1400" b="0">
                <a:solidFill>
                  <a:srgbClr val="1F2937"/>
                </a:solidFill>
                <a:latin typeface="Calibri"/>
              </a:rPr>
              <a:t>file SHA-256 fingerprint skips unchanged files; changed files replace the table atomically. Rerun tests prove no duplicated loads.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Layout: </a:t>
            </a:r>
            <a:r>
              <a:rPr sz="1400" b="0">
                <a:solidFill>
                  <a:srgbClr val="1F2937"/>
                </a:solidFill>
                <a:latin typeface="Calibri"/>
              </a:rPr>
              <a:t>one CSV per snapshot month (lab layout).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160019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BAF7A"/>
                </a:solidFill>
                <a:latin typeface="Cambria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039112"/>
            <a:ext cx="1600199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audit checks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32588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417320"/>
            <a:ext cx="160019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EB6834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2039112"/>
            <a:ext cx="1600199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WARN: freshness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697480"/>
            <a:ext cx="3886200" cy="30175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611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Audit warnings explained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154680"/>
            <a:ext cx="3611880" cy="2514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Features end 2024-12 (clickstream) and 2025-01 (attributes, financials) while loans run to 2025-11.
Historical extract: the as-of rule takes each loan's latest snapshot on or before its start, so this is accepted, not an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04: 35 raw-data issues found, none fixed in Bronze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04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6</a:t>
            </a:r>
          </a:p>
        </p:txBody>
      </p:sp>
      <p:pic>
        <p:nvPicPr>
          <p:cNvPr id="6" name="02_data_quality_by_column.png" descr="02_data_quality_by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7074"/>
            <a:ext cx="6400800" cy="4403930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0" y="1280160"/>
          <a:ext cx="452628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3611880"/>
            <a:ext cx="452628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Worst column: </a:t>
            </a:r>
            <a:r>
              <a:rPr sz="1400" b="0">
                <a:solidFill>
                  <a:srgbClr val="1F2937"/>
                </a:solidFill>
                <a:latin typeface="Calibri"/>
              </a:rPr>
              <a:t>Credit_Mix, 20.9% placeholder ‘_’.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Invalid tokens: </a:t>
            </a:r>
            <a:r>
              <a:rPr sz="1400" b="0">
                <a:solidFill>
                  <a:srgbClr val="1F2937"/>
                </a:solidFill>
                <a:latin typeface="Calibri"/>
              </a:rPr>
              <a:t>trailing underscores (32_, 52312.68_) and codes like __10000__.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Findings only: </a:t>
            </a:r>
            <a:r>
              <a:rPr sz="1400" b="0">
                <a:solidFill>
                  <a:srgbClr val="1F2937"/>
                </a:solidFill>
                <a:latin typeface="Calibri"/>
              </a:rPr>
              <a:t>each issue gets its decision later (Silver register).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Impossible values form separate clusters: errors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04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7</a:t>
            </a:r>
          </a:p>
        </p:txBody>
      </p:sp>
      <p:pic>
        <p:nvPicPr>
          <p:cNvPr id="6" name="03_numeric_outliers.png" descr="03_numeric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393" y="1143000"/>
            <a:ext cx="8638732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1F2937"/>
                </a:solidFill>
                <a:latin typeface="Calibri"/>
              </a:rPr>
              <a:t>Age −500 to 8,678; 1,756 bank accounts; interest rates up to 5,789%; income up to 23.8M. A gap separates them from the realistic body, which marks errors rather than genuine extremes.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Placeholders, personal data and a coverage gap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04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8</a:t>
            </a:r>
          </a:p>
        </p:txBody>
      </p:sp>
      <p:pic>
        <p:nvPicPr>
          <p:cNvPr id="6" name="04_categorical_frequencies.png" descr="04_categorical_frequ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2424"/>
            <a:ext cx="6675120" cy="41132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280160"/>
            <a:ext cx="4251960" cy="14630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371600"/>
            <a:ext cx="3977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Placeholder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737360"/>
            <a:ext cx="397764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‘_______’ Occupation 7.0% · ‘_’ Credit_Mix 20.9% · ‘!@9#%8’ Payment_Behaviour 8.0% · ‘NM’ 11.5%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880360"/>
            <a:ext cx="4251960" cy="13258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971800"/>
            <a:ext cx="3977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Personal identifiers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337560"/>
            <a:ext cx="3977640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Name and SSN flagged as PII. 703 SSNs are the junk value ‘#F%$D@*&amp;8’.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343400"/>
            <a:ext cx="4251960" cy="173736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434840"/>
            <a:ext cx="3977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EB6834"/>
                </a:solidFill>
                <a:latin typeface="Calibri"/>
              </a:rPr>
              <a:t>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800600"/>
            <a:ext cx="3977640" cy="12344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Clickstream covers 8,974 of 12,500 loan customers (71.8%). Later this turned out to be a clean time break.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Silver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Enforce a schema contract, validate, clean with recorded decisions, then prove the cleaning against the raw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377440" cy="4572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Steps 05–09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Cleaning decisions: null and flag, never guess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STEPS 05–07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640" y="1280160"/>
          <a:ext cx="11109960" cy="4114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66160"/>
                <a:gridCol w="3063240"/>
                <a:gridCol w="4480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Bronze finding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Silver decision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Evidence / reason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Trailing underscores (32_, 52312.68_)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Correct: strip and cast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~2,600 values recovered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Impossible values (Age 8,678 …)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Null + _invalid flag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Quarantine would lose 22% of loans; impute = leakage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Placeholders and NM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Null + _invalid flag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NM rows mix Yes/No Credit_Mix profiles: not recorded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Empty Type_of_Loan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Means ‘no loans’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1,363 of 1,426 empty rows have Num_of_Loan = 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Negative Delay_from_due_date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Paid before the due 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Instalment &gt; monthly salary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Null + flag (added after step 08)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236 rows; others pay ≤ 15% of salary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Name, SSN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Not loaded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Personal identifiers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Keys, dates, ledger invalid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Quarantine row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 rows needed it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5B6472"/>
                </a:solidFill>
                <a:latin typeface="Calibri"/>
              </a:rPr>
              <a:t>Step 09 parsing runs before step 08: Credit_History_Age → months; Type_of_Loan → list, count and later 9 loan-type flags. Original text kept for audit.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Validation: 14 failures before cleaning, none after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STEPS 06–07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280160"/>
          <a:ext cx="51206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5120640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6 remaining WARNs are accepted nulls (placeholders, NM, empty loan text) and the clickstream coverage gap.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No rows lost: 377,876 in, 377,876 out.</a:t>
            </a:r>
          </a:p>
        </p:txBody>
      </p:sp>
      <p:pic>
        <p:nvPicPr>
          <p:cNvPr id="8" name="silver_cleaning_actions.png" descr="silver_cleaning_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20824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08: typical values kept, error tail removed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08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  <p:pic>
        <p:nvPicPr>
          <p:cNvPr id="6" name="08_2_distributions_bronze_vs_silver.png" descr="08_2_distributions_bronze_vs_si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7042"/>
            <a:ext cx="7406640" cy="3720954"/>
          </a:xfrm>
          <a:prstGeom prst="rect">
            <a:avLst/>
          </a:prstGeom>
        </p:spPr>
      </p:pic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8092440" y="1234440"/>
          <a:ext cx="356616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914400"/>
                <a:gridCol w="10515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33 → 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8,678 → 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Interest_Rate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14 → 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5,789 → 100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Num_Bank_Accounts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6 →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1,756 → 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Num_of_Loan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3 → 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1,495 → 33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64240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Same profiling function as Bronze: </a:t>
            </a:r>
            <a:r>
              <a:rPr sz="1400" b="0">
                <a:solidFill>
                  <a:srgbClr val="1F2937"/>
                </a:solidFill>
                <a:latin typeface="Calibri"/>
              </a:rPr>
              <a:t>59 columns compared; 45 unchanged, 14 changed and all explained by a cleaning action. No row loss, no new duplicates.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Valid category shares moved 0.00 pp: </a:t>
            </a:r>
            <a:r>
              <a:rPr sz="1400" b="0">
                <a:solidFill>
                  <a:srgbClr val="1F2937"/>
                </a:solidFill>
                <a:latin typeface="Calibri"/>
              </a:rPr>
              <a:t>only placeholders became null.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08 found one more error; all 39 findings decided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08 · GATE 1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931920" cy="237744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5661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mbria"/>
              </a:rPr>
              <a:t>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loans with a monthly instalment larger than monthly salary (1,689–49,942). For everyone else the instalment is at most 15% of salary.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3931920" cy="2377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Fixed limits from step 04 were too loose; a cross-field rule now nulls them.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Gate 1 passed: raw data reproducible, Bronze EDA documented, Silver validated against the raw baseline.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846320" y="1280160"/>
          <a:ext cx="68122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Gold feature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One row per loan with features as of the loan start date, labels in a separate store, and a release that is blocked unless every acceptance check passes.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377440" cy="4572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Steps 10–13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Separate feature and label stores, joined by loan_id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STEPS 10–12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Silver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774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attributes · financials · clickstream (monthly snapshots)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Silver loan 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23774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lms_loan_daily: instalments, overdue, 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37160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463040"/>
            <a:ext cx="2468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As-of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828800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latest snapshot with snapshot_date ≤ loan_start_date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3291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3383280"/>
            <a:ext cx="2468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Label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749039"/>
            <a:ext cx="24688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DPD ≥ 30 at month-on-book 6; mature / immature / censored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4630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Feature store 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828800"/>
            <a:ext cx="23774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12,500 loans × 68 features, by loan-start 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2918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38328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Label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749039"/>
            <a:ext cx="23774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30dpd_6mob: label, outcome date, DPD, maturity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18688" y="2057400"/>
            <a:ext cx="51206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18688" y="3977639"/>
            <a:ext cx="51206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10528" y="2057400"/>
            <a:ext cx="51206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10528" y="3977639"/>
            <a:ext cx="51206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9875520" y="1280160"/>
          <a:ext cx="18288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No label in X by design: </a:t>
            </a:r>
            <a:r>
              <a:rPr sz="1400" b="0">
                <a:solidFill>
                  <a:srgbClr val="1F2937"/>
                </a:solidFill>
                <a:latin typeface="Calibri"/>
              </a:rPr>
              <a:t>labels live only in the label store; the ML pipeline joins them.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Versioned and documented: </a:t>
            </a:r>
            <a:r>
              <a:rPr sz="1400" b="0">
                <a:solidFill>
                  <a:srgbClr val="1F2937"/>
                </a:solidFill>
                <a:latin typeface="Calibri"/>
              </a:rPr>
              <a:t>feature dictionary with type, unit, source, derivation, as-of rule and coverage note per feature.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Clickstream stops for every loan from July 2024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10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16</a:t>
            </a:r>
          </a:p>
        </p:txBody>
      </p:sp>
      <p:pic>
        <p:nvPicPr>
          <p:cNvPr id="6" name="10_1_feature_availability_by_cohort.png" descr="10_1_feature_availability_by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7178"/>
            <a:ext cx="7589520" cy="2597683"/>
          </a:xfrm>
          <a:prstGeom prst="rect">
            <a:avLst/>
          </a:prstGeom>
        </p:spPr>
      </p:pic>
      <p:pic>
        <p:nvPicPr>
          <p:cNvPr id="7" name="10_2_missing_features_per_loan.png" descr="10_2_missing_features_per_lo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52787"/>
            <a:ext cx="7589520" cy="24442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23444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EB6834"/>
                </a:solidFill>
                <a:latin typeface="Calibri"/>
              </a:rPr>
              <a:t>Not random: a time break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3108960" cy="187451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Loans starting 2023-01 → 2024-06: 100% clickstream. Loans starting 2024-07 → 2025-01: 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794760"/>
            <a:ext cx="3383280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A ‘has_clickstream’ flag would be a hidden date: withdrawn.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Plan: model A without clickstream (main) and model B with it (challenger).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Only 32.8% of loans have all features filled.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13: release only after every check passes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STEPS 11–13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011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mbria"/>
              </a:rPr>
              <a:t>12,500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2011680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loans with a mature label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1417320"/>
            <a:ext cx="2011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mbria"/>
              </a:rPr>
              <a:t>3,602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2039112"/>
            <a:ext cx="2011680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defaults (positive class)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325880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417320"/>
            <a:ext cx="2011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EB6834"/>
                </a:solidFill>
                <a:latin typeface="Cambria"/>
              </a:rPr>
              <a:t>28.82%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39112"/>
            <a:ext cx="2011680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label rate</a:t>
            </a:r>
          </a:p>
        </p:txBody>
      </p:sp>
      <p:graphicFrame>
        <p:nvGraphicFramePr>
          <p:cNvPr id="15" name="Table"/>
          <p:cNvGraphicFramePr>
            <a:graphicFrameLocks noGrp="1"/>
          </p:cNvGraphicFramePr>
          <p:nvPr/>
        </p:nvGraphicFramePr>
        <p:xfrm>
          <a:off x="548640" y="2743200"/>
          <a:ext cx="7223760" cy="3291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0"/>
                <a:gridCol w="17373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Acceptance check (15 in total)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One row per loan, no null keys (both stores)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AF7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Same 12,500 loans: Silver = features = labels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AF7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Features × mature labels joined 1:1, no loss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AF7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Feature snapshot ≤ loan_start_date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AF7A"/>
                          </a:solidFill>
                          <a:latin typeface="Calibri"/>
                        </a:rPr>
                        <a:t>PASS (0 rows)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Outcome at loan start + 6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AF7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No label or ledger column in the features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AF7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Every predictor allowed by contract v1.1.0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AF7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092440" y="132588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Historical replay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2918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Features rebuilt from Silver cut off at three cohorts' start dates match the stored features exactly: no later data leaked 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749039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840479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Staged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06240"/>
            <a:ext cx="3291840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Stores are written to staging and promoted only after 15/15 checks pass. A failure blocks the release (the checklist's ‘block release on leakage’).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Bronze, Silver, Gold EDA to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Freeze the holdout first, analyse feature–target relationships on training data only, check time quality, and turn every finding into an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377440" cy="4572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Steps 14–17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14: the holdout is frozen before any label analysis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14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19</a:t>
            </a:r>
          </a:p>
        </p:txBody>
      </p:sp>
      <p:pic>
        <p:nvPicPr>
          <p:cNvPr id="6" name="17_split_by_cohort.png" descr="17_split_by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30" y="1143000"/>
            <a:ext cx="8869858" cy="2926080"/>
          </a:xfrm>
          <a:prstGeom prst="rect">
            <a:avLst/>
          </a:prstGeom>
        </p:spPr>
      </p:pic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4206240"/>
          <a:ext cx="694944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2103120"/>
                <a:gridCol w="11887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Partition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Loan start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Loans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Label rate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Train (70%)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2023-01 → 2024-06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6,281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28.86%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Validation (15%)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2023-01 → 2024-06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1,346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28.90%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Test (15%)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2023-01 → 2024-06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1,347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28.88%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Out-of-time holdout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2024-07 → 2025-01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3,526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28.67%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4206240"/>
            <a:ext cx="38862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Stratified random split inside development; out-of-time = later cohorts.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Checks: no customer or date overlap; reproducible (seed 42).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Accepted WARN: training outcomes overlap the OOT start by 6 months.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15: financial history drives default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15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20</a:t>
            </a:r>
          </a:p>
        </p:txBody>
      </p:sp>
      <p:pic>
        <p:nvPicPr>
          <p:cNvPr id="6" name="14_2_feature_strength_iv.png" descr="14_2_feature_strength_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5021"/>
            <a:ext cx="6035040" cy="4922316"/>
          </a:xfrm>
          <a:prstGeom prst="rect">
            <a:avLst/>
          </a:prstGeom>
        </p:spPr>
      </p:pic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766560" y="1280160"/>
          <a:ext cx="489204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1097280"/>
                <a:gridCol w="1600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 group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IV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0.19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medium–strong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Gold loan-type flags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Attributes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Clickstream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near useless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3429000"/>
            <a:ext cx="4892040" cy="2834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1">
                <a:solidFill>
                  <a:srgbClr val="1F2937"/>
                </a:solidFill>
                <a:latin typeface="Calibri"/>
              </a:rPr>
              <a:t>Strongest: </a:t>
            </a:r>
            <a:r>
              <a:rPr sz="1300" b="0">
                <a:solidFill>
                  <a:srgbClr val="1F2937"/>
                </a:solidFill>
                <a:latin typeface="Calibri"/>
              </a:rPr>
              <a:t>Outstanding_Debt (IV 0.87), Interest_Rate, Num_Credit_Inquiries, Delay_from_due_date, credit history length.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1">
                <a:solidFill>
                  <a:srgbClr val="1F2937"/>
                </a:solidFill>
                <a:latin typeface="Calibri"/>
              </a:rPr>
              <a:t>‘Suspicious’ IV &gt; 0.5 accepted: </a:t>
            </a:r>
            <a:r>
              <a:rPr sz="1300" b="0">
                <a:solidFill>
                  <a:srgbClr val="1F2937"/>
                </a:solidFill>
                <a:latin typeface="Calibri"/>
              </a:rPr>
              <a:t>AUC only 0.70–0.72 and known at application; classic credit drivers, not leakage.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1">
                <a:solidFill>
                  <a:srgbClr val="1F2937"/>
                </a:solidFill>
                <a:latin typeface="Calibri"/>
              </a:rPr>
              <a:t>Training data only: </a:t>
            </a:r>
            <a:r>
              <a:rPr sz="1300" b="0">
                <a:solidFill>
                  <a:srgbClr val="1F2937"/>
                </a:solidFill>
                <a:latin typeface="Calibri"/>
              </a:rPr>
              <a:t>6,281 loans; a code guard asserts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Default rate climbs steeply with debt, rate and delays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15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21</a:t>
            </a:r>
          </a:p>
        </p:txBody>
      </p:sp>
      <p:pic>
        <p:nvPicPr>
          <p:cNvPr id="6" name="14_3_default_rate_by_decile.png" descr="14_3_default_rate_by_dec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356" y="1143000"/>
            <a:ext cx="8788807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1F2937"/>
                </a:solidFill>
                <a:latin typeface="Calibri"/>
              </a:rPr>
              <a:t>Outstanding_Debt is not monotonic (peaks at decile 8, ~66%): trees handle this natively; the linear model gets a quantile transform. Longer credit history means less default (47% → 12%).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17: stable over time, except clickstream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17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22</a:t>
            </a:r>
          </a:p>
        </p:txBody>
      </p:sp>
      <p:pic>
        <p:nvPicPr>
          <p:cNvPr id="6" name="16_2_label_rate_control_chart.png" descr="16_2_label_rate_contro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1869"/>
            <a:ext cx="7589520" cy="2594021"/>
          </a:xfrm>
          <a:prstGeom prst="rect">
            <a:avLst/>
          </a:prstGeom>
        </p:spPr>
      </p:pic>
      <p:pic>
        <p:nvPicPr>
          <p:cNvPr id="7" name="16_1_feature_psi_by_cohort.png" descr="16_1_feature_psi_by_coh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930" y="3840480"/>
            <a:ext cx="5088059" cy="2514600"/>
          </a:xfrm>
          <a:prstGeom prst="rect">
            <a:avLst/>
          </a:prstGeom>
        </p:spPr>
      </p:pic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75320" y="1234440"/>
          <a:ext cx="3383280" cy="26883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Missing periods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Feature drift (train)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PSI ≤ 0.016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Dev vs OOT (info)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PSI ≤ 0.007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Label drift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Within limits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Seasonality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Not assessable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Look-ahead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Tested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75320" y="4114800"/>
            <a:ext cx="3383280" cy="2194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Monthly default rate 23.5–34.7%, all inside sampling-noise limits.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Dev-vs-OOT drift uses features only and never drives decisions.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16: 56 findings, none left open before modelling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16 · GATE 2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280160"/>
          <a:ext cx="40233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4846320" y="1280160"/>
          <a:ext cx="6812280" cy="2514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5440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Assigned to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Step 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Keep missing indicators where missingness predicts default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Step 23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Drop 2 constant flags; keep one of 2 near-duplicate pairs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Step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Compare model A (no clickstream) vs model 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Step 27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Re-check the 4 strong financial features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46320" y="4023360"/>
            <a:ext cx="6812280" cy="2194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1">
                <a:solidFill>
                  <a:srgbClr val="1F2937"/>
                </a:solidFill>
                <a:latin typeface="Calibri"/>
              </a:rPr>
              <a:t>Gate 2 passed: </a:t>
            </a:r>
            <a:r>
              <a:rPr sz="1300" b="0">
                <a:solidFill>
                  <a:srgbClr val="1F2937"/>
                </a:solidFill>
                <a:latin typeface="Calibri"/>
              </a:rPr>
              <a:t>Gold grain and time rules verified, split frozen, findings tracked.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Each finding carries an owner, rationale, verification and status.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4023360" cy="1188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Accepted = documented exceptions (e.g. freshness, clickstream break).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Feature engineering (AutoFE)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Automated feature search on training data only, model-specific filtering with documented validation impact, and preprocessing that is fitted once and never refitted.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377440" cy="4572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Steps 18–23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21: OpenFE searched 918 candidates in 8 seconds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STEPS 19–22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2A78D6"/>
                </a:solidFill>
                <a:latin typeface="Cambria"/>
              </a:rPr>
              <a:t>918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86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row-wise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pairs of 18 numeric model-A features: + − × ÷ min max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2331720"/>
            <a:ext cx="23774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13258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17320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2A78D6"/>
                </a:solidFill>
                <a:latin typeface="Cambria"/>
              </a:rPr>
              <a:t>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2286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ranked by OpenFE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LightGBM gain, training data only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2331720"/>
            <a:ext cx="23774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3258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17320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2A78D6"/>
                </a:solidFill>
                <a:latin typeface="Cambria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kept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6888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after removing 3 duplicate formulas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6528" y="2331720"/>
            <a:ext cx="237744" cy="0"/>
          </a:xfrm>
          <a:prstGeom prst="line">
            <a:avLst/>
          </a:prstGeom>
          <a:ln w="25400">
            <a:solidFill>
              <a:srgbClr val="2A78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60" y="13258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417320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2A78D6"/>
                </a:solidFill>
                <a:latin typeface="Cambria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103120"/>
            <a:ext cx="2286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re-implemented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46888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own formulas match OpenFE; inference needs no OpenFE</a:t>
            </a:r>
          </a:p>
        </p:txBody>
      </p:sp>
      <p:graphicFrame>
        <p:nvGraphicFramePr>
          <p:cNvPr id="25" name="Table"/>
          <p:cNvGraphicFramePr>
            <a:graphicFrameLocks noGrp="1"/>
          </p:cNvGraphicFramePr>
          <p:nvPr/>
        </p:nvGraphicFramePr>
        <p:xfrm>
          <a:off x="548640" y="3611880"/>
          <a:ext cx="1110996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474720"/>
                <a:gridCol w="76352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Step 19 (manual ratios) skipped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Replaced by the automated search; manual ratios were the fallback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Row-wise operators only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OpenFE's group-by / frequency operators use train and test together: leakage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Training rows only (6,281)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OpenFE uses the label to rank features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Steps 20 and 22 not applied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Clickstream weak and missing after 2024-06; not a time-series problem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Generated features combine the strongest drivers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21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26</a:t>
            </a:r>
          </a:p>
        </p:txBody>
      </p:sp>
      <p:pic>
        <p:nvPicPr>
          <p:cNvPr id="6" name="21_autofe_vs_original_iv.png" descr="21_autofe_vs_original_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2787"/>
            <a:ext cx="6035040" cy="5146784"/>
          </a:xfrm>
          <a:prstGeom prst="rect">
            <a:avLst/>
          </a:prstGeom>
        </p:spPr>
      </p:pic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766560" y="1280160"/>
          <a:ext cx="489204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731520"/>
                <a:gridCol w="8686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Generated feature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Gain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Interest_Rate × Outstanding_Debt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+0.07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Num_Credit_Inquiries × Outstanding_Debt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+0.02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credit_history_months ÷ num_loan_types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+0.07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Annual_Income ÷ Total_EMI_per_month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+0.05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3657600"/>
            <a:ext cx="489204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Gains over the best input are small: OpenFE ranks by value alongside the other features, not alone.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Division by zero gives null (e.g. ÷ num_loan_types when a customer has no loans).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Whether they help is tested against the raw-only baseline in steps 25 and 28.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23: flag everything, drop by model type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23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27</a:t>
            </a:r>
          </a:p>
        </p:txBody>
      </p:sp>
      <p:pic>
        <p:nvPicPr>
          <p:cNvPr id="6" name="23_feature_filtering.png" descr="23_feature_fil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0" y="1143000"/>
            <a:ext cx="11237598" cy="3246120"/>
          </a:xfrm>
          <a:prstGeom prst="rect">
            <a:avLst/>
          </a:prstGeom>
        </p:spPr>
      </p:pic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4526280"/>
          <a:ext cx="6035040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1371600"/>
                <a:gridCol w="13716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Tree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A_raw (raw-only baseline)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A_fe (+ generated)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B_raw (+ clickstream)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B_fe (+ both)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4526280"/>
            <a:ext cx="480060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Flags: 2 constant, 11 near-duplicates, 21 VIF &gt; 10; ACF not applicable.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Trees keep correlated features; linear drops near-duplicates and high VIF.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Cost: linear on generated sets −0.02 to −0.03 PR-AUC; documented.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9692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Step 18: a fitted preprocessor per set and model</a:t>
            </a:r>
          </a:p>
        </p:txBody>
      </p:sp>
      <p:sp>
        <p:nvSpPr>
          <p:cNvPr id="3" name="Step chip"/>
          <p:cNvSpPr/>
          <p:nvPr/>
        </p:nvSpPr>
        <p:spPr>
          <a:xfrm>
            <a:off x="10378440" y="457200"/>
            <a:ext cx="1280160" cy="384048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00" b="1">
                <a:solidFill>
                  <a:srgbClr val="2A78D6"/>
                </a:solidFill>
                <a:latin typeface="Calibri"/>
              </a:rPr>
              <a:t>STEP 18 · GATE 3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28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640" y="1325880"/>
          <a:ext cx="694944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237744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Column type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Tree variant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Linear variant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Numeric with _invalid flag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Median impute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 quantile → normal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Other numeric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Median + missing indicator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 quantile → normal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‘Missing’ category + one-hot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0/1 flags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Passthrough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Unseen category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All zeros, no error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325880"/>
            <a:ext cx="3840480" cy="27432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41732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Fit / transform tests (all 8 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783080"/>
            <a:ext cx="3566160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Medians are training medians · validation, test and OOT never refit · unseen categories and new missing values handled · no nulls · same columns everywhere · deterministic.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297680"/>
            <a:ext cx="1828800" cy="1188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4389120"/>
            <a:ext cx="15544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mbr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501091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saved preprocessors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4297680"/>
            <a:ext cx="1828800" cy="1188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4389120"/>
            <a:ext cx="15544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1BAF7A"/>
                </a:solidFill>
                <a:latin typeface="Cambria"/>
              </a:rPr>
              <a:t>3/3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501091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gates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694944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Gate 3 passed: </a:t>
            </a:r>
            <a:r>
              <a:rPr sz="1400" b="0">
                <a:solidFill>
                  <a:srgbClr val="1F2937"/>
                </a:solidFill>
                <a:latin typeface="Calibri"/>
              </a:rPr>
              <a:t>time-safe features, train-only transformations and filtering, no holdout leakage.</a:t>
            </a:r>
          </a:p>
          <a:p>
            <a:pPr marL="201168" indent="-182880">
              <a:spcAft>
                <a:spcPts val="800"/>
              </a:spcAft>
              <a:buFont typeface="Arial"/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Inference path: </a:t>
            </a:r>
            <a:r>
              <a:rPr sz="1400" b="0">
                <a:solidFill>
                  <a:srgbClr val="1F2937"/>
                </a:solidFill>
                <a:latin typeface="Calibri"/>
              </a:rPr>
              <a:t>apply generated-feature formulas → preprocessor.transform → model.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Key takeaways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830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92807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Trustworthy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7548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Raw kept as-is; every cleaning decision recorded and verified against the raw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92807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Leakage-safe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7548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Contract, as-of joins, separate label store, frozen holdout, train-only fitting,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93008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Evidence over assumptions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47548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Overlays and cohort charts exposed the instalment errors and the clickstream time break.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832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93008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Ready for 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86200"/>
            <a:ext cx="47548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4 feature sets × 2 model types, fitted preprocessors, raw-only baseline preserved.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NEXT: STEPS 24–30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Baseline (dummy + logistic regression on A_raw) · model comparison A vs B, raw vs generated · imbalance and threshold · SHAP · feature reduction · tuning · sign-off before the out-of-time test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CS611 Assignment 2 · Loan default pipeline · Checklist V6.6 steps 01–23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prediction: data and feature pipeline (steps 01-23)</dc:title>
  <dc:subject/>
  <dc:creator>albertsoh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
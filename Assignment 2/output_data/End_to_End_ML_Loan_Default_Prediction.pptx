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F4222E8-CA6C-4D2F-ABFC-D9F54E217C0E}">
          <p14:sldIdLst>
            <p14:sldId id="256"/>
            <p14:sldId id="257"/>
            <p14:sldId id="258"/>
          </p14:sldIdLst>
        </p14:section>
        <p14:section name="Data &amp; EDA" id="{42CFD6BE-30D5-4D59-A05A-1CA81CC4BF35}">
          <p14:sldIdLst>
            <p14:sldId id="259"/>
            <p14:sldId id="260"/>
          </p14:sldIdLst>
        </p14:section>
        <p14:section name="Modelling" id="{F31101BD-2854-490D-A5E6-1D5F86C038E9}">
          <p14:sldIdLst>
            <p14:sldId id="261"/>
            <p14:sldId id="262"/>
          </p14:sldIdLst>
        </p14:section>
        <p14:section name="Operations" id="{1C80D8D3-E031-4C70-8D9D-C04D2C88DDA3}">
          <p14:sldIdLst>
            <p14:sldId id="263"/>
            <p14:sldId id="264"/>
          </p14:sldIdLst>
        </p14:section>
        <p14:section name="Summary" id="{C1AB1BE7-9CB2-4659-8B02-AB81016F0BCB}">
          <p14:sldIdLst>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13D"/>
                </a:solidFill>
                <a:latin typeface="Calibri"/>
              </a:rPr>
              <a:t>What the final model relies on (SHAP)</a:t>
            </a:r>
          </a:p>
        </c:rich>
      </c:tx>
      <c:layout/>
      <c:overlay val="0"/>
    </c:title>
    <c:autoTitleDeleted val="0"/>
    <c:plotArea>
      <c:barChart>
        <c:barDir val="bar"/>
        <c:grouping val="clustered"/>
        <c:ser>
          <c:idx val="0"/>
          <c:order val="0"/>
          <c:tx>
            <c:strRef>
              <c:f>Sheet1!$B$1</c:f>
              <c:strCache>
                <c:ptCount val="1"/>
                <c:pt idx="0">
                  <c:v>share of SHAP importance</c:v>
                </c:pt>
              </c:strCache>
            </c:strRef>
          </c:tx>
          <c:spPr>
            <a:solidFill>
              <a:srgbClr val="2A78D6"/>
            </a:solidFill>
          </c:spPr>
          <c:cat>
            <c:strRef>
              <c:f>Sheet1!$A$2:$A$9</c:f>
              <c:strCache>
                <c:ptCount val="8"/>
                <c:pt idx="0">
                  <c:v>Outstanding_Debt ÷ credit_history_age_months</c:v>
                </c:pt>
                <c:pt idx="1">
                  <c:v>Delay_from_due_date × Outstanding_Debt</c:v>
                </c:pt>
                <c:pt idx="2">
                  <c:v>Monthly_Balance</c:v>
                </c:pt>
                <c:pt idx="3">
                  <c:v>Num_Credit_Card</c:v>
                </c:pt>
                <c:pt idx="4">
                  <c:v>Changed_Credit_Limit × Outstanding_Debt</c:v>
                </c:pt>
                <c:pt idx="5">
                  <c:v>Delay_from_due_date − Num_of_Delayed_Payment</c:v>
                </c:pt>
                <c:pt idx="6">
                  <c:v>Payment_Behaviour</c:v>
                </c:pt>
                <c:pt idx="7">
                  <c:v>Interest_Rate × Outstanding_Debt</c:v>
                </c:pt>
              </c:strCache>
            </c:strRef>
          </c:cat>
          <c:val>
            <c:numRef>
              <c:f>Sheet1!$B$2:$B$9</c:f>
              <c:numCache>
                <c:formatCode>General</c:formatCode>
                <c:ptCount val="8"/>
                <c:pt idx="0">
                  <c:v>0.037</c:v>
                </c:pt>
                <c:pt idx="1">
                  <c:v>0.04</c:v>
                </c:pt>
                <c:pt idx="2">
                  <c:v>0.04</c:v>
                </c:pt>
                <c:pt idx="3">
                  <c:v>0.043</c:v>
                </c:pt>
                <c:pt idx="4">
                  <c:v>0.044</c:v>
                </c:pt>
                <c:pt idx="5">
                  <c:v>0.045</c:v>
                </c:pt>
                <c:pt idx="6">
                  <c:v>0.074</c:v>
                </c:pt>
                <c:pt idx="7">
                  <c:v>0.146</c:v>
                </c:pt>
              </c:numCache>
            </c:numRef>
          </c:val>
        </c:ser>
        <c:dLbls>
          <c:numFmt formatCode="0%" sourceLinked="0"/>
          <c:txPr>
            <a:bodyPr/>
            <a:lstStyle/>
            <a:p>
              <a:pPr>
                <a:defRPr sz="95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8CCD2"/>
            </a:solidFill>
          </a:ln>
        </c:spPr>
        <c:txPr>
          <a:bodyPr/>
          <a:lstStyle/>
          <a:p>
            <a:pPr>
              <a:defRPr sz="950"/>
            </a:pPr>
          </a:p>
        </c:txPr>
        <c:crossAx val="-2113994440"/>
        <c:crosses val="autoZero"/>
        <c:auto val="1"/>
        <c:lblAlgn val="ctr"/>
        <c:lblOffset val="100"/>
        <c:noMultiLvlLbl val="0"/>
      </c:catAx>
      <c:valAx>
        <c:axId val="-2113994440"/>
        <c:scaling/>
        <c:delete val="0"/>
        <c:axPos val="b"/>
        <c:majorGridlines>
          <c:spPr>
            <a:ln>
              <a:solidFill>
                <a:srgbClr val="E4E3DF"/>
              </a:solidFill>
            </a:ln>
          </c:spPr>
        </c:majorGridlines>
        <c:majorTickMark val="out"/>
        <c:minorTickMark val="none"/>
        <c:tickLblPos val="nextTo"/>
        <c:spPr>
          <a:ln>
            <a:noFill/>
          </a:ln>
        </c:spPr>
        <c:txPr>
          <a:bodyPr/>
          <a:lstStyle/>
          <a:p>
            <a:pPr>
              <a:defRPr sz="950"/>
            </a:pPr>
          </a:p>
        </c:txPr>
        <c:crossAx val="-2068027336"/>
        <c:crosses val="autoZero"/>
      </c:valAx>
    </c:plotArea>
    <c:dispBlanksAs val="gap"/>
  </c:chart>
  <c:txPr>
    <a:bodyPr/>
    <a:lstStyle/>
    <a:p>
      <a:pPr>
        <a:defRPr sz="950">
          <a:solidFill>
            <a:srgbClr val="5B647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13D"/>
                </a:solidFill>
                <a:latin typeface="Calibri"/>
              </a:rPr>
              <a:t>12 candidates — cross-validated PR-AUC</a:t>
            </a:r>
          </a:p>
        </c:rich>
      </c:tx>
      <c:layout/>
      <c:overlay val="0"/>
    </c:title>
    <c:autoTitleDeleted val="0"/>
    <c:plotArea>
      <c:barChart>
        <c:barDir val="col"/>
        <c:grouping val="clustered"/>
        <c:ser>
          <c:idx val="0"/>
          <c:order val="0"/>
          <c:tx>
            <c:strRef>
              <c:f>Sheet1!$B$1</c:f>
              <c:strCache>
                <c:ptCount val="1"/>
                <c:pt idx="0">
                  <c:v>no clickstream</c:v>
                </c:pt>
              </c:strCache>
            </c:strRef>
          </c:tx>
          <c:spPr>
            <a:solidFill>
              <a:srgbClr val="2A78D6"/>
            </a:solidFill>
          </c:spPr>
          <c:cat>
            <c:strRef>
              <c:f>Sheet1!$A$2:$A$4</c:f>
              <c:strCache>
                <c:ptCount val="3"/>
                <c:pt idx="0">
                  <c:v>Logistic regression</c:v>
                </c:pt>
                <c:pt idx="1">
                  <c:v>Random forest</c:v>
                </c:pt>
                <c:pt idx="2">
                  <c:v>XGBoost</c:v>
                </c:pt>
              </c:strCache>
            </c:strRef>
          </c:cat>
          <c:val>
            <c:numRef>
              <c:f>Sheet1!$B$2:$B$4</c:f>
              <c:numCache>
                <c:formatCode>General</c:formatCode>
                <c:ptCount val="3"/>
                <c:pt idx="0">
                  <c:v>0.5639780985657941</c:v>
                </c:pt>
                <c:pt idx="1">
                  <c:v>0.6211739601094566</c:v>
                </c:pt>
                <c:pt idx="2">
                  <c:v>0.627982908473056</c:v>
                </c:pt>
              </c:numCache>
            </c:numRef>
          </c:val>
        </c:ser>
        <c:ser>
          <c:idx val="1"/>
          <c:order val="1"/>
          <c:tx>
            <c:strRef>
              <c:f>Sheet1!$C$1</c:f>
              <c:strCache>
                <c:ptCount val="1"/>
                <c:pt idx="0">
                  <c:v>+ generated</c:v>
                </c:pt>
              </c:strCache>
            </c:strRef>
          </c:tx>
          <c:spPr>
            <a:solidFill>
              <a:srgbClr val="1BAF7A"/>
            </a:solidFill>
          </c:spPr>
          <c:cat>
            <c:strRef>
              <c:f>Sheet1!$A$2:$A$4</c:f>
              <c:strCache>
                <c:ptCount val="3"/>
                <c:pt idx="0">
                  <c:v>Logistic regression</c:v>
                </c:pt>
                <c:pt idx="1">
                  <c:v>Random forest</c:v>
                </c:pt>
                <c:pt idx="2">
                  <c:v>XGBoost</c:v>
                </c:pt>
              </c:strCache>
            </c:strRef>
          </c:cat>
          <c:val>
            <c:numRef>
              <c:f>Sheet1!$C$2:$C$4</c:f>
              <c:numCache>
                <c:formatCode>General</c:formatCode>
                <c:ptCount val="3"/>
                <c:pt idx="0">
                  <c:v>0.5678999250304578</c:v>
                </c:pt>
                <c:pt idx="1">
                  <c:v>0.6316407401717279</c:v>
                </c:pt>
                <c:pt idx="2">
                  <c:v>0.6331323289683507</c:v>
                </c:pt>
              </c:numCache>
            </c:numRef>
          </c:val>
        </c:ser>
        <c:ser>
          <c:idx val="2"/>
          <c:order val="2"/>
          <c:tx>
            <c:strRef>
              <c:f>Sheet1!$D$1</c:f>
              <c:strCache>
                <c:ptCount val="1"/>
                <c:pt idx="0">
                  <c:v>+ clickstream</c:v>
                </c:pt>
              </c:strCache>
            </c:strRef>
          </c:tx>
          <c:spPr>
            <a:solidFill>
              <a:srgbClr val="EB6834"/>
            </a:solidFill>
          </c:spPr>
          <c:cat>
            <c:strRef>
              <c:f>Sheet1!$A$2:$A$4</c:f>
              <c:strCache>
                <c:ptCount val="3"/>
                <c:pt idx="0">
                  <c:v>Logistic regression</c:v>
                </c:pt>
                <c:pt idx="1">
                  <c:v>Random forest</c:v>
                </c:pt>
                <c:pt idx="2">
                  <c:v>XGBoost</c:v>
                </c:pt>
              </c:strCache>
            </c:strRef>
          </c:cat>
          <c:val>
            <c:numRef>
              <c:f>Sheet1!$D$2:$D$4</c:f>
              <c:numCache>
                <c:formatCode>General</c:formatCode>
                <c:ptCount val="3"/>
                <c:pt idx="0">
                  <c:v>0.613719417053408</c:v>
                </c:pt>
                <c:pt idx="1">
                  <c:v>0.6444973798070481</c:v>
                </c:pt>
                <c:pt idx="2">
                  <c:v>0.6574714874071435</c:v>
                </c:pt>
              </c:numCache>
            </c:numRef>
          </c:val>
        </c:ser>
        <c:ser>
          <c:idx val="3"/>
          <c:order val="3"/>
          <c:tx>
            <c:strRef>
              <c:f>Sheet1!$E$1</c:f>
              <c:strCache>
                <c:ptCount val="1"/>
                <c:pt idx="0">
                  <c:v>+ both</c:v>
                </c:pt>
              </c:strCache>
            </c:strRef>
          </c:tx>
          <c:spPr>
            <a:solidFill>
              <a:srgbClr val="EDA100"/>
            </a:solidFill>
          </c:spPr>
          <c:cat>
            <c:strRef>
              <c:f>Sheet1!$A$2:$A$4</c:f>
              <c:strCache>
                <c:ptCount val="3"/>
                <c:pt idx="0">
                  <c:v>Logistic regression</c:v>
                </c:pt>
                <c:pt idx="1">
                  <c:v>Random forest</c:v>
                </c:pt>
                <c:pt idx="2">
                  <c:v>XGBoost</c:v>
                </c:pt>
              </c:strCache>
            </c:strRef>
          </c:cat>
          <c:val>
            <c:numRef>
              <c:f>Sheet1!$E$2:$E$4</c:f>
              <c:numCache>
                <c:formatCode>General</c:formatCode>
                <c:ptCount val="3"/>
                <c:pt idx="0">
                  <c:v>0.621743642766278</c:v>
                </c:pt>
                <c:pt idx="1">
                  <c:v>0.6547654481734425</c:v>
                </c:pt>
                <c:pt idx="2">
                  <c:v>0.66664158927921</c:v>
                </c:pt>
              </c:numCache>
            </c:numRef>
          </c:val>
        </c:ser>
        <c:dLbls>
          <c:numFmt formatCode="0.00" sourceLinked="0"/>
          <c:txPr>
            <a:bodyPr/>
            <a:lstStyle/>
            <a:p>
              <a:pPr>
                <a:defRPr sz="9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900"/>
            </a:pPr>
          </a:p>
        </c:txPr>
        <c:crossAx val="-2113994440"/>
        <c:crosses val="autoZero"/>
        <c:auto val="1"/>
        <c:lblAlgn val="ctr"/>
        <c:lblOffset val="100"/>
        <c:noMultiLvlLbl val="0"/>
      </c:catAx>
      <c:valAx>
        <c:axId val="-2113994440"/>
        <c:scaling>
          <c:min val="0.5"/>
        </c:scaling>
        <c:delete val="0"/>
        <c:axPos val="l"/>
        <c:majorGridlines>
          <c:spPr>
            <a:ln>
              <a:solidFill>
                <a:srgbClr val="E4E3DF"/>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900"/>
          </a:pPr>
        </a:p>
      </c:txPr>
    </c:legend>
    <c:dispBlanksAs val="gap"/>
  </c:chart>
  <c:txPr>
    <a:bodyPr/>
    <a:lstStyle/>
    <a:p>
      <a:pPr>
        <a:defRPr sz="900">
          <a:solidFill>
            <a:srgbClr val="5B647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13D"/>
                </a:solidFill>
                <a:latin typeface="Calibri"/>
              </a:rPr>
              <a:t>Champion vs baseline — PR-AUC</a:t>
            </a:r>
          </a:p>
        </c:rich>
      </c:tx>
      <c:layout/>
      <c:overlay val="0"/>
    </c:title>
    <c:autoTitleDeleted val="0"/>
    <c:plotArea>
      <c:barChart>
        <c:barDir val="col"/>
        <c:grouping val="clustered"/>
        <c:ser>
          <c:idx val="0"/>
          <c:order val="0"/>
          <c:tx>
            <c:strRef>
              <c:f>Sheet1!$B$1</c:f>
              <c:strCache>
                <c:ptCount val="1"/>
                <c:pt idx="0">
                  <c:v>Baseline LR</c:v>
                </c:pt>
              </c:strCache>
            </c:strRef>
          </c:tx>
          <c:spPr>
            <a:solidFill>
              <a:srgbClr val="9A9994"/>
            </a:solidFill>
          </c:spPr>
          <c:cat>
            <c:strRef>
              <c:f>Sheet1!$A$2:$A$4</c:f>
              <c:strCache>
                <c:ptCount val="3"/>
                <c:pt idx="0">
                  <c:v>Validation</c:v>
                </c:pt>
                <c:pt idx="1">
                  <c:v>Test</c:v>
                </c:pt>
                <c:pt idx="2">
                  <c:v>Out-of-time</c:v>
                </c:pt>
              </c:strCache>
            </c:strRef>
          </c:cat>
          <c:val>
            <c:numRef>
              <c:f>Sheet1!$B$2:$B$4</c:f>
              <c:numCache>
                <c:formatCode>General</c:formatCode>
                <c:ptCount val="3"/>
                <c:pt idx="0">
                  <c:v>0.5772067557261755</c:v>
                </c:pt>
                <c:pt idx="1">
                  <c:v>0.5656076724347835</c:v>
                </c:pt>
                <c:pt idx="2">
                  <c:v>0.5416226656833822</c:v>
                </c:pt>
              </c:numCache>
            </c:numRef>
          </c:val>
        </c:ser>
        <c:ser>
          <c:idx val="1"/>
          <c:order val="1"/>
          <c:tx>
            <c:strRef>
              <c:f>Sheet1!$C$1</c:f>
              <c:strCache>
                <c:ptCount val="1"/>
                <c:pt idx="0">
                  <c:v>Champion XGB</c:v>
                </c:pt>
              </c:strCache>
            </c:strRef>
          </c:tx>
          <c:spPr>
            <a:solidFill>
              <a:srgbClr val="2A78D6"/>
            </a:solidFill>
          </c:spPr>
          <c:cat>
            <c:strRef>
              <c:f>Sheet1!$A$2:$A$4</c:f>
              <c:strCache>
                <c:ptCount val="3"/>
                <c:pt idx="0">
                  <c:v>Validation</c:v>
                </c:pt>
                <c:pt idx="1">
                  <c:v>Test</c:v>
                </c:pt>
                <c:pt idx="2">
                  <c:v>Out-of-time</c:v>
                </c:pt>
              </c:strCache>
            </c:strRef>
          </c:cat>
          <c:val>
            <c:numRef>
              <c:f>Sheet1!$C$2:$C$4</c:f>
              <c:numCache>
                <c:formatCode>General</c:formatCode>
                <c:ptCount val="3"/>
                <c:pt idx="0">
                  <c:v>0.60089567175637</c:v>
                </c:pt>
                <c:pt idx="1">
                  <c:v>0.6132440383538943</c:v>
                </c:pt>
                <c:pt idx="2">
                  <c:v>0.6188256817787054</c:v>
                </c:pt>
              </c:numCache>
            </c:numRef>
          </c:val>
        </c:ser>
        <c:dLbls>
          <c:numFmt formatCode="0.000" sourceLinked="0"/>
          <c:txPr>
            <a:bodyPr/>
            <a:lstStyle/>
            <a:p>
              <a:pPr>
                <a:defRPr sz="9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900"/>
            </a:pPr>
          </a:p>
        </c:txPr>
        <c:crossAx val="-2113994440"/>
        <c:crosses val="autoZero"/>
        <c:auto val="1"/>
        <c:lblAlgn val="ctr"/>
        <c:lblOffset val="100"/>
        <c:noMultiLvlLbl val="0"/>
      </c:catAx>
      <c:valAx>
        <c:axId val="-2113994440"/>
        <c:scaling>
          <c:min val="0.4"/>
        </c:scaling>
        <c:delete val="0"/>
        <c:axPos val="l"/>
        <c:majorGridlines>
          <c:spPr>
            <a:ln>
              <a:solidFill>
                <a:srgbClr val="E4E3DF"/>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900"/>
          </a:pPr>
        </a:p>
      </c:txPr>
    </c:legend>
    <c:dispBlanksAs val="gap"/>
  </c:chart>
  <c:txPr>
    <a:bodyPr/>
    <a:lstStyle/>
    <a:p>
      <a:pPr>
        <a:defRPr sz="900">
          <a:solidFill>
            <a:srgbClr val="5B647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deck for the whole project: the data and ML pipeline, the main design choices, the problems we hit and how they were solved, and the results on loans the model never saw.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contract: one row per loan, scored at loan start, label = 30+ days past due at month-on-book 6. Everything else in the design follows from this timing.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DAG builds one month of Bronze/Silver/Gold per run (back-filled from 2023-01). Training DAG validates the full history, splits, engineers features, trains and registers. Inference DAG scores each month's new loans with whatever @champion points to, monitors, and triggers retraining when the governance rules fire.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 EDA findings were recorded in an action register, each closed, accepted with a reason, or assigned to a later decision. The clickstream break was the most consequential: a model that needs clickstream cannot score loans after mid-2024.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Accepted trade-off: some development labels (up to 2024-12) are observed after the first out-of-time score date; features never leak, and the alternative would have discarded ~2,500 training loans.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Model-specific filtering: tree models keep correlated features; the linear model drops near-duplicates and high-VIF features. The one-standard-error rule picks the smallest feature set statistically as good as the best.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fixed before training: a change counts only if it adds at least 0.02 cross-validated PR-AUC and more than the fold-to-fold spread. Threshold = maximum F1 on validation (no business cost available). Out-of-time result: PR-AUC 0.619 vs 0.542, bootstrap CI of the difference excludes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was replayed on the months after training because there is no live data yet. Labels are used only from the date they would arrive, so the performance check is realistically delayed.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fits because features are monthly snapshots and the decision can wait a day. A real-time API would need the same features served online at application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model is good, but the bigger result is a pipeline that can be trusted, re-run anywhere, monitored and refreshed by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371600"/>
            <a:ext cx="10515600" cy="457200"/>
          </a:xfrm>
          <a:prstGeom prst="rect">
            <a:avLst/>
          </a:prstGeom>
          <a:noFill/>
        </p:spPr>
        <p:txBody>
          <a:bodyPr wrap="square" anchor="t" lIns="36576" rIns="36576" tIns="18288" bIns="18288">
            <a:spAutoFit/>
          </a:bodyPr>
          <a:lstStyle/>
          <a:p>
            <a:pPr algn="l"/>
            <a:r>
              <a:rPr sz="1600" b="1" i="0">
                <a:solidFill>
                  <a:srgbClr val="CADCFC"/>
                </a:solidFill>
                <a:latin typeface="Calibri"/>
              </a:rPr>
              <a:t>CS611 · ASSIGNMENT 2</a:t>
            </a:r>
          </a:p>
        </p:txBody>
      </p:sp>
      <p:sp>
        <p:nvSpPr>
          <p:cNvPr id="3" name="TextBox 2"/>
          <p:cNvSpPr txBox="1"/>
          <p:nvPr/>
        </p:nvSpPr>
        <p:spPr>
          <a:xfrm>
            <a:off x="822960" y="1920240"/>
            <a:ext cx="10607040" cy="1554480"/>
          </a:xfrm>
          <a:prstGeom prst="rect">
            <a:avLst/>
          </a:prstGeom>
          <a:noFill/>
        </p:spPr>
        <p:txBody>
          <a:bodyPr wrap="square" anchor="t" lIns="36576" rIns="36576" tIns="18288" bIns="18288">
            <a:spAutoFit/>
          </a:bodyPr>
          <a:lstStyle/>
          <a:p>
            <a:pPr algn="l"/>
            <a:r>
              <a:rPr sz="4400" b="1" i="0">
                <a:solidFill>
                  <a:srgbClr val="FFFFFF"/>
                </a:solidFill>
                <a:latin typeface="Cambria"/>
              </a:rPr>
              <a:t>End to End Machine Learning for Loan Default Prediction</a:t>
            </a:r>
          </a:p>
        </p:txBody>
      </p:sp>
      <p:sp>
        <p:nvSpPr>
          <p:cNvPr id="4" name="TextBox 3"/>
          <p:cNvSpPr txBox="1"/>
          <p:nvPr/>
        </p:nvSpPr>
        <p:spPr>
          <a:xfrm>
            <a:off x="822960" y="3657600"/>
            <a:ext cx="10515600" cy="822960"/>
          </a:xfrm>
          <a:prstGeom prst="rect">
            <a:avLst/>
          </a:prstGeom>
          <a:noFill/>
        </p:spPr>
        <p:txBody>
          <a:bodyPr wrap="square" anchor="t" lIns="36576" rIns="36576" tIns="18288" bIns="18288">
            <a:spAutoFit/>
          </a:bodyPr>
          <a:lstStyle/>
          <a:p>
            <a:pPr algn="l"/>
            <a:r>
              <a:rPr sz="1800" b="0" i="0">
                <a:solidFill>
                  <a:srgbClr val="CADCFC"/>
                </a:solidFill>
                <a:latin typeface="Calibri"/>
              </a:rPr>
              <a:t>From raw loan, customer and clickstream data to a monitored, governed model scoring new loans every month
PySpark medallion pipeline · XGBoost · SHAP · MLflow · Airflow · Docker</a:t>
            </a:r>
          </a:p>
        </p:txBody>
      </p:sp>
      <p:sp>
        <p:nvSpPr>
          <p:cNvPr id="5" name="TextBox 4"/>
          <p:cNvSpPr txBox="1"/>
          <p:nvPr/>
        </p:nvSpPr>
        <p:spPr>
          <a:xfrm>
            <a:off x="822960" y="4892040"/>
            <a:ext cx="2560320" cy="548640"/>
          </a:xfrm>
          <a:prstGeom prst="rect">
            <a:avLst/>
          </a:prstGeom>
          <a:noFill/>
        </p:spPr>
        <p:txBody>
          <a:bodyPr wrap="square" anchor="t" lIns="36576" rIns="36576" tIns="18288" bIns="18288">
            <a:spAutoFit/>
          </a:bodyPr>
          <a:lstStyle/>
          <a:p>
            <a:pPr algn="l"/>
            <a:r>
              <a:rPr sz="2800" b="1" i="0">
                <a:solidFill>
                  <a:srgbClr val="FFFFFF"/>
                </a:solidFill>
                <a:latin typeface="Cambria"/>
              </a:rPr>
              <a:t>0.619</a:t>
            </a:r>
          </a:p>
        </p:txBody>
      </p:sp>
      <p:sp>
        <p:nvSpPr>
          <p:cNvPr id="6" name="TextBox 5"/>
          <p:cNvSpPr txBox="1"/>
          <p:nvPr/>
        </p:nvSpPr>
        <p:spPr>
          <a:xfrm>
            <a:off x="822960" y="5440680"/>
            <a:ext cx="2560320" cy="365760"/>
          </a:xfrm>
          <a:prstGeom prst="rect">
            <a:avLst/>
          </a:prstGeom>
          <a:noFill/>
        </p:spPr>
        <p:txBody>
          <a:bodyPr wrap="square" anchor="t" lIns="36576" rIns="36576" tIns="18288" bIns="18288">
            <a:spAutoFit/>
          </a:bodyPr>
          <a:lstStyle/>
          <a:p>
            <a:pPr algn="l"/>
            <a:r>
              <a:rPr sz="1200" b="0" i="0">
                <a:solidFill>
                  <a:srgbClr val="CADCFC"/>
                </a:solidFill>
                <a:latin typeface="Calibri"/>
              </a:rPr>
              <a:t>PR-AUC on later, unseen loans</a:t>
            </a:r>
          </a:p>
        </p:txBody>
      </p:sp>
      <p:sp>
        <p:nvSpPr>
          <p:cNvPr id="7" name="TextBox 6"/>
          <p:cNvSpPr txBox="1"/>
          <p:nvPr/>
        </p:nvSpPr>
        <p:spPr>
          <a:xfrm>
            <a:off x="3520440" y="4892040"/>
            <a:ext cx="2560320" cy="548640"/>
          </a:xfrm>
          <a:prstGeom prst="rect">
            <a:avLst/>
          </a:prstGeom>
          <a:noFill/>
        </p:spPr>
        <p:txBody>
          <a:bodyPr wrap="square" anchor="t" lIns="36576" rIns="36576" tIns="18288" bIns="18288">
            <a:spAutoFit/>
          </a:bodyPr>
          <a:lstStyle/>
          <a:p>
            <a:pPr algn="l"/>
            <a:r>
              <a:rPr sz="2800" b="1" i="0">
                <a:solidFill>
                  <a:srgbClr val="FFFFFF"/>
                </a:solidFill>
                <a:latin typeface="Cambria"/>
              </a:rPr>
              <a:t>+0.077</a:t>
            </a:r>
          </a:p>
        </p:txBody>
      </p:sp>
      <p:sp>
        <p:nvSpPr>
          <p:cNvPr id="8" name="TextBox 7"/>
          <p:cNvSpPr txBox="1"/>
          <p:nvPr/>
        </p:nvSpPr>
        <p:spPr>
          <a:xfrm>
            <a:off x="3520440" y="5440680"/>
            <a:ext cx="2560320" cy="365760"/>
          </a:xfrm>
          <a:prstGeom prst="rect">
            <a:avLst/>
          </a:prstGeom>
          <a:noFill/>
        </p:spPr>
        <p:txBody>
          <a:bodyPr wrap="square" anchor="t" lIns="36576" rIns="36576" tIns="18288" bIns="18288">
            <a:spAutoFit/>
          </a:bodyPr>
          <a:lstStyle/>
          <a:p>
            <a:pPr algn="l"/>
            <a:r>
              <a:rPr sz="1200" b="0" i="0">
                <a:solidFill>
                  <a:srgbClr val="CADCFC"/>
                </a:solidFill>
                <a:latin typeface="Calibri"/>
              </a:rPr>
              <a:t>over the logistic baseline</a:t>
            </a:r>
          </a:p>
        </p:txBody>
      </p:sp>
      <p:sp>
        <p:nvSpPr>
          <p:cNvPr id="9" name="TextBox 8"/>
          <p:cNvSpPr txBox="1"/>
          <p:nvPr/>
        </p:nvSpPr>
        <p:spPr>
          <a:xfrm>
            <a:off x="6217920" y="4892040"/>
            <a:ext cx="2560320" cy="548640"/>
          </a:xfrm>
          <a:prstGeom prst="rect">
            <a:avLst/>
          </a:prstGeom>
          <a:noFill/>
        </p:spPr>
        <p:txBody>
          <a:bodyPr wrap="square" anchor="t" lIns="36576" rIns="36576" tIns="18288" bIns="18288">
            <a:spAutoFit/>
          </a:bodyPr>
          <a:lstStyle/>
          <a:p>
            <a:pPr algn="l"/>
            <a:r>
              <a:rPr sz="2800" b="1" i="0">
                <a:solidFill>
                  <a:srgbClr val="FFFFFF"/>
                </a:solidFill>
                <a:latin typeface="Cambria"/>
              </a:rPr>
              <a:t>70%</a:t>
            </a:r>
          </a:p>
        </p:txBody>
      </p:sp>
      <p:sp>
        <p:nvSpPr>
          <p:cNvPr id="10" name="TextBox 9"/>
          <p:cNvSpPr txBox="1"/>
          <p:nvPr/>
        </p:nvSpPr>
        <p:spPr>
          <a:xfrm>
            <a:off x="6217920" y="5440680"/>
            <a:ext cx="2560320" cy="365760"/>
          </a:xfrm>
          <a:prstGeom prst="rect">
            <a:avLst/>
          </a:prstGeom>
          <a:noFill/>
        </p:spPr>
        <p:txBody>
          <a:bodyPr wrap="square" anchor="t" lIns="36576" rIns="36576" tIns="18288" bIns="18288">
            <a:spAutoFit/>
          </a:bodyPr>
          <a:lstStyle/>
          <a:p>
            <a:pPr algn="l"/>
            <a:r>
              <a:rPr sz="1200" b="0" i="0">
                <a:solidFill>
                  <a:srgbClr val="CADCFC"/>
                </a:solidFill>
                <a:latin typeface="Calibri"/>
              </a:rPr>
              <a:t>of defaulters caught</a:t>
            </a:r>
          </a:p>
        </p:txBody>
      </p:sp>
      <p:sp>
        <p:nvSpPr>
          <p:cNvPr id="11" name="TextBox 10"/>
          <p:cNvSpPr txBox="1"/>
          <p:nvPr/>
        </p:nvSpPr>
        <p:spPr>
          <a:xfrm>
            <a:off x="8915400" y="4892040"/>
            <a:ext cx="2560320" cy="548640"/>
          </a:xfrm>
          <a:prstGeom prst="rect">
            <a:avLst/>
          </a:prstGeom>
          <a:noFill/>
        </p:spPr>
        <p:txBody>
          <a:bodyPr wrap="square" anchor="t" lIns="36576" rIns="36576" tIns="18288" bIns="18288">
            <a:spAutoFit/>
          </a:bodyPr>
          <a:lstStyle/>
          <a:p>
            <a:pPr algn="l"/>
            <a:r>
              <a:rPr sz="2800" b="1" i="0">
                <a:solidFill>
                  <a:srgbClr val="FFFFFF"/>
                </a:solidFill>
                <a:latin typeface="Cambria"/>
              </a:rPr>
              <a:t>3 DAGs</a:t>
            </a:r>
          </a:p>
        </p:txBody>
      </p:sp>
      <p:sp>
        <p:nvSpPr>
          <p:cNvPr id="12" name="TextBox 11"/>
          <p:cNvSpPr txBox="1"/>
          <p:nvPr/>
        </p:nvSpPr>
        <p:spPr>
          <a:xfrm>
            <a:off x="8915400" y="5440680"/>
            <a:ext cx="2560320" cy="365760"/>
          </a:xfrm>
          <a:prstGeom prst="rect">
            <a:avLst/>
          </a:prstGeom>
          <a:noFill/>
        </p:spPr>
        <p:txBody>
          <a:bodyPr wrap="square" anchor="t" lIns="36576" rIns="36576" tIns="18288" bIns="18288">
            <a:spAutoFit/>
          </a:bodyPr>
          <a:lstStyle/>
          <a:p>
            <a:pPr algn="l"/>
            <a:r>
              <a:rPr sz="1200" b="0" i="0">
                <a:solidFill>
                  <a:srgbClr val="CADCFC"/>
                </a:solidFill>
                <a:latin typeface="Calibri"/>
              </a:rPr>
              <a:t>data · training · inference</a:t>
            </a:r>
          </a:p>
        </p:txBody>
      </p:sp>
      <p:sp>
        <p:nvSpPr>
          <p:cNvPr id="1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End to end machine learning for loan default prediction</a:t>
            </a:r>
          </a:p>
        </p:txBody>
      </p:sp>
      <p:sp>
        <p:nvSpPr>
          <p:cNvPr id="1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The question: 30+ days past due by month 6?</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a:t>
            </a:r>
          </a:p>
        </p:txBody>
      </p:sp>
      <p:sp>
        <p:nvSpPr>
          <p:cNvPr id="5" name="Rounded Rectangle 4"/>
          <p:cNvSpPr/>
          <p:nvPr/>
        </p:nvSpPr>
        <p:spPr>
          <a:xfrm>
            <a:off x="548640" y="1600200"/>
            <a:ext cx="2834640" cy="96012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Loan starts</a:t>
            </a:r>
          </a:p>
          <a:p>
            <a:pPr algn="ctr"/>
            <a:r>
              <a:rPr sz="1150" b="0">
                <a:solidFill>
                  <a:srgbClr val="FFFFFF"/>
                </a:solidFill>
                <a:latin typeface="Calibri"/>
              </a:rPr>
              <a:t>score here, with data known that day</a:t>
            </a:r>
          </a:p>
        </p:txBody>
      </p:sp>
      <p:cxnSp>
        <p:nvCxnSpPr>
          <p:cNvPr id="6" name="Connector 5"/>
          <p:cNvCxnSpPr/>
          <p:nvPr/>
        </p:nvCxnSpPr>
        <p:spPr>
          <a:xfrm>
            <a:off x="3429000" y="2075688"/>
            <a:ext cx="1143000" cy="0"/>
          </a:xfrm>
          <a:prstGeom prst="line">
            <a:avLst/>
          </a:prstGeom>
          <a:ln w="3175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17720" y="1600200"/>
            <a:ext cx="2834640" cy="960120"/>
          </a:xfrm>
          <a:prstGeom prst="roundRect">
            <a:avLst/>
          </a:prstGeom>
          <a:solidFill>
            <a:srgbClr val="9A99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Six monthly instalments</a:t>
            </a:r>
          </a:p>
          <a:p>
            <a:pPr algn="ctr"/>
            <a:r>
              <a:rPr sz="1150" b="0">
                <a:solidFill>
                  <a:srgbClr val="FFFFFF"/>
                </a:solidFill>
                <a:latin typeface="Calibri"/>
              </a:rPr>
              <a:t>repayment history builds up</a:t>
            </a:r>
          </a:p>
        </p:txBody>
      </p:sp>
      <p:cxnSp>
        <p:nvCxnSpPr>
          <p:cNvPr id="8" name="Connector 7"/>
          <p:cNvCxnSpPr/>
          <p:nvPr/>
        </p:nvCxnSpPr>
        <p:spPr>
          <a:xfrm>
            <a:off x="7498079" y="2075688"/>
            <a:ext cx="1143001" cy="0"/>
          </a:xfrm>
          <a:prstGeom prst="line">
            <a:avLst/>
          </a:prstGeom>
          <a:ln w="3175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686800" y="1600200"/>
            <a:ext cx="2971800" cy="96012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Month 6: label</a:t>
            </a:r>
          </a:p>
          <a:p>
            <a:pPr algn="ctr"/>
            <a:r>
              <a:rPr sz="1150" b="0">
                <a:solidFill>
                  <a:srgbClr val="FFFFFF"/>
                </a:solidFill>
                <a:latin typeface="Calibri"/>
              </a:rPr>
              <a:t>1 = 30+ days past due</a:t>
            </a:r>
          </a:p>
        </p:txBody>
      </p:sp>
      <p:sp>
        <p:nvSpPr>
          <p:cNvPr id="10" name="TextBox 9"/>
          <p:cNvSpPr txBox="1"/>
          <p:nvPr/>
        </p:nvSpPr>
        <p:spPr>
          <a:xfrm>
            <a:off x="548640" y="2697480"/>
            <a:ext cx="11109960" cy="411480"/>
          </a:xfrm>
          <a:prstGeom prst="rect">
            <a:avLst/>
          </a:prstGeom>
          <a:noFill/>
        </p:spPr>
        <p:txBody>
          <a:bodyPr wrap="square" anchor="t" lIns="36576" rIns="36576" tIns="18288" bIns="18288">
            <a:spAutoFit/>
          </a:bodyPr>
          <a:lstStyle/>
          <a:p>
            <a:pPr algn="l"/>
            <a:r>
              <a:rPr sz="1300" b="0" i="1">
                <a:solidFill>
                  <a:srgbClr val="5B6472"/>
                </a:solidFill>
                <a:latin typeface="Calibri"/>
              </a:rPr>
              <a:t>Decision at application, outcome known 6 months later — so features must use only what was known on the start date, and performance can only be confirmed with a 6-month delay.</a:t>
            </a:r>
          </a:p>
        </p:txBody>
      </p:sp>
      <p:sp>
        <p:nvSpPr>
          <p:cNvPr id="11" name="Rounded Rectangle 10"/>
          <p:cNvSpPr/>
          <p:nvPr/>
        </p:nvSpPr>
        <p:spPr>
          <a:xfrm>
            <a:off x="548640" y="3291840"/>
            <a:ext cx="210312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383280"/>
            <a:ext cx="1828799" cy="640080"/>
          </a:xfrm>
          <a:prstGeom prst="rect">
            <a:avLst/>
          </a:prstGeom>
          <a:noFill/>
        </p:spPr>
        <p:txBody>
          <a:bodyPr wrap="square" anchor="t" lIns="36576" rIns="36576" tIns="18288" bIns="18288">
            <a:spAutoFit/>
          </a:bodyPr>
          <a:lstStyle/>
          <a:p>
            <a:pPr algn="l"/>
            <a:r>
              <a:rPr sz="3200" b="1" i="0">
                <a:solidFill>
                  <a:srgbClr val="14213D"/>
                </a:solidFill>
                <a:latin typeface="Cambria"/>
              </a:rPr>
              <a:t>12,500</a:t>
            </a:r>
          </a:p>
        </p:txBody>
      </p:sp>
      <p:sp>
        <p:nvSpPr>
          <p:cNvPr id="13" name="TextBox 12"/>
          <p:cNvSpPr txBox="1"/>
          <p:nvPr/>
        </p:nvSpPr>
        <p:spPr>
          <a:xfrm>
            <a:off x="685800" y="4005072"/>
            <a:ext cx="1828799" cy="667512"/>
          </a:xfrm>
          <a:prstGeom prst="rect">
            <a:avLst/>
          </a:prstGeom>
          <a:noFill/>
        </p:spPr>
        <p:txBody>
          <a:bodyPr wrap="square" anchor="t" lIns="36576" rIns="36576" tIns="18288" bIns="18288">
            <a:spAutoFit/>
          </a:bodyPr>
          <a:lstStyle/>
          <a:p>
            <a:pPr algn="l"/>
            <a:r>
              <a:rPr sz="1200" b="0" i="0">
                <a:solidFill>
                  <a:srgbClr val="5B6472"/>
                </a:solidFill>
                <a:latin typeface="Calibri"/>
              </a:rPr>
              <a:t>loans, one per customer
4 raw sources, 378k rows</a:t>
            </a:r>
          </a:p>
        </p:txBody>
      </p:sp>
      <p:sp>
        <p:nvSpPr>
          <p:cNvPr id="14" name="Rounded Rectangle 13"/>
          <p:cNvSpPr/>
          <p:nvPr/>
        </p:nvSpPr>
        <p:spPr>
          <a:xfrm>
            <a:off x="2807208" y="3291840"/>
            <a:ext cx="210312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4368" y="3383280"/>
            <a:ext cx="1828799" cy="640080"/>
          </a:xfrm>
          <a:prstGeom prst="rect">
            <a:avLst/>
          </a:prstGeom>
          <a:noFill/>
        </p:spPr>
        <p:txBody>
          <a:bodyPr wrap="square" anchor="t" lIns="36576" rIns="36576" tIns="18288" bIns="18288">
            <a:spAutoFit/>
          </a:bodyPr>
          <a:lstStyle/>
          <a:p>
            <a:pPr algn="l"/>
            <a:r>
              <a:rPr sz="3200" b="1" i="0">
                <a:solidFill>
                  <a:srgbClr val="EB6834"/>
                </a:solidFill>
                <a:latin typeface="Cambria"/>
              </a:rPr>
              <a:t>28.8%</a:t>
            </a:r>
          </a:p>
        </p:txBody>
      </p:sp>
      <p:sp>
        <p:nvSpPr>
          <p:cNvPr id="16" name="TextBox 15"/>
          <p:cNvSpPr txBox="1"/>
          <p:nvPr/>
        </p:nvSpPr>
        <p:spPr>
          <a:xfrm>
            <a:off x="2944368" y="4005072"/>
            <a:ext cx="1828799" cy="667512"/>
          </a:xfrm>
          <a:prstGeom prst="rect">
            <a:avLst/>
          </a:prstGeom>
          <a:noFill/>
        </p:spPr>
        <p:txBody>
          <a:bodyPr wrap="square" anchor="t" lIns="36576" rIns="36576" tIns="18288" bIns="18288">
            <a:spAutoFit/>
          </a:bodyPr>
          <a:lstStyle/>
          <a:p>
            <a:pPr algn="l"/>
            <a:r>
              <a:rPr sz="1200" b="0" i="0">
                <a:solidFill>
                  <a:srgbClr val="5B6472"/>
                </a:solidFill>
                <a:latin typeface="Calibri"/>
              </a:rPr>
              <a:t>default rate
stable month to month</a:t>
            </a:r>
          </a:p>
        </p:txBody>
      </p:sp>
      <p:sp>
        <p:nvSpPr>
          <p:cNvPr id="17" name="Rounded Rectangle 16"/>
          <p:cNvSpPr/>
          <p:nvPr/>
        </p:nvSpPr>
        <p:spPr>
          <a:xfrm>
            <a:off x="5065776" y="3291840"/>
            <a:ext cx="210312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3383280"/>
            <a:ext cx="1828799" cy="640080"/>
          </a:xfrm>
          <a:prstGeom prst="rect">
            <a:avLst/>
          </a:prstGeom>
          <a:noFill/>
        </p:spPr>
        <p:txBody>
          <a:bodyPr wrap="square" anchor="t" lIns="36576" rIns="36576" tIns="18288" bIns="18288">
            <a:spAutoFit/>
          </a:bodyPr>
          <a:lstStyle/>
          <a:p>
            <a:pPr algn="l"/>
            <a:r>
              <a:rPr sz="3200" b="1" i="0">
                <a:solidFill>
                  <a:srgbClr val="1BAF7A"/>
                </a:solidFill>
                <a:latin typeface="Cambria"/>
              </a:rPr>
              <a:t>0.619</a:t>
            </a:r>
          </a:p>
        </p:txBody>
      </p:sp>
      <p:sp>
        <p:nvSpPr>
          <p:cNvPr id="19" name="TextBox 18"/>
          <p:cNvSpPr txBox="1"/>
          <p:nvPr/>
        </p:nvSpPr>
        <p:spPr>
          <a:xfrm>
            <a:off x="5202936" y="4005072"/>
            <a:ext cx="1828799" cy="667512"/>
          </a:xfrm>
          <a:prstGeom prst="rect">
            <a:avLst/>
          </a:prstGeom>
          <a:noFill/>
        </p:spPr>
        <p:txBody>
          <a:bodyPr wrap="square" anchor="t" lIns="36576" rIns="36576" tIns="18288" bIns="18288">
            <a:spAutoFit/>
          </a:bodyPr>
          <a:lstStyle/>
          <a:p>
            <a:pPr algn="l"/>
            <a:r>
              <a:rPr sz="1200" b="0" i="0">
                <a:solidFill>
                  <a:srgbClr val="5B6472"/>
                </a:solidFill>
                <a:latin typeface="Calibri"/>
              </a:rPr>
              <a:t>PR-AUC on later loans
baseline 0.542</a:t>
            </a:r>
          </a:p>
        </p:txBody>
      </p:sp>
      <p:sp>
        <p:nvSpPr>
          <p:cNvPr id="20" name="Rounded Rectangle 19"/>
          <p:cNvSpPr/>
          <p:nvPr/>
        </p:nvSpPr>
        <p:spPr>
          <a:xfrm>
            <a:off x="7324344" y="3291840"/>
            <a:ext cx="210312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3383280"/>
            <a:ext cx="1828799" cy="640080"/>
          </a:xfrm>
          <a:prstGeom prst="rect">
            <a:avLst/>
          </a:prstGeom>
          <a:noFill/>
        </p:spPr>
        <p:txBody>
          <a:bodyPr wrap="square" anchor="t" lIns="36576" rIns="36576" tIns="18288" bIns="18288">
            <a:spAutoFit/>
          </a:bodyPr>
          <a:lstStyle/>
          <a:p>
            <a:pPr algn="l"/>
            <a:r>
              <a:rPr sz="3200" b="1" i="0">
                <a:solidFill>
                  <a:srgbClr val="2A78D6"/>
                </a:solidFill>
                <a:latin typeface="Cambria"/>
              </a:rPr>
              <a:t>70%</a:t>
            </a:r>
          </a:p>
        </p:txBody>
      </p:sp>
      <p:sp>
        <p:nvSpPr>
          <p:cNvPr id="22" name="TextBox 21"/>
          <p:cNvSpPr txBox="1"/>
          <p:nvPr/>
        </p:nvSpPr>
        <p:spPr>
          <a:xfrm>
            <a:off x="7461504" y="4005072"/>
            <a:ext cx="1828799" cy="667512"/>
          </a:xfrm>
          <a:prstGeom prst="rect">
            <a:avLst/>
          </a:prstGeom>
          <a:noFill/>
        </p:spPr>
        <p:txBody>
          <a:bodyPr wrap="square" anchor="t" lIns="36576" rIns="36576" tIns="18288" bIns="18288">
            <a:spAutoFit/>
          </a:bodyPr>
          <a:lstStyle/>
          <a:p>
            <a:pPr algn="l"/>
            <a:r>
              <a:rPr sz="1200" b="0" i="0">
                <a:solidFill>
                  <a:srgbClr val="5B6472"/>
                </a:solidFill>
                <a:latin typeface="Calibri"/>
              </a:rPr>
              <a:t>of defaulters caught
precision 0.58</a:t>
            </a:r>
          </a:p>
        </p:txBody>
      </p:sp>
      <p:sp>
        <p:nvSpPr>
          <p:cNvPr id="23" name="Rounded Rectangle 22"/>
          <p:cNvSpPr/>
          <p:nvPr/>
        </p:nvSpPr>
        <p:spPr>
          <a:xfrm>
            <a:off x="9582912" y="3291840"/>
            <a:ext cx="210312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0072" y="3383280"/>
            <a:ext cx="1828799" cy="640080"/>
          </a:xfrm>
          <a:prstGeom prst="rect">
            <a:avLst/>
          </a:prstGeom>
          <a:noFill/>
        </p:spPr>
        <p:txBody>
          <a:bodyPr wrap="square" anchor="t" lIns="36576" rIns="36576" tIns="18288" bIns="18288">
            <a:spAutoFit/>
          </a:bodyPr>
          <a:lstStyle/>
          <a:p>
            <a:pPr algn="l"/>
            <a:r>
              <a:rPr sz="3200" b="1" i="0">
                <a:solidFill>
                  <a:srgbClr val="14213D"/>
                </a:solidFill>
                <a:latin typeface="Cambria"/>
              </a:rPr>
              <a:t>35%</a:t>
            </a:r>
          </a:p>
        </p:txBody>
      </p:sp>
      <p:sp>
        <p:nvSpPr>
          <p:cNvPr id="25" name="TextBox 24"/>
          <p:cNvSpPr txBox="1"/>
          <p:nvPr/>
        </p:nvSpPr>
        <p:spPr>
          <a:xfrm>
            <a:off x="9720072" y="4005072"/>
            <a:ext cx="1828799" cy="667512"/>
          </a:xfrm>
          <a:prstGeom prst="rect">
            <a:avLst/>
          </a:prstGeom>
          <a:noFill/>
        </p:spPr>
        <p:txBody>
          <a:bodyPr wrap="square" anchor="t" lIns="36576" rIns="36576" tIns="18288" bIns="18288">
            <a:spAutoFit/>
          </a:bodyPr>
          <a:lstStyle/>
          <a:p>
            <a:pPr algn="l"/>
            <a:r>
              <a:rPr sz="1200" b="0" i="0">
                <a:solidFill>
                  <a:srgbClr val="5B6472"/>
                </a:solidFill>
                <a:latin typeface="Calibri"/>
              </a:rPr>
              <a:t>of new loans flagged
for review</a:t>
            </a:r>
          </a:p>
        </p:txBody>
      </p:sp>
      <p:sp>
        <p:nvSpPr>
          <p:cNvPr id="26" name="TextBox 25"/>
          <p:cNvSpPr txBox="1"/>
          <p:nvPr/>
        </p:nvSpPr>
        <p:spPr>
          <a:xfrm>
            <a:off x="548640" y="4983480"/>
            <a:ext cx="11109960" cy="1325880"/>
          </a:xfrm>
          <a:prstGeom prst="rect">
            <a:avLst/>
          </a:prstGeom>
          <a:noFill/>
        </p:spPr>
        <p:txBody>
          <a:bodyPr wrap="square" lIns="36576" rIns="36576">
            <a:spAutoFit/>
          </a:bodyPr>
          <a:lstStyle/>
          <a:p>
            <a:pPr marL="201168" indent="-182880">
              <a:spcAft>
                <a:spcPts val="800"/>
              </a:spcAft>
              <a:buFont typeface="Arial"/>
              <a:buChar char="•"/>
            </a:pPr>
            <a:r>
              <a:rPr sz="1350" b="1">
                <a:solidFill>
                  <a:srgbClr val="1F2937"/>
                </a:solidFill>
                <a:latin typeface="Calibri"/>
              </a:rPr>
              <a:t>Primary metric PR-AUC: </a:t>
            </a:r>
            <a:r>
              <a:rPr sz="1350" b="0">
                <a:solidFill>
                  <a:srgbClr val="1F2937"/>
                </a:solidFill>
                <a:latin typeface="Calibri"/>
              </a:rPr>
              <a:t>defaulters are the minority; it rewards ranking them above good loans, unlike accuracy.</a:t>
            </a:r>
          </a:p>
          <a:p>
            <a:pPr marL="201168" indent="-182880">
              <a:spcAft>
                <a:spcPts val="800"/>
              </a:spcAft>
              <a:buFont typeface="Arial"/>
              <a:buChar char="•"/>
            </a:pPr>
            <a:r>
              <a:rPr sz="1350" b="1">
                <a:solidFill>
                  <a:srgbClr val="1F2937"/>
                </a:solidFill>
                <a:latin typeface="Calibri"/>
              </a:rPr>
              <a:t>Proof on unseen data: </a:t>
            </a:r>
            <a:r>
              <a:rPr sz="1350" b="0">
                <a:solidFill>
                  <a:srgbClr val="1F2937"/>
                </a:solidFill>
                <a:latin typeface="Calibri"/>
              </a:rPr>
              <a:t>the final model was tested once on loans that started after all training loans (out-of-time) — no drop from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Architecture: data, training and inference</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a:t>
            </a:r>
          </a:p>
        </p:txBody>
      </p:sp>
      <p:sp>
        <p:nvSpPr>
          <p:cNvPr id="5" name="Rounded Rectangle 4"/>
          <p:cNvSpPr/>
          <p:nvPr/>
        </p:nvSpPr>
        <p:spPr>
          <a:xfrm>
            <a:off x="411480" y="1234440"/>
            <a:ext cx="11338560" cy="128016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554480" cy="320040"/>
          </a:xfrm>
          <a:prstGeom prst="rect">
            <a:avLst/>
          </a:prstGeom>
          <a:noFill/>
        </p:spPr>
        <p:txBody>
          <a:bodyPr wrap="square" anchor="t" lIns="36576" rIns="36576" tIns="18288" bIns="18288">
            <a:spAutoFit/>
          </a:bodyPr>
          <a:lstStyle/>
          <a:p>
            <a:pPr algn="l"/>
            <a:r>
              <a:rPr sz="1150" b="1" i="0">
                <a:solidFill>
                  <a:srgbClr val="2A78D6"/>
                </a:solidFill>
                <a:latin typeface="Calibri"/>
              </a:rPr>
              <a:t>DATA PIPELINE</a:t>
            </a:r>
          </a:p>
        </p:txBody>
      </p:sp>
      <p:sp>
        <p:nvSpPr>
          <p:cNvPr id="7" name="TextBox 6"/>
          <p:cNvSpPr txBox="1"/>
          <p:nvPr/>
        </p:nvSpPr>
        <p:spPr>
          <a:xfrm>
            <a:off x="548640" y="1874519"/>
            <a:ext cx="1554480" cy="365760"/>
          </a:xfrm>
          <a:prstGeom prst="rect">
            <a:avLst/>
          </a:prstGeom>
          <a:noFill/>
        </p:spPr>
        <p:txBody>
          <a:bodyPr wrap="square" anchor="t" lIns="36576" rIns="36576" tIns="18288" bIns="18288">
            <a:spAutoFit/>
          </a:bodyPr>
          <a:lstStyle/>
          <a:p>
            <a:pPr algn="l"/>
            <a:r>
              <a:rPr sz="950" b="0" i="0">
                <a:solidFill>
                  <a:srgbClr val="5B6472"/>
                </a:solidFill>
                <a:latin typeface="Calibri"/>
              </a:rPr>
              <a:t>monthly DAG</a:t>
            </a:r>
          </a:p>
        </p:txBody>
      </p:sp>
      <p:sp>
        <p:nvSpPr>
          <p:cNvPr id="8" name="Rounded Rectangle 7"/>
          <p:cNvSpPr/>
          <p:nvPr/>
        </p:nvSpPr>
        <p:spPr>
          <a:xfrm>
            <a:off x="411480" y="2697480"/>
            <a:ext cx="11338560" cy="128016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17520"/>
            <a:ext cx="1554480" cy="320040"/>
          </a:xfrm>
          <a:prstGeom prst="rect">
            <a:avLst/>
          </a:prstGeom>
          <a:noFill/>
        </p:spPr>
        <p:txBody>
          <a:bodyPr wrap="square" anchor="t" lIns="36576" rIns="36576" tIns="18288" bIns="18288">
            <a:spAutoFit/>
          </a:bodyPr>
          <a:lstStyle/>
          <a:p>
            <a:pPr algn="l"/>
            <a:r>
              <a:rPr sz="1150" b="1" i="0">
                <a:solidFill>
                  <a:srgbClr val="14213D"/>
                </a:solidFill>
                <a:latin typeface="Calibri"/>
              </a:rPr>
              <a:t>MODEL TRAINING</a:t>
            </a:r>
          </a:p>
        </p:txBody>
      </p:sp>
      <p:sp>
        <p:nvSpPr>
          <p:cNvPr id="10" name="TextBox 9"/>
          <p:cNvSpPr txBox="1"/>
          <p:nvPr/>
        </p:nvSpPr>
        <p:spPr>
          <a:xfrm>
            <a:off x="548640" y="3337560"/>
            <a:ext cx="1554480" cy="365760"/>
          </a:xfrm>
          <a:prstGeom prst="rect">
            <a:avLst/>
          </a:prstGeom>
          <a:noFill/>
        </p:spPr>
        <p:txBody>
          <a:bodyPr wrap="square" anchor="t" lIns="36576" rIns="36576" tIns="18288" bIns="18288">
            <a:spAutoFit/>
          </a:bodyPr>
          <a:lstStyle/>
          <a:p>
            <a:pPr algn="l"/>
            <a:r>
              <a:rPr sz="950" b="0" i="0">
                <a:solidFill>
                  <a:srgbClr val="5B6472"/>
                </a:solidFill>
                <a:latin typeface="Calibri"/>
              </a:rPr>
              <a:t>6-monthly / on demand</a:t>
            </a:r>
          </a:p>
        </p:txBody>
      </p:sp>
      <p:sp>
        <p:nvSpPr>
          <p:cNvPr id="11" name="Rounded Rectangle 10"/>
          <p:cNvSpPr/>
          <p:nvPr/>
        </p:nvSpPr>
        <p:spPr>
          <a:xfrm>
            <a:off x="411480" y="4160520"/>
            <a:ext cx="11338560" cy="128016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480559"/>
            <a:ext cx="1554480" cy="320040"/>
          </a:xfrm>
          <a:prstGeom prst="rect">
            <a:avLst/>
          </a:prstGeom>
          <a:noFill/>
        </p:spPr>
        <p:txBody>
          <a:bodyPr wrap="square" anchor="t" lIns="36576" rIns="36576" tIns="18288" bIns="18288">
            <a:spAutoFit/>
          </a:bodyPr>
          <a:lstStyle/>
          <a:p>
            <a:pPr algn="l"/>
            <a:r>
              <a:rPr sz="1150" b="1" i="0">
                <a:solidFill>
                  <a:srgbClr val="1BAF7A"/>
                </a:solidFill>
                <a:latin typeface="Calibri"/>
              </a:rPr>
              <a:t>INFERENCE</a:t>
            </a:r>
          </a:p>
        </p:txBody>
      </p:sp>
      <p:sp>
        <p:nvSpPr>
          <p:cNvPr id="13" name="TextBox 12"/>
          <p:cNvSpPr txBox="1"/>
          <p:nvPr/>
        </p:nvSpPr>
        <p:spPr>
          <a:xfrm>
            <a:off x="548640" y="4800600"/>
            <a:ext cx="1554480" cy="365760"/>
          </a:xfrm>
          <a:prstGeom prst="rect">
            <a:avLst/>
          </a:prstGeom>
          <a:noFill/>
        </p:spPr>
        <p:txBody>
          <a:bodyPr wrap="square" anchor="t" lIns="36576" rIns="36576" tIns="18288" bIns="18288">
            <a:spAutoFit/>
          </a:bodyPr>
          <a:lstStyle/>
          <a:p>
            <a:pPr algn="l"/>
            <a:r>
              <a:rPr sz="950" b="0" i="0">
                <a:solidFill>
                  <a:srgbClr val="5B6472"/>
                </a:solidFill>
                <a:latin typeface="Calibri"/>
              </a:rPr>
              <a:t>monthly DAG</a:t>
            </a:r>
          </a:p>
        </p:txBody>
      </p:sp>
      <p:sp>
        <p:nvSpPr>
          <p:cNvPr id="14" name="Rounded Rectangle 13"/>
          <p:cNvSpPr/>
          <p:nvPr/>
        </p:nvSpPr>
        <p:spPr>
          <a:xfrm>
            <a:off x="2148840" y="1399032"/>
            <a:ext cx="2160270" cy="95097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4 raw sources</a:t>
            </a:r>
          </a:p>
          <a:p>
            <a:pPr algn="ctr"/>
            <a:r>
              <a:rPr sz="1000" b="0">
                <a:solidFill>
                  <a:srgbClr val="FFFFFF"/>
                </a:solidFill>
                <a:latin typeface="Calibri"/>
              </a:rPr>
              <a:t>loans · attributes · financials · clickstream</a:t>
            </a:r>
          </a:p>
        </p:txBody>
      </p:sp>
      <p:sp>
        <p:nvSpPr>
          <p:cNvPr id="15" name="Rounded Rectangle 14"/>
          <p:cNvSpPr/>
          <p:nvPr/>
        </p:nvSpPr>
        <p:spPr>
          <a:xfrm>
            <a:off x="4583429" y="1399032"/>
            <a:ext cx="2160270" cy="95097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Bronze</a:t>
            </a:r>
          </a:p>
          <a:p>
            <a:pPr algn="ctr"/>
            <a:r>
              <a:rPr sz="1000" b="0">
                <a:solidFill>
                  <a:srgbClr val="FFFFFF"/>
                </a:solidFill>
                <a:latin typeface="Calibri"/>
              </a:rPr>
              <a:t>raw as-is, CSV, lineage</a:t>
            </a:r>
          </a:p>
        </p:txBody>
      </p:sp>
      <p:cxnSp>
        <p:nvCxnSpPr>
          <p:cNvPr id="16" name="Connector 15"/>
          <p:cNvCxnSpPr/>
          <p:nvPr/>
        </p:nvCxnSpPr>
        <p:spPr>
          <a:xfrm>
            <a:off x="4327398" y="1874519"/>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018019" y="1399032"/>
            <a:ext cx="2160270" cy="95097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Silver</a:t>
            </a:r>
          </a:p>
          <a:p>
            <a:pPr algn="ctr"/>
            <a:r>
              <a:rPr sz="1000" b="0">
                <a:solidFill>
                  <a:srgbClr val="FFFFFF"/>
                </a:solidFill>
                <a:latin typeface="Calibri"/>
              </a:rPr>
              <a:t>validated, cleaned, Parquet</a:t>
            </a:r>
          </a:p>
        </p:txBody>
      </p:sp>
      <p:cxnSp>
        <p:nvCxnSpPr>
          <p:cNvPr id="18" name="Connector 17"/>
          <p:cNvCxnSpPr/>
          <p:nvPr/>
        </p:nvCxnSpPr>
        <p:spPr>
          <a:xfrm>
            <a:off x="6761987" y="1874519"/>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52609" y="1399032"/>
            <a:ext cx="2160270" cy="950976"/>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Gold</a:t>
            </a:r>
          </a:p>
          <a:p>
            <a:pPr algn="ctr"/>
            <a:r>
              <a:rPr sz="1000" b="0">
                <a:solidFill>
                  <a:srgbClr val="FFFFFF"/>
                </a:solidFill>
                <a:latin typeface="Calibri"/>
              </a:rPr>
              <a:t>feature store (as-of) + label store</a:t>
            </a:r>
          </a:p>
        </p:txBody>
      </p:sp>
      <p:cxnSp>
        <p:nvCxnSpPr>
          <p:cNvPr id="20" name="Connector 19"/>
          <p:cNvCxnSpPr/>
          <p:nvPr/>
        </p:nvCxnSpPr>
        <p:spPr>
          <a:xfrm>
            <a:off x="9196577" y="1874519"/>
            <a:ext cx="237745"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148840" y="2862072"/>
            <a:ext cx="2160270" cy="950976"/>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Split</a:t>
            </a:r>
          </a:p>
          <a:p>
            <a:pPr algn="ctr"/>
            <a:r>
              <a:rPr sz="1000" b="0">
                <a:solidFill>
                  <a:srgbClr val="FFFFFF"/>
                </a:solidFill>
                <a:latin typeface="Calibri"/>
              </a:rPr>
              <a:t>train / validation / test + out-of-time</a:t>
            </a:r>
          </a:p>
        </p:txBody>
      </p:sp>
      <p:sp>
        <p:nvSpPr>
          <p:cNvPr id="22" name="Rounded Rectangle 21"/>
          <p:cNvSpPr/>
          <p:nvPr/>
        </p:nvSpPr>
        <p:spPr>
          <a:xfrm>
            <a:off x="4583429" y="2862072"/>
            <a:ext cx="2160270" cy="950976"/>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Features</a:t>
            </a:r>
          </a:p>
          <a:p>
            <a:pPr algn="ctr"/>
            <a:r>
              <a:rPr sz="1000" b="0">
                <a:solidFill>
                  <a:srgbClr val="FFFFFF"/>
                </a:solidFill>
                <a:latin typeface="Calibri"/>
              </a:rPr>
              <a:t>OpenFE + model-specific filtering</a:t>
            </a:r>
          </a:p>
        </p:txBody>
      </p:sp>
      <p:cxnSp>
        <p:nvCxnSpPr>
          <p:cNvPr id="23" name="Connector 22"/>
          <p:cNvCxnSpPr/>
          <p:nvPr/>
        </p:nvCxnSpPr>
        <p:spPr>
          <a:xfrm>
            <a:off x="4327398" y="3337560"/>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018019" y="2862072"/>
            <a:ext cx="2160270" cy="950976"/>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Model development</a:t>
            </a:r>
          </a:p>
          <a:p>
            <a:pPr algn="ctr"/>
            <a:r>
              <a:rPr sz="1000" b="0">
                <a:solidFill>
                  <a:srgbClr val="FFFFFF"/>
                </a:solidFill>
                <a:latin typeface="Calibri"/>
              </a:rPr>
              <a:t>LR · RF · XGB · SHAP · tuning</a:t>
            </a:r>
          </a:p>
        </p:txBody>
      </p:sp>
      <p:cxnSp>
        <p:nvCxnSpPr>
          <p:cNvPr id="25" name="Connector 24"/>
          <p:cNvCxnSpPr/>
          <p:nvPr/>
        </p:nvCxnSpPr>
        <p:spPr>
          <a:xfrm>
            <a:off x="6761987" y="3337560"/>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452609" y="2862072"/>
            <a:ext cx="2160270" cy="950976"/>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MLflow registry</a:t>
            </a:r>
          </a:p>
          <a:p>
            <a:pPr algn="ctr"/>
            <a:r>
              <a:rPr sz="1000" b="0">
                <a:solidFill>
                  <a:srgbClr val="FFFFFF"/>
                </a:solidFill>
                <a:latin typeface="Calibri"/>
              </a:rPr>
              <a:t>@champion · @challenger</a:t>
            </a:r>
          </a:p>
        </p:txBody>
      </p:sp>
      <p:cxnSp>
        <p:nvCxnSpPr>
          <p:cNvPr id="27" name="Connector 26"/>
          <p:cNvCxnSpPr/>
          <p:nvPr/>
        </p:nvCxnSpPr>
        <p:spPr>
          <a:xfrm>
            <a:off x="9196577" y="3337560"/>
            <a:ext cx="237745"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148840" y="4325112"/>
            <a:ext cx="2160270" cy="950976"/>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Score new loans</a:t>
            </a:r>
          </a:p>
          <a:p>
            <a:pPr algn="ctr"/>
            <a:r>
              <a:rPr sz="1000" b="0">
                <a:solidFill>
                  <a:srgbClr val="FFFFFF"/>
                </a:solidFill>
                <a:latin typeface="Calibri"/>
              </a:rPr>
              <a:t>Gold features + @champion</a:t>
            </a:r>
          </a:p>
        </p:txBody>
      </p:sp>
      <p:sp>
        <p:nvSpPr>
          <p:cNvPr id="29" name="Rounded Rectangle 28"/>
          <p:cNvSpPr/>
          <p:nvPr/>
        </p:nvSpPr>
        <p:spPr>
          <a:xfrm>
            <a:off x="4583429" y="4325112"/>
            <a:ext cx="2160270" cy="950976"/>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Predictions</a:t>
            </a:r>
          </a:p>
          <a:p>
            <a:pPr algn="ctr"/>
            <a:r>
              <a:rPr sz="1000" b="0">
                <a:solidFill>
                  <a:srgbClr val="FFFFFF"/>
                </a:solidFill>
                <a:latin typeface="Calibri"/>
              </a:rPr>
              <a:t>monthly Parquet</a:t>
            </a:r>
          </a:p>
        </p:txBody>
      </p:sp>
      <p:cxnSp>
        <p:nvCxnSpPr>
          <p:cNvPr id="30" name="Connector 29"/>
          <p:cNvCxnSpPr/>
          <p:nvPr/>
        </p:nvCxnSpPr>
        <p:spPr>
          <a:xfrm>
            <a:off x="4327398" y="4800600"/>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018019" y="4325112"/>
            <a:ext cx="2160270" cy="950976"/>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Monitoring</a:t>
            </a:r>
          </a:p>
          <a:p>
            <a:pPr algn="ctr"/>
            <a:r>
              <a:rPr sz="1000" b="0">
                <a:solidFill>
                  <a:srgbClr val="FFFFFF"/>
                </a:solidFill>
                <a:latin typeface="Calibri"/>
              </a:rPr>
              <a:t>drift now, performance +6 months</a:t>
            </a:r>
          </a:p>
        </p:txBody>
      </p:sp>
      <p:cxnSp>
        <p:nvCxnSpPr>
          <p:cNvPr id="32" name="Connector 31"/>
          <p:cNvCxnSpPr/>
          <p:nvPr/>
        </p:nvCxnSpPr>
        <p:spPr>
          <a:xfrm>
            <a:off x="6761987" y="4800600"/>
            <a:ext cx="237744"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452609" y="4325112"/>
            <a:ext cx="2160270" cy="950976"/>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50" b="1">
                <a:solidFill>
                  <a:srgbClr val="FFFFFF"/>
                </a:solidFill>
                <a:latin typeface="Calibri"/>
              </a:rPr>
              <a:t>Governance</a:t>
            </a:r>
          </a:p>
          <a:p>
            <a:pPr algn="ctr"/>
            <a:r>
              <a:rPr sz="1000" b="0">
                <a:solidFill>
                  <a:srgbClr val="FFFFFF"/>
                </a:solidFill>
                <a:latin typeface="Calibri"/>
              </a:rPr>
              <a:t>refit / rollback rules</a:t>
            </a:r>
          </a:p>
        </p:txBody>
      </p:sp>
      <p:cxnSp>
        <p:nvCxnSpPr>
          <p:cNvPr id="34" name="Connector 33"/>
          <p:cNvCxnSpPr/>
          <p:nvPr/>
        </p:nvCxnSpPr>
        <p:spPr>
          <a:xfrm>
            <a:off x="9196577" y="4800600"/>
            <a:ext cx="237745"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532744" y="2350008"/>
            <a:ext cx="0" cy="192024"/>
          </a:xfrm>
          <a:prstGeom prst="line">
            <a:avLst/>
          </a:prstGeom>
          <a:ln w="22225">
            <a:solidFill>
              <a:srgbClr val="5B647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3228975" y="2542032"/>
            <a:ext cx="7303769" cy="0"/>
          </a:xfrm>
          <a:prstGeom prst="line">
            <a:avLst/>
          </a:prstGeom>
          <a:ln w="22225">
            <a:solidFill>
              <a:srgbClr val="5B647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28975" y="2542032"/>
            <a:ext cx="0" cy="32004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258424" y="3813048"/>
            <a:ext cx="0" cy="137160"/>
          </a:xfrm>
          <a:prstGeom prst="line">
            <a:avLst/>
          </a:prstGeom>
          <a:ln w="2222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228975" y="3950208"/>
            <a:ext cx="7029449" cy="0"/>
          </a:xfrm>
          <a:prstGeom prst="line">
            <a:avLst/>
          </a:prstGeom>
          <a:ln w="2222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28975" y="3950208"/>
            <a:ext cx="0" cy="374904"/>
          </a:xfrm>
          <a:prstGeom prst="line">
            <a:avLst/>
          </a:prstGeom>
          <a:ln w="22225">
            <a:solidFill>
              <a:srgbClr val="14213D"/>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807065" y="4178808"/>
            <a:ext cx="0" cy="146304"/>
          </a:xfrm>
          <a:prstGeom prst="line">
            <a:avLst/>
          </a:prstGeom>
          <a:ln w="22225">
            <a:solidFill>
              <a:srgbClr val="EB683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098154" y="4178808"/>
            <a:ext cx="2708911" cy="0"/>
          </a:xfrm>
          <a:prstGeom prst="line">
            <a:avLst/>
          </a:prstGeom>
          <a:ln w="22225">
            <a:solidFill>
              <a:srgbClr val="EB6834"/>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098154" y="3813048"/>
            <a:ext cx="0" cy="365760"/>
          </a:xfrm>
          <a:prstGeom prst="line">
            <a:avLst/>
          </a:prstGeom>
          <a:ln w="22225">
            <a:solidFill>
              <a:srgbClr val="EB6834"/>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189594" y="3995928"/>
            <a:ext cx="1828800" cy="201168"/>
          </a:xfrm>
          <a:prstGeom prst="rect">
            <a:avLst/>
          </a:prstGeom>
          <a:noFill/>
        </p:spPr>
        <p:txBody>
          <a:bodyPr wrap="square" anchor="t" lIns="36576" rIns="36576" tIns="18288" bIns="18288">
            <a:spAutoFit/>
          </a:bodyPr>
          <a:lstStyle/>
          <a:p>
            <a:pPr algn="l"/>
            <a:r>
              <a:rPr sz="900" b="0" i="1">
                <a:solidFill>
                  <a:srgbClr val="EB6834"/>
                </a:solidFill>
                <a:latin typeface="Calibri"/>
              </a:rPr>
              <a:t>retrain trigger</a:t>
            </a:r>
          </a:p>
        </p:txBody>
      </p:sp>
      <p:sp>
        <p:nvSpPr>
          <p:cNvPr id="45" name="TextBox 44"/>
          <p:cNvSpPr txBox="1"/>
          <p:nvPr/>
        </p:nvSpPr>
        <p:spPr>
          <a:xfrm>
            <a:off x="3320415" y="3767328"/>
            <a:ext cx="2194560" cy="201168"/>
          </a:xfrm>
          <a:prstGeom prst="rect">
            <a:avLst/>
          </a:prstGeom>
          <a:noFill/>
        </p:spPr>
        <p:txBody>
          <a:bodyPr wrap="square" anchor="t" lIns="36576" rIns="36576" tIns="18288" bIns="18288">
            <a:spAutoFit/>
          </a:bodyPr>
          <a:lstStyle/>
          <a:p>
            <a:pPr algn="l"/>
            <a:r>
              <a:rPr sz="900" b="0" i="1">
                <a:solidFill>
                  <a:srgbClr val="14213D"/>
                </a:solidFill>
                <a:latin typeface="Calibri"/>
              </a:rPr>
              <a:t>@champion</a:t>
            </a:r>
          </a:p>
        </p:txBody>
      </p:sp>
      <p:sp>
        <p:nvSpPr>
          <p:cNvPr id="46" name="Rounded Rectangle 45"/>
          <p:cNvSpPr/>
          <p:nvPr/>
        </p:nvSpPr>
        <p:spPr>
          <a:xfrm>
            <a:off x="411480" y="5596128"/>
            <a:ext cx="2724912" cy="7498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5641848"/>
            <a:ext cx="2514600" cy="274320"/>
          </a:xfrm>
          <a:prstGeom prst="rect">
            <a:avLst/>
          </a:prstGeom>
          <a:noFill/>
        </p:spPr>
        <p:txBody>
          <a:bodyPr wrap="square" anchor="t" lIns="36576" rIns="36576" tIns="18288" bIns="18288">
            <a:spAutoFit/>
          </a:bodyPr>
          <a:lstStyle/>
          <a:p>
            <a:pPr algn="l"/>
            <a:r>
              <a:rPr sz="1100" b="1" i="0">
                <a:solidFill>
                  <a:srgbClr val="14213D"/>
                </a:solidFill>
                <a:latin typeface="Calibri"/>
              </a:rPr>
              <a:t>Data contract (YAML)</a:t>
            </a:r>
          </a:p>
        </p:txBody>
      </p:sp>
      <p:sp>
        <p:nvSpPr>
          <p:cNvPr id="48" name="TextBox 47"/>
          <p:cNvSpPr txBox="1"/>
          <p:nvPr/>
        </p:nvSpPr>
        <p:spPr>
          <a:xfrm>
            <a:off x="521208" y="5916168"/>
            <a:ext cx="2514600" cy="411480"/>
          </a:xfrm>
          <a:prstGeom prst="rect">
            <a:avLst/>
          </a:prstGeom>
          <a:noFill/>
        </p:spPr>
        <p:txBody>
          <a:bodyPr wrap="square" anchor="t" lIns="36576" rIns="36576" tIns="18288" bIns="18288">
            <a:spAutoFit/>
          </a:bodyPr>
          <a:lstStyle/>
          <a:p>
            <a:pPr algn="l"/>
            <a:r>
              <a:rPr sz="950" b="0" i="0">
                <a:solidFill>
                  <a:srgbClr val="1F2937"/>
                </a:solidFill>
                <a:latin typeface="Calibri"/>
              </a:rPr>
              <a:t>sources, keys, label, allowed predictors</a:t>
            </a:r>
          </a:p>
        </p:txBody>
      </p:sp>
      <p:sp>
        <p:nvSpPr>
          <p:cNvPr id="49" name="Rounded Rectangle 48"/>
          <p:cNvSpPr/>
          <p:nvPr/>
        </p:nvSpPr>
        <p:spPr>
          <a:xfrm>
            <a:off x="3273552" y="5596128"/>
            <a:ext cx="2724912" cy="7498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83280" y="5641848"/>
            <a:ext cx="2514600" cy="274320"/>
          </a:xfrm>
          <a:prstGeom prst="rect">
            <a:avLst/>
          </a:prstGeom>
          <a:noFill/>
        </p:spPr>
        <p:txBody>
          <a:bodyPr wrap="square" anchor="t" lIns="36576" rIns="36576" tIns="18288" bIns="18288">
            <a:spAutoFit/>
          </a:bodyPr>
          <a:lstStyle/>
          <a:p>
            <a:pPr algn="l"/>
            <a:r>
              <a:rPr sz="1100" b="1" i="0">
                <a:solidFill>
                  <a:srgbClr val="14213D"/>
                </a:solidFill>
                <a:latin typeface="Calibri"/>
              </a:rPr>
              <a:t>Docker</a:t>
            </a:r>
          </a:p>
        </p:txBody>
      </p:sp>
      <p:sp>
        <p:nvSpPr>
          <p:cNvPr id="51" name="TextBox 50"/>
          <p:cNvSpPr txBox="1"/>
          <p:nvPr/>
        </p:nvSpPr>
        <p:spPr>
          <a:xfrm>
            <a:off x="3383280" y="5916168"/>
            <a:ext cx="2514600" cy="411480"/>
          </a:xfrm>
          <a:prstGeom prst="rect">
            <a:avLst/>
          </a:prstGeom>
          <a:noFill/>
        </p:spPr>
        <p:txBody>
          <a:bodyPr wrap="square" anchor="t" lIns="36576" rIns="36576" tIns="18288" bIns="18288">
            <a:spAutoFit/>
          </a:bodyPr>
          <a:lstStyle/>
          <a:p>
            <a:pPr algn="l"/>
            <a:r>
              <a:rPr sz="950" b="0" i="0">
                <a:solidFill>
                  <a:srgbClr val="1F2937"/>
                </a:solidFill>
                <a:latin typeface="Calibri"/>
              </a:rPr>
              <a:t>Jupyter + Airflow images, own pipeline env</a:t>
            </a:r>
          </a:p>
        </p:txBody>
      </p:sp>
      <p:sp>
        <p:nvSpPr>
          <p:cNvPr id="52" name="Rounded Rectangle 51"/>
          <p:cNvSpPr/>
          <p:nvPr/>
        </p:nvSpPr>
        <p:spPr>
          <a:xfrm>
            <a:off x="6135624" y="5596128"/>
            <a:ext cx="2724912" cy="7498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2" y="5641848"/>
            <a:ext cx="2514600" cy="274320"/>
          </a:xfrm>
          <a:prstGeom prst="rect">
            <a:avLst/>
          </a:prstGeom>
          <a:noFill/>
        </p:spPr>
        <p:txBody>
          <a:bodyPr wrap="square" anchor="t" lIns="36576" rIns="36576" tIns="18288" bIns="18288">
            <a:spAutoFit/>
          </a:bodyPr>
          <a:lstStyle/>
          <a:p>
            <a:pPr algn="l"/>
            <a:r>
              <a:rPr sz="1100" b="1" i="0">
                <a:solidFill>
                  <a:srgbClr val="14213D"/>
                </a:solidFill>
                <a:latin typeface="Calibri"/>
              </a:rPr>
              <a:t>Notebooks → modules</a:t>
            </a:r>
          </a:p>
        </p:txBody>
      </p:sp>
      <p:sp>
        <p:nvSpPr>
          <p:cNvPr id="54" name="TextBox 53"/>
          <p:cNvSpPr txBox="1"/>
          <p:nvPr/>
        </p:nvSpPr>
        <p:spPr>
          <a:xfrm>
            <a:off x="6245352" y="5916168"/>
            <a:ext cx="2514600" cy="411480"/>
          </a:xfrm>
          <a:prstGeom prst="rect">
            <a:avLst/>
          </a:prstGeom>
          <a:noFill/>
        </p:spPr>
        <p:txBody>
          <a:bodyPr wrap="square" anchor="t" lIns="36576" rIns="36576" tIns="18288" bIns="18288">
            <a:spAutoFit/>
          </a:bodyPr>
          <a:lstStyle/>
          <a:p>
            <a:pPr algn="l"/>
            <a:r>
              <a:rPr sz="950" b="0" i="0">
                <a:solidFill>
                  <a:srgbClr val="1F2937"/>
                </a:solidFill>
                <a:latin typeface="Calibri"/>
              </a:rPr>
              <a:t>developed in notebooks, run as util/*.py</a:t>
            </a:r>
          </a:p>
        </p:txBody>
      </p:sp>
      <p:sp>
        <p:nvSpPr>
          <p:cNvPr id="55" name="Rounded Rectangle 54"/>
          <p:cNvSpPr/>
          <p:nvPr/>
        </p:nvSpPr>
        <p:spPr>
          <a:xfrm>
            <a:off x="8997696" y="5596128"/>
            <a:ext cx="2724912" cy="7498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07424" y="5641848"/>
            <a:ext cx="2514600" cy="274320"/>
          </a:xfrm>
          <a:prstGeom prst="rect">
            <a:avLst/>
          </a:prstGeom>
          <a:noFill/>
        </p:spPr>
        <p:txBody>
          <a:bodyPr wrap="square" anchor="t" lIns="36576" rIns="36576" tIns="18288" bIns="18288">
            <a:spAutoFit/>
          </a:bodyPr>
          <a:lstStyle/>
          <a:p>
            <a:pPr algn="l"/>
            <a:r>
              <a:rPr sz="1100" b="1" i="0">
                <a:solidFill>
                  <a:srgbClr val="14213D"/>
                </a:solidFill>
                <a:latin typeface="Calibri"/>
              </a:rPr>
              <a:t>Evidence</a:t>
            </a:r>
          </a:p>
        </p:txBody>
      </p:sp>
      <p:sp>
        <p:nvSpPr>
          <p:cNvPr id="57" name="TextBox 56"/>
          <p:cNvSpPr txBox="1"/>
          <p:nvPr/>
        </p:nvSpPr>
        <p:spPr>
          <a:xfrm>
            <a:off x="9107424" y="5916168"/>
            <a:ext cx="2514600" cy="411480"/>
          </a:xfrm>
          <a:prstGeom prst="rect">
            <a:avLst/>
          </a:prstGeom>
          <a:noFill/>
        </p:spPr>
        <p:txBody>
          <a:bodyPr wrap="square" anchor="t" lIns="36576" rIns="36576" tIns="18288" bIns="18288">
            <a:spAutoFit/>
          </a:bodyPr>
          <a:lstStyle/>
          <a:p>
            <a:pPr algn="l"/>
            <a:r>
              <a:rPr sz="950" b="0" i="0">
                <a:solidFill>
                  <a:srgbClr val="1F2937"/>
                </a:solidFill>
                <a:latin typeface="Calibri"/>
              </a:rPr>
              <a:t>reports, model cards, sign-off,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EDA: findings that shaped the design</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4</a:t>
            </a:r>
          </a:p>
        </p:txBody>
      </p:sp>
      <p:pic>
        <p:nvPicPr>
          <p:cNvPr id="5" name="10_1_feature_availability_by_cohort.png" descr="10_1_feature_availability_by_cohort.png"/>
          <p:cNvPicPr>
            <a:picLocks noChangeAspect="1"/>
          </p:cNvPicPr>
          <p:nvPr/>
        </p:nvPicPr>
        <p:blipFill>
          <a:blip r:embed="rId2"/>
          <a:stretch>
            <a:fillRect/>
          </a:stretch>
        </p:blipFill>
        <p:spPr>
          <a:xfrm>
            <a:off x="411480" y="1249507"/>
            <a:ext cx="6858000" cy="2347304"/>
          </a:xfrm>
          <a:prstGeom prst="rect">
            <a:avLst/>
          </a:prstGeom>
        </p:spPr>
      </p:pic>
      <p:pic>
        <p:nvPicPr>
          <p:cNvPr id="6" name="14_3_default_rate_by_decile.png" descr="14_3_default_rate_by_decile.png"/>
          <p:cNvPicPr>
            <a:picLocks noChangeAspect="1"/>
          </p:cNvPicPr>
          <p:nvPr/>
        </p:nvPicPr>
        <p:blipFill>
          <a:blip r:embed="rId3"/>
          <a:stretch>
            <a:fillRect/>
          </a:stretch>
        </p:blipFill>
        <p:spPr>
          <a:xfrm>
            <a:off x="1175788" y="3703320"/>
            <a:ext cx="5329383" cy="2606040"/>
          </a:xfrm>
          <a:prstGeom prst="rect">
            <a:avLst/>
          </a:prstGeom>
        </p:spPr>
      </p:pic>
      <p:sp>
        <p:nvSpPr>
          <p:cNvPr id="7" name="TextBox 6"/>
          <p:cNvSpPr txBox="1"/>
          <p:nvPr/>
        </p:nvSpPr>
        <p:spPr>
          <a:xfrm>
            <a:off x="7498079" y="1261872"/>
            <a:ext cx="4206240" cy="274320"/>
          </a:xfrm>
          <a:prstGeom prst="rect">
            <a:avLst/>
          </a:prstGeom>
          <a:noFill/>
        </p:spPr>
        <p:txBody>
          <a:bodyPr wrap="square" anchor="t" lIns="36576" rIns="36576" tIns="18288" bIns="18288">
            <a:spAutoFit/>
          </a:bodyPr>
          <a:lstStyle/>
          <a:p>
            <a:pPr algn="l"/>
            <a:r>
              <a:rPr sz="1100" b="1" i="0">
                <a:solidFill>
                  <a:srgbClr val="2A78D6"/>
                </a:solidFill>
                <a:latin typeface="Calibri"/>
              </a:rPr>
              <a:t>FINDING  →  DESIGN CHOICE</a:t>
            </a:r>
          </a:p>
        </p:txBody>
      </p:sp>
      <p:sp>
        <p:nvSpPr>
          <p:cNvPr id="8" name="Rounded Rectangle 7"/>
          <p:cNvSpPr/>
          <p:nvPr/>
        </p:nvSpPr>
        <p:spPr>
          <a:xfrm>
            <a:off x="7498079" y="1554480"/>
            <a:ext cx="4160520" cy="1170432"/>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07808" y="1591056"/>
            <a:ext cx="3931920" cy="274320"/>
          </a:xfrm>
          <a:prstGeom prst="rect">
            <a:avLst/>
          </a:prstGeom>
          <a:noFill/>
        </p:spPr>
        <p:txBody>
          <a:bodyPr wrap="square" anchor="t" lIns="36576" rIns="36576" tIns="18288" bIns="18288">
            <a:spAutoFit/>
          </a:bodyPr>
          <a:lstStyle/>
          <a:p>
            <a:pPr algn="l"/>
            <a:r>
              <a:rPr sz="1250" b="1" i="0">
                <a:solidFill>
                  <a:srgbClr val="14213D"/>
                </a:solidFill>
                <a:latin typeface="Calibri"/>
              </a:rPr>
              <a:t>Dirty raw values</a:t>
            </a:r>
          </a:p>
        </p:txBody>
      </p:sp>
      <p:sp>
        <p:nvSpPr>
          <p:cNvPr id="10" name="TextBox 9"/>
          <p:cNvSpPr txBox="1"/>
          <p:nvPr/>
        </p:nvSpPr>
        <p:spPr>
          <a:xfrm>
            <a:off x="7607808" y="1865376"/>
            <a:ext cx="3931920" cy="384048"/>
          </a:xfrm>
          <a:prstGeom prst="rect">
            <a:avLst/>
          </a:prstGeom>
          <a:noFill/>
        </p:spPr>
        <p:txBody>
          <a:bodyPr wrap="square" anchor="t" lIns="36576" rIns="36576" tIns="18288" bIns="18288">
            <a:spAutoFit/>
          </a:bodyPr>
          <a:lstStyle/>
          <a:p>
            <a:pPr algn="l"/>
            <a:r>
              <a:rPr sz="950" b="0" i="0">
                <a:solidFill>
                  <a:srgbClr val="5B6472"/>
                </a:solidFill>
                <a:latin typeface="Calibri"/>
              </a:rPr>
              <a:t>placeholders ('_', NM, -100), underscores on numbers, impossible ages and counts</a:t>
            </a:r>
          </a:p>
        </p:txBody>
      </p:sp>
      <p:sp>
        <p:nvSpPr>
          <p:cNvPr id="11" name="TextBox 10"/>
          <p:cNvSpPr txBox="1"/>
          <p:nvPr/>
        </p:nvSpPr>
        <p:spPr>
          <a:xfrm>
            <a:off x="7607808" y="2212848"/>
            <a:ext cx="3931920" cy="457200"/>
          </a:xfrm>
          <a:prstGeom prst="rect">
            <a:avLst/>
          </a:prstGeom>
          <a:noFill/>
        </p:spPr>
        <p:txBody>
          <a:bodyPr wrap="square" anchor="t" lIns="36576" rIns="36576" tIns="18288" bIns="18288">
            <a:spAutoFit/>
          </a:bodyPr>
          <a:lstStyle/>
          <a:p>
            <a:pPr algn="l"/>
            <a:r>
              <a:rPr sz="1050" b="1" i="0">
                <a:solidFill>
                  <a:srgbClr val="1F2937"/>
                </a:solidFill>
                <a:latin typeface="Calibri"/>
              </a:rPr>
              <a:t>→ fix or null + flag (14 failing rules → 0); keep the row</a:t>
            </a:r>
          </a:p>
        </p:txBody>
      </p:sp>
      <p:sp>
        <p:nvSpPr>
          <p:cNvPr id="12" name="Rounded Rectangle 11"/>
          <p:cNvSpPr/>
          <p:nvPr/>
        </p:nvSpPr>
        <p:spPr>
          <a:xfrm>
            <a:off x="7498079" y="2807208"/>
            <a:ext cx="4160520" cy="1170432"/>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07808" y="2843784"/>
            <a:ext cx="3931920" cy="274320"/>
          </a:xfrm>
          <a:prstGeom prst="rect">
            <a:avLst/>
          </a:prstGeom>
          <a:noFill/>
        </p:spPr>
        <p:txBody>
          <a:bodyPr wrap="square" anchor="t" lIns="36576" rIns="36576" tIns="18288" bIns="18288">
            <a:spAutoFit/>
          </a:bodyPr>
          <a:lstStyle/>
          <a:p>
            <a:pPr algn="l"/>
            <a:r>
              <a:rPr sz="1250" b="1" i="0">
                <a:solidFill>
                  <a:srgbClr val="14213D"/>
                </a:solidFill>
                <a:latin typeface="Calibri"/>
              </a:rPr>
              <a:t>Clickstream stops in 2024-06</a:t>
            </a:r>
          </a:p>
        </p:txBody>
      </p:sp>
      <p:sp>
        <p:nvSpPr>
          <p:cNvPr id="14" name="TextBox 13"/>
          <p:cNvSpPr txBox="1"/>
          <p:nvPr/>
        </p:nvSpPr>
        <p:spPr>
          <a:xfrm>
            <a:off x="7607808" y="3118104"/>
            <a:ext cx="3931920" cy="384048"/>
          </a:xfrm>
          <a:prstGeom prst="rect">
            <a:avLst/>
          </a:prstGeom>
          <a:noFill/>
        </p:spPr>
        <p:txBody>
          <a:bodyPr wrap="square" anchor="t" lIns="36576" rIns="36576" tIns="18288" bIns="18288">
            <a:spAutoFit/>
          </a:bodyPr>
          <a:lstStyle/>
          <a:p>
            <a:pPr algn="l"/>
            <a:r>
              <a:rPr sz="950" b="0" i="0">
                <a:solidFill>
                  <a:srgbClr val="5B6472"/>
                </a:solidFill>
                <a:latin typeface="Calibri"/>
              </a:rPr>
              <a:t>chart above: 100% → 0% for later loans</a:t>
            </a:r>
          </a:p>
        </p:txBody>
      </p:sp>
      <p:sp>
        <p:nvSpPr>
          <p:cNvPr id="15" name="TextBox 14"/>
          <p:cNvSpPr txBox="1"/>
          <p:nvPr/>
        </p:nvSpPr>
        <p:spPr>
          <a:xfrm>
            <a:off x="7607808" y="3465576"/>
            <a:ext cx="3931920" cy="457200"/>
          </a:xfrm>
          <a:prstGeom prst="rect">
            <a:avLst/>
          </a:prstGeom>
          <a:noFill/>
        </p:spPr>
        <p:txBody>
          <a:bodyPr wrap="square" anchor="t" lIns="36576" rIns="36576" tIns="18288" bIns="18288">
            <a:spAutoFit/>
          </a:bodyPr>
          <a:lstStyle/>
          <a:p>
            <a:pPr algn="l"/>
            <a:r>
              <a:rPr sz="1050" b="1" i="0">
                <a:solidFill>
                  <a:srgbClr val="1F2937"/>
                </a:solidFill>
                <a:latin typeface="Calibri"/>
              </a:rPr>
              <a:t>→ two models: A without, B with clickstream; no 'has clickstream' flag (time proxy)</a:t>
            </a:r>
          </a:p>
        </p:txBody>
      </p:sp>
      <p:sp>
        <p:nvSpPr>
          <p:cNvPr id="16" name="Rounded Rectangle 15"/>
          <p:cNvSpPr/>
          <p:nvPr/>
        </p:nvSpPr>
        <p:spPr>
          <a:xfrm>
            <a:off x="7498079" y="4059936"/>
            <a:ext cx="4160520" cy="1170432"/>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8" y="4096512"/>
            <a:ext cx="3931920" cy="274320"/>
          </a:xfrm>
          <a:prstGeom prst="rect">
            <a:avLst/>
          </a:prstGeom>
          <a:noFill/>
        </p:spPr>
        <p:txBody>
          <a:bodyPr wrap="square" anchor="t" lIns="36576" rIns="36576" tIns="18288" bIns="18288">
            <a:spAutoFit/>
          </a:bodyPr>
          <a:lstStyle/>
          <a:p>
            <a:pPr algn="l"/>
            <a:r>
              <a:rPr sz="1250" b="1" i="0">
                <a:solidFill>
                  <a:srgbClr val="14213D"/>
                </a:solidFill>
                <a:latin typeface="Calibri"/>
              </a:rPr>
              <a:t>Strong, non-linear signal</a:t>
            </a:r>
          </a:p>
        </p:txBody>
      </p:sp>
      <p:sp>
        <p:nvSpPr>
          <p:cNvPr id="18" name="TextBox 17"/>
          <p:cNvSpPr txBox="1"/>
          <p:nvPr/>
        </p:nvSpPr>
        <p:spPr>
          <a:xfrm>
            <a:off x="7607808" y="4370832"/>
            <a:ext cx="3931920" cy="384048"/>
          </a:xfrm>
          <a:prstGeom prst="rect">
            <a:avLst/>
          </a:prstGeom>
          <a:noFill/>
        </p:spPr>
        <p:txBody>
          <a:bodyPr wrap="square" anchor="t" lIns="36576" rIns="36576" tIns="18288" bIns="18288">
            <a:spAutoFit/>
          </a:bodyPr>
          <a:lstStyle/>
          <a:p>
            <a:pPr algn="l"/>
            <a:r>
              <a:rPr sz="950" b="0" i="0">
                <a:solidFill>
                  <a:srgbClr val="5B6472"/>
                </a:solidFill>
                <a:latin typeface="Calibri"/>
              </a:rPr>
              <a:t>debt, interest rate, inquiries, delays; steps and rise-then-fall (chart below)</a:t>
            </a:r>
          </a:p>
        </p:txBody>
      </p:sp>
      <p:sp>
        <p:nvSpPr>
          <p:cNvPr id="19" name="TextBox 18"/>
          <p:cNvSpPr txBox="1"/>
          <p:nvPr/>
        </p:nvSpPr>
        <p:spPr>
          <a:xfrm>
            <a:off x="7607808" y="4718304"/>
            <a:ext cx="3931920" cy="457200"/>
          </a:xfrm>
          <a:prstGeom prst="rect">
            <a:avLst/>
          </a:prstGeom>
          <a:noFill/>
        </p:spPr>
        <p:txBody>
          <a:bodyPr wrap="square" anchor="t" lIns="36576" rIns="36576" tIns="18288" bIns="18288">
            <a:spAutoFit/>
          </a:bodyPr>
          <a:lstStyle/>
          <a:p>
            <a:pPr algn="l"/>
            <a:r>
              <a:rPr sz="1050" b="1" i="0">
                <a:solidFill>
                  <a:srgbClr val="1F2937"/>
                </a:solidFill>
                <a:latin typeface="Calibri"/>
              </a:rPr>
              <a:t>→ tree models; ratio / product features</a:t>
            </a:r>
          </a:p>
        </p:txBody>
      </p:sp>
      <p:sp>
        <p:nvSpPr>
          <p:cNvPr id="20" name="Rounded Rectangle 19"/>
          <p:cNvSpPr/>
          <p:nvPr/>
        </p:nvSpPr>
        <p:spPr>
          <a:xfrm>
            <a:off x="7498079" y="5312664"/>
            <a:ext cx="4160520" cy="1170432"/>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7808" y="5349240"/>
            <a:ext cx="3931920" cy="274320"/>
          </a:xfrm>
          <a:prstGeom prst="rect">
            <a:avLst/>
          </a:prstGeom>
          <a:noFill/>
        </p:spPr>
        <p:txBody>
          <a:bodyPr wrap="square" anchor="t" lIns="36576" rIns="36576" tIns="18288" bIns="18288">
            <a:spAutoFit/>
          </a:bodyPr>
          <a:lstStyle/>
          <a:p>
            <a:pPr algn="l"/>
            <a:r>
              <a:rPr sz="1250" b="1" i="0">
                <a:solidFill>
                  <a:srgbClr val="14213D"/>
                </a:solidFill>
                <a:latin typeface="Calibri"/>
              </a:rPr>
              <a:t>Stable target</a:t>
            </a:r>
          </a:p>
        </p:txBody>
      </p:sp>
      <p:sp>
        <p:nvSpPr>
          <p:cNvPr id="22" name="TextBox 21"/>
          <p:cNvSpPr txBox="1"/>
          <p:nvPr/>
        </p:nvSpPr>
        <p:spPr>
          <a:xfrm>
            <a:off x="7607808" y="5623560"/>
            <a:ext cx="3931920" cy="384048"/>
          </a:xfrm>
          <a:prstGeom prst="rect">
            <a:avLst/>
          </a:prstGeom>
          <a:noFill/>
        </p:spPr>
        <p:txBody>
          <a:bodyPr wrap="square" anchor="t" lIns="36576" rIns="36576" tIns="18288" bIns="18288">
            <a:spAutoFit/>
          </a:bodyPr>
          <a:lstStyle/>
          <a:p>
            <a:pPr algn="l"/>
            <a:r>
              <a:rPr sz="950" b="0" i="0">
                <a:solidFill>
                  <a:srgbClr val="5B6472"/>
                </a:solidFill>
                <a:latin typeface="Calibri"/>
              </a:rPr>
              <a:t>default rate 23–35% per month, no trend</a:t>
            </a:r>
          </a:p>
        </p:txBody>
      </p:sp>
      <p:sp>
        <p:nvSpPr>
          <p:cNvPr id="23" name="TextBox 22"/>
          <p:cNvSpPr txBox="1"/>
          <p:nvPr/>
        </p:nvSpPr>
        <p:spPr>
          <a:xfrm>
            <a:off x="7607808" y="5971032"/>
            <a:ext cx="3931920" cy="457200"/>
          </a:xfrm>
          <a:prstGeom prst="rect">
            <a:avLst/>
          </a:prstGeom>
          <a:noFill/>
        </p:spPr>
        <p:txBody>
          <a:bodyPr wrap="square" anchor="t" lIns="36576" rIns="36576" tIns="18288" bIns="18288">
            <a:spAutoFit/>
          </a:bodyPr>
          <a:lstStyle/>
          <a:p>
            <a:pPr algn="l"/>
            <a:r>
              <a:rPr sz="1050" b="1" i="0">
                <a:solidFill>
                  <a:srgbClr val="1F2937"/>
                </a:solidFill>
                <a:latin typeface="Calibri"/>
              </a:rPr>
              <a:t>→ random stratified split inside the development period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Honest results: no information from the future</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5</a:t>
            </a:r>
          </a:p>
        </p:txBody>
      </p:sp>
      <p:sp>
        <p:nvSpPr>
          <p:cNvPr id="5" name="Rounded Rectangle 4"/>
          <p:cNvSpPr/>
          <p:nvPr/>
        </p:nvSpPr>
        <p:spPr>
          <a:xfrm>
            <a:off x="914400" y="1417320"/>
            <a:ext cx="5408022" cy="50292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Development loans 2023-01 → 2024-06: train 70% · validation 15% · test 15% (stratified)</a:t>
            </a:r>
          </a:p>
        </p:txBody>
      </p:sp>
      <p:sp>
        <p:nvSpPr>
          <p:cNvPr id="6" name="Rounded Rectangle 5"/>
          <p:cNvSpPr/>
          <p:nvPr/>
        </p:nvSpPr>
        <p:spPr>
          <a:xfrm>
            <a:off x="6322422" y="1417320"/>
            <a:ext cx="2103119" cy="50292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Out-of-time</a:t>
            </a:r>
          </a:p>
          <a:p>
            <a:pPr algn="ctr"/>
            <a:r>
              <a:rPr sz="950" b="0">
                <a:solidFill>
                  <a:srgbClr val="FFFFFF"/>
                </a:solidFill>
                <a:latin typeface="Calibri"/>
              </a:rPr>
              <a:t>2024-07 → 2025-01</a:t>
            </a:r>
          </a:p>
        </p:txBody>
      </p:sp>
      <p:sp>
        <p:nvSpPr>
          <p:cNvPr id="7" name="Rounded Rectangle 6"/>
          <p:cNvSpPr/>
          <p:nvPr/>
        </p:nvSpPr>
        <p:spPr>
          <a:xfrm>
            <a:off x="2717074" y="2057400"/>
            <a:ext cx="7511142" cy="411480"/>
          </a:xfrm>
          <a:prstGeom prst="roundRect">
            <a:avLst/>
          </a:prstGeom>
          <a:solidFill>
            <a:srgbClr val="9A99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FFFFFF"/>
                </a:solidFill>
                <a:latin typeface="Calibri"/>
              </a:rPr>
              <a:t>Labels arrive 6 months after each loan start (2023-07 → 2025-07)</a:t>
            </a:r>
          </a:p>
        </p:txBody>
      </p:sp>
      <p:sp>
        <p:nvSpPr>
          <p:cNvPr id="8" name="Rounded Rectangle 7"/>
          <p:cNvSpPr/>
          <p:nvPr/>
        </p:nvSpPr>
        <p:spPr>
          <a:xfrm>
            <a:off x="914400" y="2606040"/>
            <a:ext cx="5408022" cy="384048"/>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FFFFFF"/>
                </a:solidFill>
                <a:latin typeface="Calibri"/>
              </a:rPr>
              <a:t>Clickstream available</a:t>
            </a:r>
          </a:p>
        </p:txBody>
      </p:sp>
      <p:sp>
        <p:nvSpPr>
          <p:cNvPr id="9" name="Rounded Rectangle 8"/>
          <p:cNvSpPr/>
          <p:nvPr/>
        </p:nvSpPr>
        <p:spPr>
          <a:xfrm>
            <a:off x="6322422" y="2606040"/>
            <a:ext cx="2103119" cy="384048"/>
          </a:xfrm>
          <a:prstGeom prst="round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FFFFFF"/>
                </a:solidFill>
                <a:latin typeface="Calibri"/>
              </a:rPr>
              <a:t>none</a:t>
            </a:r>
          </a:p>
        </p:txBody>
      </p:sp>
      <p:cxnSp>
        <p:nvCxnSpPr>
          <p:cNvPr id="10" name="Connector 9"/>
          <p:cNvCxnSpPr/>
          <p:nvPr/>
        </p:nvCxnSpPr>
        <p:spPr>
          <a:xfrm>
            <a:off x="914400"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2023-01</a:t>
            </a:r>
          </a:p>
        </p:txBody>
      </p:sp>
      <p:cxnSp>
        <p:nvCxnSpPr>
          <p:cNvPr id="12" name="Connector 11"/>
          <p:cNvCxnSpPr/>
          <p:nvPr/>
        </p:nvCxnSpPr>
        <p:spPr>
          <a:xfrm>
            <a:off x="2717074"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51314"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2023-07</a:t>
            </a:r>
          </a:p>
        </p:txBody>
      </p:sp>
      <p:cxnSp>
        <p:nvCxnSpPr>
          <p:cNvPr id="14" name="Connector 13"/>
          <p:cNvCxnSpPr/>
          <p:nvPr/>
        </p:nvCxnSpPr>
        <p:spPr>
          <a:xfrm>
            <a:off x="4519748"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153988"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2024-01</a:t>
            </a:r>
          </a:p>
        </p:txBody>
      </p:sp>
      <p:cxnSp>
        <p:nvCxnSpPr>
          <p:cNvPr id="16" name="Connector 15"/>
          <p:cNvCxnSpPr/>
          <p:nvPr/>
        </p:nvCxnSpPr>
        <p:spPr>
          <a:xfrm>
            <a:off x="6322422"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56662"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2024-07</a:t>
            </a:r>
          </a:p>
        </p:txBody>
      </p:sp>
      <p:cxnSp>
        <p:nvCxnSpPr>
          <p:cNvPr id="18" name="Connector 17"/>
          <p:cNvCxnSpPr/>
          <p:nvPr/>
        </p:nvCxnSpPr>
        <p:spPr>
          <a:xfrm>
            <a:off x="8125097"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59337"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2025-01</a:t>
            </a:r>
          </a:p>
        </p:txBody>
      </p:sp>
      <p:cxnSp>
        <p:nvCxnSpPr>
          <p:cNvPr id="20" name="Connector 19"/>
          <p:cNvCxnSpPr/>
          <p:nvPr/>
        </p:nvCxnSpPr>
        <p:spPr>
          <a:xfrm>
            <a:off x="9927771" y="3081528"/>
            <a:ext cx="0" cy="118872"/>
          </a:xfrm>
          <a:prstGeom prst="line">
            <a:avLst/>
          </a:prstGeom>
          <a:ln w="12700">
            <a:solidFill>
              <a:srgbClr val="5B647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562011" y="3200400"/>
            <a:ext cx="731520" cy="228600"/>
          </a:xfrm>
          <a:prstGeom prst="rect">
            <a:avLst/>
          </a:prstGeom>
          <a:noFill/>
        </p:spPr>
        <p:txBody>
          <a:bodyPr wrap="square" anchor="t" lIns="36576" rIns="36576" tIns="18288" bIns="18288">
            <a:spAutoFit/>
          </a:bodyPr>
          <a:lstStyle/>
          <a:p>
            <a:pPr algn="ctr"/>
            <a:r>
              <a:rPr sz="900" b="0" i="0">
                <a:solidFill>
                  <a:srgbClr val="5B6472"/>
                </a:solidFill>
                <a:latin typeface="Calibri"/>
              </a:rPr>
              <a:t>2025-07</a:t>
            </a:r>
          </a:p>
        </p:txBody>
      </p:sp>
      <p:sp>
        <p:nvSpPr>
          <p:cNvPr id="22" name="Rounded Rectangle 21"/>
          <p:cNvSpPr/>
          <p:nvPr/>
        </p:nvSpPr>
        <p:spPr>
          <a:xfrm>
            <a:off x="548640" y="3657600"/>
            <a:ext cx="5440680" cy="12070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49039"/>
            <a:ext cx="5166360" cy="320040"/>
          </a:xfrm>
          <a:prstGeom prst="rect">
            <a:avLst/>
          </a:prstGeom>
          <a:noFill/>
        </p:spPr>
        <p:txBody>
          <a:bodyPr wrap="square" anchor="t" lIns="36576" rIns="36576" tIns="18288" bIns="18288">
            <a:spAutoFit/>
          </a:bodyPr>
          <a:lstStyle/>
          <a:p>
            <a:pPr algn="l"/>
            <a:r>
              <a:rPr sz="1400" b="1" i="0">
                <a:solidFill>
                  <a:srgbClr val="14213D"/>
                </a:solidFill>
                <a:latin typeface="Calibri"/>
              </a:rPr>
              <a:t>As-of features</a:t>
            </a:r>
          </a:p>
        </p:txBody>
      </p:sp>
      <p:sp>
        <p:nvSpPr>
          <p:cNvPr id="24" name="TextBox 23"/>
          <p:cNvSpPr txBox="1"/>
          <p:nvPr/>
        </p:nvSpPr>
        <p:spPr>
          <a:xfrm>
            <a:off x="685800" y="4096512"/>
            <a:ext cx="5166360" cy="731520"/>
          </a:xfrm>
          <a:prstGeom prst="rect">
            <a:avLst/>
          </a:prstGeom>
          <a:noFill/>
        </p:spPr>
        <p:txBody>
          <a:bodyPr wrap="square" anchor="t" lIns="36576" rIns="36576" tIns="18288" bIns="18288">
            <a:spAutoFit/>
          </a:bodyPr>
          <a:lstStyle/>
          <a:p>
            <a:pPr algn="l"/>
            <a:r>
              <a:rPr sz="1150" b="0" i="0">
                <a:solidFill>
                  <a:srgbClr val="1F2937"/>
                </a:solidFill>
                <a:latin typeface="Calibri"/>
              </a:rPr>
              <a:t>each loan gets the latest snapshot on or before its start date; tested by rebuilding history from truncated data</a:t>
            </a:r>
          </a:p>
        </p:txBody>
      </p:sp>
      <p:sp>
        <p:nvSpPr>
          <p:cNvPr id="25" name="Rounded Rectangle 24"/>
          <p:cNvSpPr/>
          <p:nvPr/>
        </p:nvSpPr>
        <p:spPr>
          <a:xfrm>
            <a:off x="6172200" y="3657600"/>
            <a:ext cx="5440680" cy="1207008"/>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749039"/>
            <a:ext cx="5166360" cy="320040"/>
          </a:xfrm>
          <a:prstGeom prst="rect">
            <a:avLst/>
          </a:prstGeom>
          <a:noFill/>
        </p:spPr>
        <p:txBody>
          <a:bodyPr wrap="square" anchor="t" lIns="36576" rIns="36576" tIns="18288" bIns="18288">
            <a:spAutoFit/>
          </a:bodyPr>
          <a:lstStyle/>
          <a:p>
            <a:pPr algn="l"/>
            <a:r>
              <a:rPr sz="1400" b="1" i="0">
                <a:solidFill>
                  <a:srgbClr val="14213D"/>
                </a:solidFill>
                <a:latin typeface="Calibri"/>
              </a:rPr>
              <a:t>Train-only learning</a:t>
            </a:r>
          </a:p>
        </p:txBody>
      </p:sp>
      <p:sp>
        <p:nvSpPr>
          <p:cNvPr id="27" name="TextBox 26"/>
          <p:cNvSpPr txBox="1"/>
          <p:nvPr/>
        </p:nvSpPr>
        <p:spPr>
          <a:xfrm>
            <a:off x="6309360" y="4096512"/>
            <a:ext cx="5166360" cy="731520"/>
          </a:xfrm>
          <a:prstGeom prst="rect">
            <a:avLst/>
          </a:prstGeom>
          <a:noFill/>
        </p:spPr>
        <p:txBody>
          <a:bodyPr wrap="square" anchor="t" lIns="36576" rIns="36576" tIns="18288" bIns="18288">
            <a:spAutoFit/>
          </a:bodyPr>
          <a:lstStyle/>
          <a:p>
            <a:pPr algn="l"/>
            <a:r>
              <a:rPr sz="1150" b="0" i="0">
                <a:solidFill>
                  <a:srgbClr val="1F2937"/>
                </a:solidFill>
                <a:latin typeface="Calibri"/>
              </a:rPr>
              <a:t>imputation, scaling, OpenFE, filters, folds, threshold — fitted on train (threshold on validation); test and out-of-time used once, at the end</a:t>
            </a:r>
          </a:p>
        </p:txBody>
      </p:sp>
      <p:sp>
        <p:nvSpPr>
          <p:cNvPr id="28" name="Rounded Rectangle 27"/>
          <p:cNvSpPr/>
          <p:nvPr/>
        </p:nvSpPr>
        <p:spPr>
          <a:xfrm>
            <a:off x="548640" y="5001768"/>
            <a:ext cx="5440680" cy="1207008"/>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093207"/>
            <a:ext cx="5166360" cy="320040"/>
          </a:xfrm>
          <a:prstGeom prst="rect">
            <a:avLst/>
          </a:prstGeom>
          <a:noFill/>
        </p:spPr>
        <p:txBody>
          <a:bodyPr wrap="square" anchor="t" lIns="36576" rIns="36576" tIns="18288" bIns="18288">
            <a:spAutoFit/>
          </a:bodyPr>
          <a:lstStyle/>
          <a:p>
            <a:pPr algn="l"/>
            <a:r>
              <a:rPr sz="1400" b="1" i="0">
                <a:solidFill>
                  <a:srgbClr val="14213D"/>
                </a:solidFill>
                <a:latin typeface="Calibri"/>
              </a:rPr>
              <a:t>Time holdout</a:t>
            </a:r>
          </a:p>
        </p:txBody>
      </p:sp>
      <p:sp>
        <p:nvSpPr>
          <p:cNvPr id="30" name="TextBox 29"/>
          <p:cNvSpPr txBox="1"/>
          <p:nvPr/>
        </p:nvSpPr>
        <p:spPr>
          <a:xfrm>
            <a:off x="685800" y="5440679"/>
            <a:ext cx="5166360" cy="731520"/>
          </a:xfrm>
          <a:prstGeom prst="rect">
            <a:avLst/>
          </a:prstGeom>
          <a:noFill/>
        </p:spPr>
        <p:txBody>
          <a:bodyPr wrap="square" anchor="t" lIns="36576" rIns="36576" tIns="18288" bIns="18288">
            <a:spAutoFit/>
          </a:bodyPr>
          <a:lstStyle/>
          <a:p>
            <a:pPr algn="l"/>
            <a:r>
              <a:rPr sz="1150" b="0" i="0">
                <a:solidFill>
                  <a:srgbClr val="1F2937"/>
                </a:solidFill>
                <a:latin typeface="Calibri"/>
              </a:rPr>
              <a:t>out-of-time loans start after every development loan: the honest estimate for future loans</a:t>
            </a:r>
          </a:p>
        </p:txBody>
      </p:sp>
      <p:sp>
        <p:nvSpPr>
          <p:cNvPr id="31" name="Rounded Rectangle 30"/>
          <p:cNvSpPr/>
          <p:nvPr/>
        </p:nvSpPr>
        <p:spPr>
          <a:xfrm>
            <a:off x="6172200" y="5001768"/>
            <a:ext cx="5440680" cy="1207008"/>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5093207"/>
            <a:ext cx="5166360" cy="320040"/>
          </a:xfrm>
          <a:prstGeom prst="rect">
            <a:avLst/>
          </a:prstGeom>
          <a:noFill/>
        </p:spPr>
        <p:txBody>
          <a:bodyPr wrap="square" anchor="t" lIns="36576" rIns="36576" tIns="18288" bIns="18288">
            <a:spAutoFit/>
          </a:bodyPr>
          <a:lstStyle/>
          <a:p>
            <a:pPr algn="l"/>
            <a:r>
              <a:rPr sz="1400" b="1" i="0">
                <a:solidFill>
                  <a:srgbClr val="14213D"/>
                </a:solidFill>
                <a:latin typeface="Calibri"/>
              </a:rPr>
              <a:t>Champion without clickstream</a:t>
            </a:r>
          </a:p>
        </p:txBody>
      </p:sp>
      <p:sp>
        <p:nvSpPr>
          <p:cNvPr id="33" name="TextBox 32"/>
          <p:cNvSpPr txBox="1"/>
          <p:nvPr/>
        </p:nvSpPr>
        <p:spPr>
          <a:xfrm>
            <a:off x="6309360" y="5440679"/>
            <a:ext cx="5166360" cy="731520"/>
          </a:xfrm>
          <a:prstGeom prst="rect">
            <a:avLst/>
          </a:prstGeom>
          <a:noFill/>
        </p:spPr>
        <p:txBody>
          <a:bodyPr wrap="square" anchor="t" lIns="36576" rIns="36576" tIns="18288" bIns="18288">
            <a:spAutoFit/>
          </a:bodyPr>
          <a:lstStyle/>
          <a:p>
            <a:pPr algn="l"/>
            <a:r>
              <a:rPr sz="1150" b="0" i="0">
                <a:solidFill>
                  <a:srgbClr val="1F2937"/>
                </a:solidFill>
                <a:latin typeface="Calibri"/>
              </a:rPr>
              <a:t>the out-of-time period has no clickstream, so only model A can be deployed and tested there; B is kept as a challenger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Features: generate, filter, explain, reduce</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6</a:t>
            </a:r>
          </a:p>
        </p:txBody>
      </p:sp>
      <p:graphicFrame>
        <p:nvGraphicFramePr>
          <p:cNvPr id="5" name="Chart 4"/>
          <p:cNvGraphicFramePr>
            <a:graphicFrameLocks noGrp="1"/>
          </p:cNvGraphicFramePr>
          <p:nvPr/>
        </p:nvGraphicFramePr>
        <p:xfrm>
          <a:off x="457200" y="1234440"/>
          <a:ext cx="5669280" cy="3429000"/>
        </p:xfrm>
        <a:graphic>
          <a:graphicData uri="http://schemas.openxmlformats.org/drawingml/2006/chart">
            <c:chart xmlns:c="http://schemas.openxmlformats.org/drawingml/2006/chart" r:id="rId2"/>
          </a:graphicData>
        </a:graphic>
      </p:graphicFrame>
      <p:pic>
        <p:nvPicPr>
          <p:cNvPr id="6" name="reduction_curve.png" descr="reduction_curve.png"/>
          <p:cNvPicPr>
            <a:picLocks noChangeAspect="1"/>
          </p:cNvPicPr>
          <p:nvPr/>
        </p:nvPicPr>
        <p:blipFill>
          <a:blip r:embed="rId3"/>
          <a:stretch>
            <a:fillRect/>
          </a:stretch>
        </p:blipFill>
        <p:spPr>
          <a:xfrm>
            <a:off x="6263640" y="1230019"/>
            <a:ext cx="5486400" cy="1700480"/>
          </a:xfrm>
          <a:prstGeom prst="rect">
            <a:avLst/>
          </a:prstGeom>
        </p:spPr>
      </p:pic>
      <p:sp>
        <p:nvSpPr>
          <p:cNvPr id="7" name="TextBox 6"/>
          <p:cNvSpPr txBox="1"/>
          <p:nvPr/>
        </p:nvSpPr>
        <p:spPr>
          <a:xfrm>
            <a:off x="6263640" y="2990088"/>
            <a:ext cx="5486400" cy="274320"/>
          </a:xfrm>
          <a:prstGeom prst="rect">
            <a:avLst/>
          </a:prstGeom>
          <a:noFill/>
        </p:spPr>
        <p:txBody>
          <a:bodyPr wrap="square" anchor="t" lIns="36576" rIns="36576" tIns="18288" bIns="18288">
            <a:spAutoFit/>
          </a:bodyPr>
          <a:lstStyle/>
          <a:p>
            <a:pPr algn="l"/>
            <a:r>
              <a:rPr sz="950" b="0" i="1">
                <a:solidFill>
                  <a:srgbClr val="5B6472"/>
                </a:solidFill>
                <a:latin typeface="Calibri"/>
              </a:rPr>
              <a:t>Rule picked 25 features for model A; 30 kept after a validation check (dropped too much).</a:t>
            </a:r>
          </a:p>
        </p:txBody>
      </p:sp>
      <p:sp>
        <p:nvSpPr>
          <p:cNvPr id="8" name="Rounded Rectangle 7"/>
          <p:cNvSpPr/>
          <p:nvPr/>
        </p:nvSpPr>
        <p:spPr>
          <a:xfrm>
            <a:off x="6263640" y="3291840"/>
            <a:ext cx="1261872" cy="137160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Generate</a:t>
            </a:r>
          </a:p>
          <a:p>
            <a:pPr algn="ctr"/>
            <a:r>
              <a:rPr sz="1050" b="0">
                <a:solidFill>
                  <a:srgbClr val="FFFFFF"/>
                </a:solidFill>
                <a:latin typeface="Calibri"/>
              </a:rPr>
              <a:t>20 OpenFE</a:t>
            </a:r>
          </a:p>
          <a:p>
            <a:pPr algn="ctr"/>
            <a:r>
              <a:rPr sz="1050" b="0">
                <a:solidFill>
                  <a:srgbClr val="FFFFFF"/>
                </a:solidFill>
                <a:latin typeface="Calibri"/>
              </a:rPr>
              <a:t>features</a:t>
            </a:r>
          </a:p>
        </p:txBody>
      </p:sp>
      <p:cxnSp>
        <p:nvCxnSpPr>
          <p:cNvPr id="9" name="Connector 8"/>
          <p:cNvCxnSpPr/>
          <p:nvPr/>
        </p:nvCxnSpPr>
        <p:spPr>
          <a:xfrm>
            <a:off x="7534656" y="3977639"/>
            <a:ext cx="109727"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653527" y="3291840"/>
            <a:ext cx="1261872" cy="137160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Filter</a:t>
            </a:r>
          </a:p>
          <a:p>
            <a:pPr algn="ctr"/>
            <a:r>
              <a:rPr sz="1050" b="0">
                <a:solidFill>
                  <a:srgbClr val="FFFFFF"/>
                </a:solidFill>
                <a:latin typeface="Calibri"/>
              </a:rPr>
              <a:t>screens +</a:t>
            </a:r>
          </a:p>
          <a:p>
            <a:pPr algn="ctr"/>
            <a:r>
              <a:rPr sz="1050" b="0">
                <a:solidFill>
                  <a:srgbClr val="FFFFFF"/>
                </a:solidFill>
                <a:latin typeface="Calibri"/>
              </a:rPr>
              <a:t>VIF (linear)</a:t>
            </a:r>
          </a:p>
        </p:txBody>
      </p:sp>
      <p:cxnSp>
        <p:nvCxnSpPr>
          <p:cNvPr id="11" name="Connector 10"/>
          <p:cNvCxnSpPr/>
          <p:nvPr/>
        </p:nvCxnSpPr>
        <p:spPr>
          <a:xfrm>
            <a:off x="8924544" y="3977639"/>
            <a:ext cx="109728"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43416" y="3291840"/>
            <a:ext cx="1261872" cy="1371600"/>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Explain</a:t>
            </a:r>
          </a:p>
          <a:p>
            <a:pPr algn="ctr"/>
            <a:r>
              <a:rPr sz="1050" b="0">
                <a:solidFill>
                  <a:srgbClr val="FFFFFF"/>
                </a:solidFill>
                <a:latin typeface="Calibri"/>
              </a:rPr>
              <a:t>SHAP +</a:t>
            </a:r>
          </a:p>
          <a:p>
            <a:pPr algn="ctr"/>
            <a:r>
              <a:rPr sz="1050" b="0">
                <a:solidFill>
                  <a:srgbClr val="FFFFFF"/>
                </a:solidFill>
                <a:latin typeface="Calibri"/>
              </a:rPr>
              <a:t>permutation</a:t>
            </a:r>
          </a:p>
        </p:txBody>
      </p:sp>
      <p:cxnSp>
        <p:nvCxnSpPr>
          <p:cNvPr id="13" name="Connector 12"/>
          <p:cNvCxnSpPr/>
          <p:nvPr/>
        </p:nvCxnSpPr>
        <p:spPr>
          <a:xfrm>
            <a:off x="10314432" y="3977639"/>
            <a:ext cx="109728"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433304" y="3291840"/>
            <a:ext cx="1261872" cy="137160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Reduce</a:t>
            </a:r>
          </a:p>
          <a:p>
            <a:pPr algn="ctr"/>
            <a:r>
              <a:rPr sz="1050" b="0">
                <a:solidFill>
                  <a:srgbClr val="FFFFFF"/>
                </a:solidFill>
                <a:latin typeface="Calibri"/>
              </a:rPr>
              <a:t>1-SE rule</a:t>
            </a:r>
          </a:p>
          <a:p>
            <a:pPr algn="ctr"/>
            <a:r>
              <a:rPr sz="1050" b="0">
                <a:solidFill>
                  <a:srgbClr val="FFFFFF"/>
                </a:solidFill>
                <a:latin typeface="Calibri"/>
              </a:rPr>
              <a:t>66 → 30</a:t>
            </a:r>
          </a:p>
        </p:txBody>
      </p:sp>
      <p:sp>
        <p:nvSpPr>
          <p:cNvPr id="15" name="TextBox 14"/>
          <p:cNvSpPr txBox="1"/>
          <p:nvPr/>
        </p:nvSpPr>
        <p:spPr>
          <a:xfrm>
            <a:off x="548640" y="4846320"/>
            <a:ext cx="11109960" cy="1463040"/>
          </a:xfrm>
          <a:prstGeom prst="rect">
            <a:avLst/>
          </a:prstGeom>
          <a:noFill/>
        </p:spPr>
        <p:txBody>
          <a:bodyPr wrap="square" lIns="36576" rIns="36576">
            <a:spAutoFit/>
          </a:bodyPr>
          <a:lstStyle/>
          <a:p>
            <a:pPr marL="201168" indent="-182880">
              <a:spcAft>
                <a:spcPts val="800"/>
              </a:spcAft>
              <a:buFont typeface="Arial"/>
              <a:buChar char="•"/>
            </a:pPr>
            <a:r>
              <a:rPr sz="1250" b="1">
                <a:solidFill>
                  <a:srgbClr val="1F2937"/>
                </a:solidFill>
                <a:latin typeface="Calibri"/>
              </a:rPr>
              <a:t>Design choice — row-wise generators only: </a:t>
            </a:r>
            <a:r>
              <a:rPr sz="1250" b="0">
                <a:solidFill>
                  <a:srgbClr val="1F2937"/>
                </a:solidFill>
                <a:latin typeface="Calibri"/>
              </a:rPr>
              <a:t>OpenFE's group / frequency operators learn from all rows and would leak; formulas were re-implemented so inference recomputes them identically.</a:t>
            </a:r>
          </a:p>
          <a:p>
            <a:pPr marL="201168" indent="-182880">
              <a:spcAft>
                <a:spcPts val="800"/>
              </a:spcAft>
              <a:buFont typeface="Arial"/>
              <a:buChar char="•"/>
            </a:pPr>
            <a:r>
              <a:rPr sz="1250" b="1">
                <a:solidFill>
                  <a:srgbClr val="1F2937"/>
                </a:solidFill>
                <a:latin typeface="Calibri"/>
              </a:rPr>
              <a:t>Result: </a:t>
            </a:r>
            <a:r>
              <a:rPr sz="1250" b="0">
                <a:solidFill>
                  <a:srgbClr val="1F2937"/>
                </a:solidFill>
                <a:latin typeface="Calibri"/>
              </a:rPr>
              <a:t>debt combined with a stress signal (interest rate, inquiries, delays, credit history) drives risk; generated features earn their place (without them the model falls below the selection bar).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Model selection: trees win, extras must earn it</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7</a:t>
            </a:r>
          </a:p>
        </p:txBody>
      </p:sp>
      <p:graphicFrame>
        <p:nvGraphicFramePr>
          <p:cNvPr id="5" name="Chart 4"/>
          <p:cNvGraphicFramePr>
            <a:graphicFrameLocks noGrp="1"/>
          </p:cNvGraphicFramePr>
          <p:nvPr/>
        </p:nvGraphicFramePr>
        <p:xfrm>
          <a:off x="457200" y="1234440"/>
          <a:ext cx="5760720" cy="301752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355080" y="1234440"/>
          <a:ext cx="5349240" cy="3017520"/>
        </p:xfrm>
        <a:graphic>
          <a:graphicData uri="http://schemas.openxmlformats.org/drawingml/2006/chart">
            <c:chart xmlns:c="http://schemas.openxmlformats.org/drawingml/2006/chart" r:id="rId3"/>
          </a:graphicData>
        </a:graphic>
      </p:graphicFrame>
      <p:sp>
        <p:nvSpPr>
          <p:cNvPr id="7" name="Rounded Rectangle 6"/>
          <p:cNvSpPr/>
          <p:nvPr/>
        </p:nvSpPr>
        <p:spPr>
          <a:xfrm>
            <a:off x="457200" y="4434840"/>
            <a:ext cx="2697480" cy="1874519"/>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4507992"/>
            <a:ext cx="2468880" cy="320040"/>
          </a:xfrm>
          <a:prstGeom prst="rect">
            <a:avLst/>
          </a:prstGeom>
          <a:noFill/>
        </p:spPr>
        <p:txBody>
          <a:bodyPr wrap="square" anchor="t" lIns="36576" rIns="36576" tIns="18288" bIns="18288">
            <a:spAutoFit/>
          </a:bodyPr>
          <a:lstStyle/>
          <a:p>
            <a:pPr algn="l"/>
            <a:r>
              <a:rPr sz="1300" b="1" i="0">
                <a:solidFill>
                  <a:srgbClr val="14213D"/>
                </a:solidFill>
                <a:latin typeface="Calibri"/>
              </a:rPr>
              <a:t>Class weighting</a:t>
            </a:r>
          </a:p>
        </p:txBody>
      </p:sp>
      <p:sp>
        <p:nvSpPr>
          <p:cNvPr id="9" name="TextBox 8"/>
          <p:cNvSpPr txBox="1"/>
          <p:nvPr/>
        </p:nvSpPr>
        <p:spPr>
          <a:xfrm>
            <a:off x="576072" y="4873752"/>
            <a:ext cx="2468880" cy="1371600"/>
          </a:xfrm>
          <a:prstGeom prst="rect">
            <a:avLst/>
          </a:prstGeom>
          <a:noFill/>
        </p:spPr>
        <p:txBody>
          <a:bodyPr wrap="square" anchor="t" lIns="36576" rIns="36576" tIns="18288" bIns="18288">
            <a:spAutoFit/>
          </a:bodyPr>
          <a:lstStyle/>
          <a:p>
            <a:pPr algn="l"/>
            <a:r>
              <a:rPr sz="1100" b="0" i="0">
                <a:solidFill>
                  <a:srgbClr val="1F2937"/>
                </a:solidFill>
                <a:latin typeface="Calibri"/>
              </a:rPr>
              <a:t>+0.005 at best, probabilities inflated → not used</a:t>
            </a:r>
          </a:p>
        </p:txBody>
      </p:sp>
      <p:sp>
        <p:nvSpPr>
          <p:cNvPr id="10" name="Rounded Rectangle 9"/>
          <p:cNvSpPr/>
          <p:nvPr/>
        </p:nvSpPr>
        <p:spPr>
          <a:xfrm>
            <a:off x="3291840" y="4434840"/>
            <a:ext cx="2697480" cy="1874519"/>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712" y="4507992"/>
            <a:ext cx="2468880" cy="320040"/>
          </a:xfrm>
          <a:prstGeom prst="rect">
            <a:avLst/>
          </a:prstGeom>
          <a:noFill/>
        </p:spPr>
        <p:txBody>
          <a:bodyPr wrap="square" anchor="t" lIns="36576" rIns="36576" tIns="18288" bIns="18288">
            <a:spAutoFit/>
          </a:bodyPr>
          <a:lstStyle/>
          <a:p>
            <a:pPr algn="l"/>
            <a:r>
              <a:rPr sz="1300" b="1" i="0">
                <a:solidFill>
                  <a:srgbClr val="14213D"/>
                </a:solidFill>
                <a:latin typeface="Calibri"/>
              </a:rPr>
              <a:t>Hyperparameter tuning</a:t>
            </a:r>
          </a:p>
        </p:txBody>
      </p:sp>
      <p:sp>
        <p:nvSpPr>
          <p:cNvPr id="12" name="TextBox 11"/>
          <p:cNvSpPr txBox="1"/>
          <p:nvPr/>
        </p:nvSpPr>
        <p:spPr>
          <a:xfrm>
            <a:off x="3410712" y="4873752"/>
            <a:ext cx="2468880" cy="1371600"/>
          </a:xfrm>
          <a:prstGeom prst="rect">
            <a:avLst/>
          </a:prstGeom>
          <a:noFill/>
        </p:spPr>
        <p:txBody>
          <a:bodyPr wrap="square" anchor="t" lIns="36576" rIns="36576" tIns="18288" bIns="18288">
            <a:spAutoFit/>
          </a:bodyPr>
          <a:lstStyle/>
          <a:p>
            <a:pPr algn="l"/>
            <a:r>
              <a:rPr sz="1100" b="0" i="0">
                <a:solidFill>
                  <a:srgbClr val="1F2937"/>
                </a:solidFill>
                <a:latin typeface="Calibri"/>
              </a:rPr>
              <a:t>60 Optuna trials: +0.009 (&lt; 0.02 rule) → defaults kept</a:t>
            </a:r>
          </a:p>
        </p:txBody>
      </p:sp>
      <p:sp>
        <p:nvSpPr>
          <p:cNvPr id="13" name="Rounded Rectangle 12"/>
          <p:cNvSpPr/>
          <p:nvPr/>
        </p:nvSpPr>
        <p:spPr>
          <a:xfrm>
            <a:off x="6126480" y="4434840"/>
            <a:ext cx="2697480" cy="1874519"/>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4507992"/>
            <a:ext cx="2468880" cy="320040"/>
          </a:xfrm>
          <a:prstGeom prst="rect">
            <a:avLst/>
          </a:prstGeom>
          <a:noFill/>
        </p:spPr>
        <p:txBody>
          <a:bodyPr wrap="square" anchor="t" lIns="36576" rIns="36576" tIns="18288" bIns="18288">
            <a:spAutoFit/>
          </a:bodyPr>
          <a:lstStyle/>
          <a:p>
            <a:pPr algn="l"/>
            <a:r>
              <a:rPr sz="1300" b="1" i="0">
                <a:solidFill>
                  <a:srgbClr val="14213D"/>
                </a:solidFill>
                <a:latin typeface="Calibri"/>
              </a:rPr>
              <a:t>Champion = model A</a:t>
            </a:r>
          </a:p>
        </p:txBody>
      </p:sp>
      <p:sp>
        <p:nvSpPr>
          <p:cNvPr id="15" name="TextBox 14"/>
          <p:cNvSpPr txBox="1"/>
          <p:nvPr/>
        </p:nvSpPr>
        <p:spPr>
          <a:xfrm>
            <a:off x="6245352" y="4873752"/>
            <a:ext cx="2468880" cy="1371600"/>
          </a:xfrm>
          <a:prstGeom prst="rect">
            <a:avLst/>
          </a:prstGeom>
          <a:noFill/>
        </p:spPr>
        <p:txBody>
          <a:bodyPr wrap="square" anchor="t" lIns="36576" rIns="36576" tIns="18288" bIns="18288">
            <a:spAutoFit/>
          </a:bodyPr>
          <a:lstStyle/>
          <a:p>
            <a:pPr algn="l"/>
            <a:r>
              <a:rPr sz="1100" b="0" i="0">
                <a:solidFill>
                  <a:srgbClr val="1F2937"/>
                </a:solidFill>
                <a:latin typeface="Calibri"/>
              </a:rPr>
              <a:t>B scores higher in-time but cannot score new loans (no clickstream); B − A on test not significant</a:t>
            </a:r>
          </a:p>
        </p:txBody>
      </p:sp>
      <p:sp>
        <p:nvSpPr>
          <p:cNvPr id="16" name="Rounded Rectangle 15"/>
          <p:cNvSpPr/>
          <p:nvPr/>
        </p:nvSpPr>
        <p:spPr>
          <a:xfrm>
            <a:off x="8961120" y="4434840"/>
            <a:ext cx="2697480" cy="1874519"/>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9992" y="4507992"/>
            <a:ext cx="2468880" cy="320040"/>
          </a:xfrm>
          <a:prstGeom prst="rect">
            <a:avLst/>
          </a:prstGeom>
          <a:noFill/>
        </p:spPr>
        <p:txBody>
          <a:bodyPr wrap="square" anchor="t" lIns="36576" rIns="36576" tIns="18288" bIns="18288">
            <a:spAutoFit/>
          </a:bodyPr>
          <a:lstStyle/>
          <a:p>
            <a:pPr algn="l"/>
            <a:r>
              <a:rPr sz="1300" b="1" i="0">
                <a:solidFill>
                  <a:srgbClr val="14213D"/>
                </a:solidFill>
                <a:latin typeface="Calibri"/>
              </a:rPr>
              <a:t>Robustness</a:t>
            </a:r>
          </a:p>
        </p:txBody>
      </p:sp>
      <p:sp>
        <p:nvSpPr>
          <p:cNvPr id="18" name="TextBox 17"/>
          <p:cNvSpPr txBox="1"/>
          <p:nvPr/>
        </p:nvSpPr>
        <p:spPr>
          <a:xfrm>
            <a:off x="9079992" y="4873752"/>
            <a:ext cx="2468880" cy="1371600"/>
          </a:xfrm>
          <a:prstGeom prst="rect">
            <a:avLst/>
          </a:prstGeom>
          <a:noFill/>
        </p:spPr>
        <p:txBody>
          <a:bodyPr wrap="square" anchor="t" lIns="36576" rIns="36576" tIns="18288" bIns="18288">
            <a:spAutoFit/>
          </a:bodyPr>
          <a:lstStyle/>
          <a:p>
            <a:pPr algn="l"/>
            <a:r>
              <a:rPr sz="1100" b="0" i="0">
                <a:solidFill>
                  <a:srgbClr val="1F2937"/>
                </a:solidFill>
                <a:latin typeface="Calibri"/>
              </a:rPr>
              <a:t>stress tests 8/8; 10% noise −0.004 PR-AUC; stable across seeds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Governance: retraining rules set in advance</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8</a:t>
            </a:r>
          </a:p>
        </p:txBody>
      </p:sp>
      <p:sp>
        <p:nvSpPr>
          <p:cNvPr id="5" name="Rounded Rectangle 4"/>
          <p:cNvSpPr/>
          <p:nvPr/>
        </p:nvSpPr>
        <p:spPr>
          <a:xfrm>
            <a:off x="457200" y="1325880"/>
            <a:ext cx="1737360" cy="123444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Monitor</a:t>
            </a:r>
          </a:p>
          <a:p>
            <a:pPr algn="ctr"/>
            <a:r>
              <a:rPr sz="1150" b="0">
                <a:solidFill>
                  <a:srgbClr val="FFFFFF"/>
                </a:solidFill>
                <a:latin typeface="Calibri"/>
              </a:rPr>
              <a:t>every month: drift (PSI), data</a:t>
            </a:r>
          </a:p>
          <a:p>
            <a:pPr algn="ctr"/>
            <a:r>
              <a:rPr sz="1150" b="0">
                <a:solidFill>
                  <a:srgbClr val="FFFFFF"/>
                </a:solidFill>
                <a:latin typeface="Calibri"/>
              </a:rPr>
              <a:t>quality; performance +6 months</a:t>
            </a:r>
          </a:p>
        </p:txBody>
      </p:sp>
      <p:cxnSp>
        <p:nvCxnSpPr>
          <p:cNvPr id="6" name="Connector 5"/>
          <p:cNvCxnSpPr/>
          <p:nvPr/>
        </p:nvCxnSpPr>
        <p:spPr>
          <a:xfrm>
            <a:off x="2203704" y="1938528"/>
            <a:ext cx="164592"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77440" y="1325880"/>
            <a:ext cx="1737360" cy="123444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Check rules</a:t>
            </a:r>
          </a:p>
          <a:p>
            <a:pPr algn="ctr"/>
            <a:r>
              <a:rPr sz="1150" b="0">
                <a:solidFill>
                  <a:srgbClr val="FFFFFF"/>
                </a:solidFill>
                <a:latin typeface="Calibri"/>
              </a:rPr>
              <a:t>a trigger must persist</a:t>
            </a:r>
          </a:p>
          <a:p>
            <a:pPr algn="ctr"/>
            <a:r>
              <a:rPr sz="1150" b="0">
                <a:solidFill>
                  <a:srgbClr val="FFFFFF"/>
                </a:solidFill>
                <a:latin typeface="Calibri"/>
              </a:rPr>
              <a:t>2 consecutive months</a:t>
            </a:r>
          </a:p>
        </p:txBody>
      </p:sp>
      <p:cxnSp>
        <p:nvCxnSpPr>
          <p:cNvPr id="8" name="Connector 7"/>
          <p:cNvCxnSpPr/>
          <p:nvPr/>
        </p:nvCxnSpPr>
        <p:spPr>
          <a:xfrm>
            <a:off x="4123944" y="1938528"/>
            <a:ext cx="164592"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97680" y="1325880"/>
            <a:ext cx="1737360" cy="1234440"/>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Refit / rebuild</a:t>
            </a:r>
          </a:p>
          <a:p>
            <a:pPr algn="ctr"/>
            <a:r>
              <a:rPr sz="1150" b="0">
                <a:solidFill>
                  <a:srgbClr val="FFFFFF"/>
                </a:solidFill>
                <a:latin typeface="Calibri"/>
              </a:rPr>
              <a:t>every 6 months, or early on a</a:t>
            </a:r>
          </a:p>
          <a:p>
            <a:pPr algn="ctr"/>
            <a:r>
              <a:rPr sz="1150" b="0">
                <a:solidFill>
                  <a:srgbClr val="FFFFFF"/>
                </a:solidFill>
                <a:latin typeface="Calibri"/>
              </a:rPr>
              <a:t>trigger; rebuild on source change</a:t>
            </a:r>
          </a:p>
        </p:txBody>
      </p:sp>
      <p:cxnSp>
        <p:nvCxnSpPr>
          <p:cNvPr id="10" name="Connector 9"/>
          <p:cNvCxnSpPr/>
          <p:nvPr/>
        </p:nvCxnSpPr>
        <p:spPr>
          <a:xfrm>
            <a:off x="6044184" y="1938528"/>
            <a:ext cx="164592"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325880"/>
            <a:ext cx="1737360" cy="1234440"/>
          </a:xfrm>
          <a:prstGeom prst="round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Gates</a:t>
            </a:r>
          </a:p>
          <a:p>
            <a:pPr algn="ctr"/>
            <a:r>
              <a:rPr sz="1150" b="0">
                <a:solidFill>
                  <a:srgbClr val="FFFFFF"/>
                </a:solidFill>
                <a:latin typeface="Calibri"/>
              </a:rPr>
              <a:t>tests · PR-AUC ≥ champion − 0.01</a:t>
            </a:r>
          </a:p>
          <a:p>
            <a:pPr algn="ctr"/>
            <a:r>
              <a:rPr sz="1150" b="0">
                <a:solidFill>
                  <a:srgbClr val="FFFFFF"/>
                </a:solidFill>
                <a:latin typeface="Calibri"/>
              </a:rPr>
              <a:t>calibration · segments</a:t>
            </a:r>
          </a:p>
        </p:txBody>
      </p:sp>
      <p:cxnSp>
        <p:nvCxnSpPr>
          <p:cNvPr id="12" name="Connector 11"/>
          <p:cNvCxnSpPr/>
          <p:nvPr/>
        </p:nvCxnSpPr>
        <p:spPr>
          <a:xfrm>
            <a:off x="7964424" y="1938528"/>
            <a:ext cx="164592"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38160" y="1325880"/>
            <a:ext cx="1737360" cy="123444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Shadow + approve</a:t>
            </a:r>
          </a:p>
          <a:p>
            <a:pPr algn="ctr"/>
            <a:r>
              <a:rPr sz="1150" b="0">
                <a:solidFill>
                  <a:srgbClr val="FFFFFF"/>
                </a:solidFill>
                <a:latin typeface="Calibri"/>
              </a:rPr>
              <a:t>1 month in parallel;</a:t>
            </a:r>
          </a:p>
          <a:p>
            <a:pPr algn="ctr"/>
            <a:r>
              <a:rPr sz="1150" b="0">
                <a:solidFill>
                  <a:srgbClr val="FFFFFF"/>
                </a:solidFill>
                <a:latin typeface="Calibri"/>
              </a:rPr>
              <a:t>risk committee signs</a:t>
            </a:r>
          </a:p>
        </p:txBody>
      </p:sp>
      <p:cxnSp>
        <p:nvCxnSpPr>
          <p:cNvPr id="14" name="Connector 13"/>
          <p:cNvCxnSpPr/>
          <p:nvPr/>
        </p:nvCxnSpPr>
        <p:spPr>
          <a:xfrm>
            <a:off x="9884664" y="1938528"/>
            <a:ext cx="164592" cy="0"/>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58400" y="1325880"/>
            <a:ext cx="1737360" cy="123444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Promote</a:t>
            </a:r>
          </a:p>
          <a:p>
            <a:pPr algn="ctr"/>
            <a:r>
              <a:rPr sz="1150" b="0">
                <a:solidFill>
                  <a:srgbClr val="FFFFFF"/>
                </a:solidFill>
                <a:latin typeface="Calibri"/>
              </a:rPr>
              <a:t>move @champion alias;</a:t>
            </a:r>
          </a:p>
          <a:p>
            <a:pPr algn="ctr"/>
            <a:r>
              <a:rPr sz="1150" b="0">
                <a:solidFill>
                  <a:srgbClr val="FFFFFF"/>
                </a:solidFill>
                <a:latin typeface="Calibri"/>
              </a:rPr>
              <a:t>rollback = move it back</a:t>
            </a:r>
          </a:p>
        </p:txBody>
      </p:sp>
      <p:cxnSp>
        <p:nvCxnSpPr>
          <p:cNvPr id="16" name="Connector 15"/>
          <p:cNvCxnSpPr/>
          <p:nvPr/>
        </p:nvCxnSpPr>
        <p:spPr>
          <a:xfrm>
            <a:off x="10927080" y="2578608"/>
            <a:ext cx="0" cy="210312"/>
          </a:xfrm>
          <a:prstGeom prst="line">
            <a:avLst/>
          </a:prstGeom>
          <a:ln w="22225">
            <a:solidFill>
              <a:srgbClr val="5B647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325880" y="2788920"/>
            <a:ext cx="9601200" cy="0"/>
          </a:xfrm>
          <a:prstGeom prst="line">
            <a:avLst/>
          </a:prstGeom>
          <a:ln w="22225">
            <a:solidFill>
              <a:srgbClr val="5B647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325880" y="2578608"/>
            <a:ext cx="0" cy="210312"/>
          </a:xfrm>
          <a:prstGeom prst="line">
            <a:avLst/>
          </a:prstGeom>
          <a:ln w="22225">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14800" y="2788920"/>
            <a:ext cx="3931920" cy="274320"/>
          </a:xfrm>
          <a:prstGeom prst="rect">
            <a:avLst/>
          </a:prstGeom>
          <a:noFill/>
        </p:spPr>
        <p:txBody>
          <a:bodyPr wrap="square" anchor="t" lIns="36576" rIns="36576" tIns="18288" bIns="18288">
            <a:spAutoFit/>
          </a:bodyPr>
          <a:lstStyle/>
          <a:p>
            <a:pPr algn="ctr"/>
            <a:r>
              <a:rPr sz="1000" b="0" i="1">
                <a:solidFill>
                  <a:srgbClr val="5B6472"/>
                </a:solidFill>
                <a:latin typeface="Calibri"/>
              </a:rPr>
              <a:t>the cycle repeats every month</a:t>
            </a:r>
          </a:p>
        </p:txBody>
      </p:sp>
      <p:pic>
        <p:nvPicPr>
          <p:cNvPr id="20" name="score_and_performance.png" descr="score_and_performance.png"/>
          <p:cNvPicPr>
            <a:picLocks noChangeAspect="1"/>
          </p:cNvPicPr>
          <p:nvPr/>
        </p:nvPicPr>
        <p:blipFill>
          <a:blip r:embed="rId2"/>
          <a:stretch>
            <a:fillRect/>
          </a:stretch>
        </p:blipFill>
        <p:spPr>
          <a:xfrm>
            <a:off x="411480" y="3221022"/>
            <a:ext cx="7589520" cy="1878994"/>
          </a:xfrm>
          <a:prstGeom prst="rect">
            <a:avLst/>
          </a:prstGeom>
        </p:spPr>
      </p:pic>
      <p:sp>
        <p:nvSpPr>
          <p:cNvPr id="21" name="Rounded Rectangle 20"/>
          <p:cNvSpPr/>
          <p:nvPr/>
        </p:nvSpPr>
        <p:spPr>
          <a:xfrm>
            <a:off x="8229600" y="3154680"/>
            <a:ext cx="3474720" cy="31546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3246120"/>
            <a:ext cx="3200400" cy="365760"/>
          </a:xfrm>
          <a:prstGeom prst="rect">
            <a:avLst/>
          </a:prstGeom>
          <a:noFill/>
        </p:spPr>
        <p:txBody>
          <a:bodyPr wrap="square" anchor="t" lIns="36576" rIns="36576" tIns="18288" bIns="18288">
            <a:spAutoFit/>
          </a:bodyPr>
          <a:lstStyle/>
          <a:p>
            <a:pPr algn="l"/>
            <a:r>
              <a:rPr sz="1400" b="1" i="0">
                <a:solidFill>
                  <a:srgbClr val="14213D"/>
                </a:solidFill>
                <a:latin typeface="Calibri"/>
              </a:rPr>
              <a:t>Replay of production 2024-07 → 2025-07</a:t>
            </a:r>
          </a:p>
        </p:txBody>
      </p:sp>
      <p:sp>
        <p:nvSpPr>
          <p:cNvPr id="23" name="TextBox 22"/>
          <p:cNvSpPr txBox="1"/>
          <p:nvPr/>
        </p:nvSpPr>
        <p:spPr>
          <a:xfrm>
            <a:off x="8366760" y="3611880"/>
            <a:ext cx="3200400" cy="2651760"/>
          </a:xfrm>
          <a:prstGeom prst="rect">
            <a:avLst/>
          </a:prstGeom>
          <a:noFill/>
        </p:spPr>
        <p:txBody>
          <a:bodyPr wrap="square" anchor="t" lIns="36576" rIns="36576" tIns="18288" bIns="18288">
            <a:spAutoFit/>
          </a:bodyPr>
          <a:lstStyle/>
          <a:p>
            <a:pPr algn="l"/>
            <a:r>
              <a:rPr sz="1150" b="0" i="0">
                <a:solidFill>
                  <a:srgbClr val="1F2937"/>
                </a:solidFill>
                <a:latin typeface="Calibri"/>
              </a:rPr>
              <a:t>• Inputs stable: every PSI ≤ 0.06
• Score PSI ≤ 0.08; flag rate in band
• One alert: PR-AUC 0.542 for 2025-01 loans — single month → investigate, no refit
• Challenger's clickstream 100% missing → blocked from promotion
• Rollback drill on the registry: restored exactly</a:t>
            </a:r>
          </a:p>
        </p:txBody>
      </p:sp>
      <p:sp>
        <p:nvSpPr>
          <p:cNvPr id="24" name="TextBox 23"/>
          <p:cNvSpPr txBox="1"/>
          <p:nvPr/>
        </p:nvSpPr>
        <p:spPr>
          <a:xfrm>
            <a:off x="548640" y="5303520"/>
            <a:ext cx="7498079" cy="1005840"/>
          </a:xfrm>
          <a:prstGeom prst="rect">
            <a:avLst/>
          </a:prstGeom>
          <a:noFill/>
        </p:spPr>
        <p:txBody>
          <a:bodyPr wrap="square" lIns="36576" rIns="36576">
            <a:spAutoFit/>
          </a:bodyPr>
          <a:lstStyle/>
          <a:p>
            <a:pPr marL="201168" indent="-182880">
              <a:spcAft>
                <a:spcPts val="800"/>
              </a:spcAft>
              <a:buFont typeface="Arial"/>
              <a:buChar char="•"/>
            </a:pPr>
            <a:r>
              <a:rPr sz="1200" b="1">
                <a:solidFill>
                  <a:srgbClr val="1F2937"/>
                </a:solidFill>
                <a:latin typeface="Calibri"/>
              </a:rPr>
              <a:t>Why 2 months: </a:t>
            </a:r>
            <a:r>
              <a:rPr sz="1200" b="0">
                <a:solidFill>
                  <a:srgbClr val="1F2937"/>
                </a:solidFill>
                <a:latin typeface="Calibri"/>
              </a:rPr>
              <a:t>a month holds ~500 loans; its PR-AUC moves several points from sampling alone. Roles: owner, independent validator, approver, platform.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Deployment: batch scoring from the registry</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End to end machine learning for loan default prediction</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9</a:t>
            </a:r>
          </a:p>
        </p:txBody>
      </p:sp>
      <p:graphicFrame>
        <p:nvGraphicFramePr>
          <p:cNvPr id="5" name="Table"/>
          <p:cNvGraphicFramePr>
            <a:graphicFrameLocks noGrp="1"/>
          </p:cNvGraphicFramePr>
          <p:nvPr/>
        </p:nvGraphicFramePr>
        <p:xfrm>
          <a:off x="457200" y="1280160"/>
          <a:ext cx="7223760" cy="2514600"/>
        </p:xfrm>
        <a:graphic>
          <a:graphicData uri="http://schemas.openxmlformats.org/drawingml/2006/table">
            <a:tbl>
              <a:tblPr firstRow="0" bandRow="0">
                <a:tableStyleId>{5940675A-B579-460E-94D1-54222C63F5DA}</a:tableStyleId>
              </a:tblPr>
              <a:tblGrid>
                <a:gridCol w="1828800"/>
                <a:gridCol w="2743200"/>
                <a:gridCol w="2651760"/>
              </a:tblGrid>
              <a:tr h="502920">
                <a:tc>
                  <a:txBody>
                    <a:bodyPr wrap="square"/>
                    <a:lstStyle/>
                    <a:p>
                      <a:r>
                        <a:rPr sz="1200" b="1">
                          <a:solidFill>
                            <a:srgbClr val="FFFFFF"/>
                          </a:solidFill>
                          <a:latin typeface="Calibri"/>
                        </a:rPr>
                        <a:t>Option</a:t>
                      </a:r>
                    </a:p>
                  </a:txBody>
                  <a:tcPr marL="73152" marR="73152" marT="27432" marB="27432" anchor="ctr">
                    <a:solidFill>
                      <a:srgbClr val="14213D"/>
                    </a:solidFill>
                  </a:tcPr>
                </a:tc>
                <a:tc>
                  <a:txBody>
                    <a:bodyPr wrap="square"/>
                    <a:lstStyle/>
                    <a:p>
                      <a:r>
                        <a:rPr sz="1200" b="1">
                          <a:solidFill>
                            <a:srgbClr val="FFFFFF"/>
                          </a:solidFill>
                          <a:latin typeface="Calibri"/>
                        </a:rPr>
                        <a:t>Fits when</a:t>
                      </a:r>
                    </a:p>
                  </a:txBody>
                  <a:tcPr marL="73152" marR="73152" marT="27432" marB="27432" anchor="ctr">
                    <a:solidFill>
                      <a:srgbClr val="14213D"/>
                    </a:solidFill>
                  </a:tcPr>
                </a:tc>
                <a:tc>
                  <a:txBody>
                    <a:bodyPr wrap="square"/>
                    <a:lstStyle/>
                    <a:p>
                      <a:r>
                        <a:rPr sz="1200" b="1">
                          <a:solidFill>
                            <a:srgbClr val="FFFFFF"/>
                          </a:solidFill>
                          <a:latin typeface="Calibri"/>
                        </a:rPr>
                        <a:t>Verdict</a:t>
                      </a:r>
                    </a:p>
                  </a:txBody>
                  <a:tcPr marL="73152" marR="73152" marT="27432" marB="27432" anchor="ctr">
                    <a:solidFill>
                      <a:srgbClr val="14213D"/>
                    </a:solidFill>
                  </a:tcPr>
                </a:tc>
              </a:tr>
              <a:tr h="502920">
                <a:tc>
                  <a:txBody>
                    <a:bodyPr wrap="square"/>
                    <a:lstStyle/>
                    <a:p>
                      <a:r>
                        <a:rPr sz="1200" b="1">
                          <a:solidFill>
                            <a:srgbClr val="1F2937"/>
                          </a:solidFill>
                          <a:latin typeface="Calibri"/>
                        </a:rPr>
                        <a:t>Batch scoring</a:t>
                      </a:r>
                    </a:p>
                  </a:txBody>
                  <a:tcPr marL="73152" marR="73152" marT="27432" marB="27432" anchor="ctr">
                    <a:solidFill>
                      <a:srgbClr val="FFFFFF"/>
                    </a:solidFill>
                  </a:tcPr>
                </a:tc>
                <a:tc>
                  <a:txBody>
                    <a:bodyPr wrap="square"/>
                    <a:lstStyle/>
                    <a:p>
                      <a:r>
                        <a:rPr sz="1200" b="0">
                          <a:solidFill>
                            <a:srgbClr val="1F2937"/>
                          </a:solidFill>
                          <a:latin typeface="Calibri"/>
                        </a:rPr>
                        <a:t>decision can wait; snapshot features</a:t>
                      </a:r>
                    </a:p>
                  </a:txBody>
                  <a:tcPr marL="73152" marR="73152" marT="27432" marB="27432" anchor="ctr">
                    <a:solidFill>
                      <a:srgbClr val="FFFFFF"/>
                    </a:solidFill>
                  </a:tcPr>
                </a:tc>
                <a:tc>
                  <a:txBody>
                    <a:bodyPr wrap="square"/>
                    <a:lstStyle/>
                    <a:p>
                      <a:r>
                        <a:rPr sz="1200" b="0">
                          <a:solidFill>
                            <a:srgbClr val="1F2937"/>
                          </a:solidFill>
                          <a:latin typeface="Calibri"/>
                        </a:rPr>
                        <a:t>Chosen — monthly now, daily next</a:t>
                      </a:r>
                    </a:p>
                  </a:txBody>
                  <a:tcPr marL="73152" marR="73152" marT="27432" marB="27432" anchor="ctr">
                    <a:solidFill>
                      <a:srgbClr val="FFFFFF"/>
                    </a:solidFill>
                  </a:tcPr>
                </a:tc>
              </a:tr>
              <a:tr h="502920">
                <a:tc>
                  <a:txBody>
                    <a:bodyPr wrap="square"/>
                    <a:lstStyle/>
                    <a:p>
                      <a:r>
                        <a:rPr sz="1200" b="1">
                          <a:solidFill>
                            <a:srgbClr val="1F2937"/>
                          </a:solidFill>
                          <a:latin typeface="Calibri"/>
                        </a:rPr>
                        <a:t>Real-time API</a:t>
                      </a:r>
                    </a:p>
                  </a:txBody>
                  <a:tcPr marL="73152" marR="73152" marT="27432" marB="27432" anchor="ctr">
                    <a:solidFill>
                      <a:srgbClr val="F6F8FB"/>
                    </a:solidFill>
                  </a:tcPr>
                </a:tc>
                <a:tc>
                  <a:txBody>
                    <a:bodyPr wrap="square"/>
                    <a:lstStyle/>
                    <a:p>
                      <a:r>
                        <a:rPr sz="1200" b="0">
                          <a:solidFill>
                            <a:srgbClr val="1F2937"/>
                          </a:solidFill>
                          <a:latin typeface="Calibri"/>
                        </a:rPr>
                        <a:t>instant decision at application</a:t>
                      </a:r>
                    </a:p>
                  </a:txBody>
                  <a:tcPr marL="73152" marR="73152" marT="27432" marB="27432" anchor="ctr">
                    <a:solidFill>
                      <a:srgbClr val="F6F8FB"/>
                    </a:solidFill>
                  </a:tcPr>
                </a:tc>
                <a:tc>
                  <a:txBody>
                    <a:bodyPr wrap="square"/>
                    <a:lstStyle/>
                    <a:p>
                      <a:r>
                        <a:rPr sz="1200" b="0">
                          <a:solidFill>
                            <a:srgbClr val="1F2937"/>
                          </a:solidFill>
                          <a:latin typeface="Calibri"/>
                        </a:rPr>
                        <a:t>Later: needs online features</a:t>
                      </a:r>
                    </a:p>
                  </a:txBody>
                  <a:tcPr marL="73152" marR="73152" marT="27432" marB="27432" anchor="ctr">
                    <a:solidFill>
                      <a:srgbClr val="F6F8FB"/>
                    </a:solidFill>
                  </a:tcPr>
                </a:tc>
              </a:tr>
              <a:tr h="502920">
                <a:tc>
                  <a:txBody>
                    <a:bodyPr wrap="square"/>
                    <a:lstStyle/>
                    <a:p>
                      <a:r>
                        <a:rPr sz="1200" b="1">
                          <a:solidFill>
                            <a:srgbClr val="1F2937"/>
                          </a:solidFill>
                          <a:latin typeface="Calibri"/>
                        </a:rPr>
                        <a:t>Streaming</a:t>
                      </a:r>
                    </a:p>
                  </a:txBody>
                  <a:tcPr marL="73152" marR="73152" marT="27432" marB="27432" anchor="ctr">
                    <a:solidFill>
                      <a:srgbClr val="FFFFFF"/>
                    </a:solidFill>
                  </a:tcPr>
                </a:tc>
                <a:tc>
                  <a:txBody>
                    <a:bodyPr wrap="square"/>
                    <a:lstStyle/>
                    <a:p>
                      <a:r>
                        <a:rPr sz="1200" b="0">
                          <a:solidFill>
                            <a:srgbClr val="1F2937"/>
                          </a:solidFill>
                          <a:latin typeface="Calibri"/>
                        </a:rPr>
                        <a:t>decision per event</a:t>
                      </a:r>
                    </a:p>
                  </a:txBody>
                  <a:tcPr marL="73152" marR="73152" marT="27432" marB="27432" anchor="ctr">
                    <a:solidFill>
                      <a:srgbClr val="FFFFFF"/>
                    </a:solidFill>
                  </a:tcPr>
                </a:tc>
                <a:tc>
                  <a:txBody>
                    <a:bodyPr wrap="square"/>
                    <a:lstStyle/>
                    <a:p>
                      <a:r>
                        <a:rPr sz="1200" b="0">
                          <a:solidFill>
                            <a:srgbClr val="1F2937"/>
                          </a:solidFill>
                          <a:latin typeface="Calibri"/>
                        </a:rPr>
                        <a:t>Not needed: one per loan</a:t>
                      </a:r>
                    </a:p>
                  </a:txBody>
                  <a:tcPr marL="73152" marR="73152" marT="27432" marB="27432" anchor="ctr">
                    <a:solidFill>
                      <a:srgbClr val="FFFFFF"/>
                    </a:solidFill>
                  </a:tcPr>
                </a:tc>
              </a:tr>
              <a:tr h="502920">
                <a:tc>
                  <a:txBody>
                    <a:bodyPr wrap="square"/>
                    <a:lstStyle/>
                    <a:p>
                      <a:r>
                        <a:rPr sz="1200" b="1">
                          <a:solidFill>
                            <a:srgbClr val="1F2937"/>
                          </a:solidFill>
                          <a:latin typeface="Calibri"/>
                        </a:rPr>
                        <a:t>In-database / embedded</a:t>
                      </a:r>
                    </a:p>
                  </a:txBody>
                  <a:tcPr marL="73152" marR="73152" marT="27432" marB="27432" anchor="ctr">
                    <a:solidFill>
                      <a:srgbClr val="F6F8FB"/>
                    </a:solidFill>
                  </a:tcPr>
                </a:tc>
                <a:tc>
                  <a:txBody>
                    <a:bodyPr wrap="square"/>
                    <a:lstStyle/>
                    <a:p>
                      <a:r>
                        <a:rPr sz="1200" b="0">
                          <a:solidFill>
                            <a:srgbClr val="1F2937"/>
                          </a:solidFill>
                          <a:latin typeface="Calibri"/>
                        </a:rPr>
                        <a:t>scoring inside another system</a:t>
                      </a:r>
                    </a:p>
                  </a:txBody>
                  <a:tcPr marL="73152" marR="73152" marT="27432" marB="27432" anchor="ctr">
                    <a:solidFill>
                      <a:srgbClr val="F6F8FB"/>
                    </a:solidFill>
                  </a:tcPr>
                </a:tc>
                <a:tc>
                  <a:txBody>
                    <a:bodyPr wrap="square"/>
                    <a:lstStyle/>
                    <a:p>
                      <a:r>
                        <a:rPr sz="1200" b="0">
                          <a:solidFill>
                            <a:srgbClr val="1F2937"/>
                          </a:solidFill>
                          <a:latin typeface="Calibri"/>
                        </a:rPr>
                        <a:t>Not needed: extra conversion</a:t>
                      </a:r>
                    </a:p>
                  </a:txBody>
                  <a:tcPr marL="73152" marR="73152" marT="27432" marB="27432" anchor="ctr">
                    <a:solidFill>
                      <a:srgbClr val="F6F8FB"/>
                    </a:solidFill>
                  </a:tcPr>
                </a:tc>
              </a:tr>
            </a:tbl>
          </a:graphicData>
        </a:graphic>
      </p:graphicFrame>
      <p:sp>
        <p:nvSpPr>
          <p:cNvPr id="6" name="Rounded Rectangle 5"/>
          <p:cNvSpPr/>
          <p:nvPr/>
        </p:nvSpPr>
        <p:spPr>
          <a:xfrm>
            <a:off x="457200" y="3977639"/>
            <a:ext cx="7223760" cy="694944"/>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032503"/>
            <a:ext cx="2286000" cy="594360"/>
          </a:xfrm>
          <a:prstGeom prst="rect">
            <a:avLst/>
          </a:prstGeom>
          <a:noFill/>
        </p:spPr>
        <p:txBody>
          <a:bodyPr wrap="square" anchor="ctr" lIns="36576" rIns="36576" tIns="18288" bIns="18288">
            <a:spAutoFit/>
          </a:bodyPr>
          <a:lstStyle/>
          <a:p>
            <a:pPr algn="l"/>
            <a:r>
              <a:rPr sz="1250" b="1" i="0">
                <a:solidFill>
                  <a:srgbClr val="14213D"/>
                </a:solidFill>
                <a:latin typeface="Calibri"/>
              </a:rPr>
              <a:t>@alias, not files</a:t>
            </a:r>
          </a:p>
        </p:txBody>
      </p:sp>
      <p:sp>
        <p:nvSpPr>
          <p:cNvPr id="8" name="TextBox 7"/>
          <p:cNvSpPr txBox="1"/>
          <p:nvPr/>
        </p:nvSpPr>
        <p:spPr>
          <a:xfrm>
            <a:off x="2834640" y="4032503"/>
            <a:ext cx="4754880" cy="594360"/>
          </a:xfrm>
          <a:prstGeom prst="rect">
            <a:avLst/>
          </a:prstGeom>
          <a:noFill/>
        </p:spPr>
        <p:txBody>
          <a:bodyPr wrap="square" anchor="ctr" lIns="36576" rIns="36576" tIns="18288" bIns="18288">
            <a:spAutoFit/>
          </a:bodyPr>
          <a:lstStyle/>
          <a:p>
            <a:pPr algn="l"/>
            <a:r>
              <a:rPr sz="1150" b="0" i="0">
                <a:solidFill>
                  <a:srgbClr val="1F2937"/>
                </a:solidFill>
                <a:latin typeface="Calibri"/>
              </a:rPr>
              <a:t>inference loads models:/…@champion; promote or roll back with no code change</a:t>
            </a:r>
          </a:p>
        </p:txBody>
      </p:sp>
      <p:sp>
        <p:nvSpPr>
          <p:cNvPr id="9" name="Rounded Rectangle 8"/>
          <p:cNvSpPr/>
          <p:nvPr/>
        </p:nvSpPr>
        <p:spPr>
          <a:xfrm>
            <a:off x="457200" y="4764024"/>
            <a:ext cx="7223760" cy="694944"/>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818888"/>
            <a:ext cx="2286000" cy="594360"/>
          </a:xfrm>
          <a:prstGeom prst="rect">
            <a:avLst/>
          </a:prstGeom>
          <a:noFill/>
        </p:spPr>
        <p:txBody>
          <a:bodyPr wrap="square" anchor="ctr" lIns="36576" rIns="36576" tIns="18288" bIns="18288">
            <a:spAutoFit/>
          </a:bodyPr>
          <a:lstStyle/>
          <a:p>
            <a:pPr algn="l"/>
            <a:r>
              <a:rPr sz="1250" b="1" i="0">
                <a:solidFill>
                  <a:srgbClr val="14213D"/>
                </a:solidFill>
                <a:latin typeface="Calibri"/>
              </a:rPr>
              <a:t>Same code everywhere</a:t>
            </a:r>
          </a:p>
        </p:txBody>
      </p:sp>
      <p:sp>
        <p:nvSpPr>
          <p:cNvPr id="11" name="TextBox 10"/>
          <p:cNvSpPr txBox="1"/>
          <p:nvPr/>
        </p:nvSpPr>
        <p:spPr>
          <a:xfrm>
            <a:off x="2834640" y="4818888"/>
            <a:ext cx="4754880" cy="594360"/>
          </a:xfrm>
          <a:prstGeom prst="rect">
            <a:avLst/>
          </a:prstGeom>
          <a:noFill/>
        </p:spPr>
        <p:txBody>
          <a:bodyPr wrap="square" anchor="ctr" lIns="36576" rIns="36576" tIns="18288" bIns="18288">
            <a:spAutoFit/>
          </a:bodyPr>
          <a:lstStyle/>
          <a:p>
            <a:pPr algn="l"/>
            <a:r>
              <a:rPr sz="1150" b="0" i="0">
                <a:solidFill>
                  <a:srgbClr val="1F2937"/>
                </a:solidFill>
                <a:latin typeface="Calibri"/>
              </a:rPr>
              <a:t>notebooks → util modules; Airflow tasks call them per month</a:t>
            </a:r>
          </a:p>
        </p:txBody>
      </p:sp>
      <p:sp>
        <p:nvSpPr>
          <p:cNvPr id="12" name="Rounded Rectangle 11"/>
          <p:cNvSpPr/>
          <p:nvPr/>
        </p:nvSpPr>
        <p:spPr>
          <a:xfrm>
            <a:off x="457200" y="5550407"/>
            <a:ext cx="7223760" cy="694944"/>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605271"/>
            <a:ext cx="2286000" cy="594360"/>
          </a:xfrm>
          <a:prstGeom prst="rect">
            <a:avLst/>
          </a:prstGeom>
          <a:noFill/>
        </p:spPr>
        <p:txBody>
          <a:bodyPr wrap="square" anchor="ctr" lIns="36576" rIns="36576" tIns="18288" bIns="18288">
            <a:spAutoFit/>
          </a:bodyPr>
          <a:lstStyle/>
          <a:p>
            <a:pPr algn="l"/>
            <a:r>
              <a:rPr sz="1250" b="1" i="0">
                <a:solidFill>
                  <a:srgbClr val="14213D"/>
                </a:solidFill>
                <a:latin typeface="Calibri"/>
              </a:rPr>
              <a:t>Isolated runtime</a:t>
            </a:r>
          </a:p>
        </p:txBody>
      </p:sp>
      <p:sp>
        <p:nvSpPr>
          <p:cNvPr id="14" name="TextBox 13"/>
          <p:cNvSpPr txBox="1"/>
          <p:nvPr/>
        </p:nvSpPr>
        <p:spPr>
          <a:xfrm>
            <a:off x="2834640" y="5605271"/>
            <a:ext cx="4754880" cy="594360"/>
          </a:xfrm>
          <a:prstGeom prst="rect">
            <a:avLst/>
          </a:prstGeom>
          <a:noFill/>
        </p:spPr>
        <p:txBody>
          <a:bodyPr wrap="square" anchor="ctr" lIns="36576" rIns="36576" tIns="18288" bIns="18288">
            <a:spAutoFit/>
          </a:bodyPr>
          <a:lstStyle/>
          <a:p>
            <a:pPr algn="l"/>
            <a:r>
              <a:rPr sz="1150" b="0" i="0">
                <a:solidFill>
                  <a:srgbClr val="1F2937"/>
                </a:solidFill>
                <a:latin typeface="Calibri"/>
              </a:rPr>
              <a:t>pipeline in its own Python env inside the Airflow image; Docker for both</a:t>
            </a:r>
          </a:p>
        </p:txBody>
      </p:sp>
      <p:sp>
        <p:nvSpPr>
          <p:cNvPr id="15" name="Rounded Rectangle 14"/>
          <p:cNvSpPr/>
          <p:nvPr/>
        </p:nvSpPr>
        <p:spPr>
          <a:xfrm>
            <a:off x="7955279" y="1280160"/>
            <a:ext cx="3749039" cy="13258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371600"/>
            <a:ext cx="3474720" cy="640080"/>
          </a:xfrm>
          <a:prstGeom prst="rect">
            <a:avLst/>
          </a:prstGeom>
          <a:noFill/>
        </p:spPr>
        <p:txBody>
          <a:bodyPr wrap="square" anchor="t" lIns="36576" rIns="36576" tIns="18288" bIns="18288">
            <a:spAutoFit/>
          </a:bodyPr>
          <a:lstStyle/>
          <a:p>
            <a:pPr algn="l"/>
            <a:r>
              <a:rPr sz="3200" b="1" i="0">
                <a:solidFill>
                  <a:srgbClr val="14213D"/>
                </a:solidFill>
                <a:latin typeface="Cambria"/>
              </a:rPr>
              <a:t>3,526</a:t>
            </a:r>
          </a:p>
        </p:txBody>
      </p:sp>
      <p:sp>
        <p:nvSpPr>
          <p:cNvPr id="17" name="TextBox 16"/>
          <p:cNvSpPr txBox="1"/>
          <p:nvPr/>
        </p:nvSpPr>
        <p:spPr>
          <a:xfrm>
            <a:off x="8092440" y="1993391"/>
            <a:ext cx="3474720" cy="576072"/>
          </a:xfrm>
          <a:prstGeom prst="rect">
            <a:avLst/>
          </a:prstGeom>
          <a:noFill/>
        </p:spPr>
        <p:txBody>
          <a:bodyPr wrap="square" anchor="t" lIns="36576" rIns="36576" tIns="18288" bIns="18288">
            <a:spAutoFit/>
          </a:bodyPr>
          <a:lstStyle/>
          <a:p>
            <a:pPr algn="l"/>
            <a:r>
              <a:rPr sz="1200" b="0" i="0">
                <a:solidFill>
                  <a:srgbClr val="5B6472"/>
                </a:solidFill>
                <a:latin typeface="Calibri"/>
              </a:rPr>
              <a:t>new loans scored in 7 monthly batches, each with a probability, flag and 3 reason codes</a:t>
            </a:r>
          </a:p>
        </p:txBody>
      </p:sp>
      <p:sp>
        <p:nvSpPr>
          <p:cNvPr id="18" name="Rounded Rectangle 17"/>
          <p:cNvSpPr/>
          <p:nvPr/>
        </p:nvSpPr>
        <p:spPr>
          <a:xfrm>
            <a:off x="7955279" y="2743200"/>
            <a:ext cx="3749039" cy="13258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2834640"/>
            <a:ext cx="3474720" cy="640080"/>
          </a:xfrm>
          <a:prstGeom prst="rect">
            <a:avLst/>
          </a:prstGeom>
          <a:noFill/>
        </p:spPr>
        <p:txBody>
          <a:bodyPr wrap="square" anchor="t" lIns="36576" rIns="36576" tIns="18288" bIns="18288">
            <a:spAutoFit/>
          </a:bodyPr>
          <a:lstStyle/>
          <a:p>
            <a:pPr algn="l"/>
            <a:r>
              <a:rPr sz="3200" b="1" i="0">
                <a:solidFill>
                  <a:srgbClr val="1BAF7A"/>
                </a:solidFill>
                <a:latin typeface="Cambria"/>
              </a:rPr>
              <a:t>identical</a:t>
            </a:r>
          </a:p>
        </p:txBody>
      </p:sp>
      <p:sp>
        <p:nvSpPr>
          <p:cNvPr id="20" name="TextBox 19"/>
          <p:cNvSpPr txBox="1"/>
          <p:nvPr/>
        </p:nvSpPr>
        <p:spPr>
          <a:xfrm>
            <a:off x="8092440" y="3456432"/>
            <a:ext cx="3474720" cy="576072"/>
          </a:xfrm>
          <a:prstGeom prst="rect">
            <a:avLst/>
          </a:prstGeom>
          <a:noFill/>
        </p:spPr>
        <p:txBody>
          <a:bodyPr wrap="square" anchor="t" lIns="36576" rIns="36576" tIns="18288" bIns="18288">
            <a:spAutoFit/>
          </a:bodyPr>
          <a:lstStyle/>
          <a:p>
            <a:pPr algn="l"/>
            <a:r>
              <a:rPr sz="1200" b="0" i="0">
                <a:solidFill>
                  <a:srgbClr val="5B6472"/>
                </a:solidFill>
                <a:latin typeface="Calibri"/>
              </a:rPr>
              <a:t>deployed predictions vs the tested model; month-by-month data vs the full build</a:t>
            </a:r>
          </a:p>
        </p:txBody>
      </p:sp>
      <p:sp>
        <p:nvSpPr>
          <p:cNvPr id="21" name="Rounded Rectangle 20"/>
          <p:cNvSpPr/>
          <p:nvPr/>
        </p:nvSpPr>
        <p:spPr>
          <a:xfrm>
            <a:off x="7955279" y="4206240"/>
            <a:ext cx="3749039" cy="13258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4297679"/>
            <a:ext cx="3474720" cy="640080"/>
          </a:xfrm>
          <a:prstGeom prst="rect">
            <a:avLst/>
          </a:prstGeom>
          <a:noFill/>
        </p:spPr>
        <p:txBody>
          <a:bodyPr wrap="square" anchor="t" lIns="36576" rIns="36576" tIns="18288" bIns="18288">
            <a:spAutoFit/>
          </a:bodyPr>
          <a:lstStyle/>
          <a:p>
            <a:pPr algn="l"/>
            <a:r>
              <a:rPr sz="3200" b="1" i="0">
                <a:solidFill>
                  <a:srgbClr val="2A78D6"/>
                </a:solidFill>
                <a:latin typeface="Cambria"/>
              </a:rPr>
              <a:t>≤ 0.005</a:t>
            </a:r>
          </a:p>
        </p:txBody>
      </p:sp>
      <p:sp>
        <p:nvSpPr>
          <p:cNvPr id="23" name="TextBox 22"/>
          <p:cNvSpPr txBox="1"/>
          <p:nvPr/>
        </p:nvSpPr>
        <p:spPr>
          <a:xfrm>
            <a:off x="8092440" y="4919472"/>
            <a:ext cx="3474720" cy="576072"/>
          </a:xfrm>
          <a:prstGeom prst="rect">
            <a:avLst/>
          </a:prstGeom>
          <a:noFill/>
        </p:spPr>
        <p:txBody>
          <a:bodyPr wrap="square" anchor="t" lIns="36576" rIns="36576" tIns="18288" bIns="18288">
            <a:spAutoFit/>
          </a:bodyPr>
          <a:lstStyle/>
          <a:p>
            <a:pPr algn="l"/>
            <a:r>
              <a:rPr sz="1200" b="0" i="0">
                <a:solidFill>
                  <a:srgbClr val="5B6472"/>
                </a:solidFill>
                <a:latin typeface="Calibri"/>
              </a:rPr>
              <a:t>PR-AUC difference Windows vs Linux (Docker); same decisions</a:t>
            </a:r>
          </a:p>
        </p:txBody>
      </p:sp>
      <p:sp>
        <p:nvSpPr>
          <p:cNvPr id="24" name="TextBox 23"/>
          <p:cNvSpPr txBox="1"/>
          <p:nvPr/>
        </p:nvSpPr>
        <p:spPr>
          <a:xfrm>
            <a:off x="7955279" y="5623560"/>
            <a:ext cx="3749039" cy="685800"/>
          </a:xfrm>
          <a:prstGeom prst="rect">
            <a:avLst/>
          </a:prstGeom>
          <a:noFill/>
        </p:spPr>
        <p:txBody>
          <a:bodyPr wrap="square" anchor="t" lIns="36576" rIns="36576" tIns="18288" bIns="18288">
            <a:spAutoFit/>
          </a:bodyPr>
          <a:lstStyle/>
          <a:p>
            <a:pPr algn="l"/>
            <a:r>
              <a:rPr sz="1100" b="0" i="1">
                <a:solidFill>
                  <a:srgbClr val="5B6472"/>
                </a:solidFill>
                <a:latin typeface="Calibri"/>
              </a:rPr>
              <a:t>Clean Docker runs from raw data exposed and fixed: Spark memory, CPU limits, a missing system library.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502920"/>
            <a:ext cx="10515600" cy="640080"/>
          </a:xfrm>
          <a:prstGeom prst="rect">
            <a:avLst/>
          </a:prstGeom>
          <a:noFill/>
        </p:spPr>
        <p:txBody>
          <a:bodyPr wrap="square" anchor="t" lIns="36576" rIns="36576" tIns="18288" bIns="18288">
            <a:spAutoFit/>
          </a:bodyPr>
          <a:lstStyle/>
          <a:p>
            <a:pPr algn="l"/>
            <a:r>
              <a:rPr sz="3200" b="1" i="0">
                <a:solidFill>
                  <a:srgbClr val="FFFFFF"/>
                </a:solidFill>
                <a:latin typeface="Cambria"/>
              </a:rPr>
              <a:t>Challenges, results and what comes next</a:t>
            </a:r>
          </a:p>
        </p:txBody>
      </p:sp>
      <p:sp>
        <p:nvSpPr>
          <p:cNvPr id="3" name="TextBox 2"/>
          <p:cNvSpPr txBox="1"/>
          <p:nvPr/>
        </p:nvSpPr>
        <p:spPr>
          <a:xfrm>
            <a:off x="822960" y="1280160"/>
            <a:ext cx="5486400" cy="320040"/>
          </a:xfrm>
          <a:prstGeom prst="rect">
            <a:avLst/>
          </a:prstGeom>
          <a:noFill/>
        </p:spPr>
        <p:txBody>
          <a:bodyPr wrap="square" anchor="t" lIns="36576" rIns="36576" tIns="18288" bIns="18288">
            <a:spAutoFit/>
          </a:bodyPr>
          <a:lstStyle/>
          <a:p>
            <a:pPr algn="l"/>
            <a:r>
              <a:rPr sz="1300" b="1" i="0">
                <a:solidFill>
                  <a:srgbClr val="CADCFC"/>
                </a:solidFill>
                <a:latin typeface="Calibri"/>
              </a:rPr>
              <a:t>CHALLENGE  →  SOLUTION</a:t>
            </a:r>
          </a:p>
        </p:txBody>
      </p:sp>
      <p:sp>
        <p:nvSpPr>
          <p:cNvPr id="4" name="Rounded Rectangle 3"/>
          <p:cNvSpPr/>
          <p:nvPr/>
        </p:nvSpPr>
        <p:spPr>
          <a:xfrm>
            <a:off x="822960" y="1691640"/>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46504"/>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Dirty raw data</a:t>
            </a:r>
          </a:p>
        </p:txBody>
      </p:sp>
      <p:sp>
        <p:nvSpPr>
          <p:cNvPr id="6" name="TextBox 5"/>
          <p:cNvSpPr txBox="1"/>
          <p:nvPr/>
        </p:nvSpPr>
        <p:spPr>
          <a:xfrm>
            <a:off x="3383280" y="1746504"/>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clean to null + flag, every change audited</a:t>
            </a:r>
          </a:p>
        </p:txBody>
      </p:sp>
      <p:sp>
        <p:nvSpPr>
          <p:cNvPr id="7" name="Rounded Rectangle 6"/>
          <p:cNvSpPr/>
          <p:nvPr/>
        </p:nvSpPr>
        <p:spPr>
          <a:xfrm>
            <a:off x="822960" y="2350008"/>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04872"/>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Clickstream stops mid-2024</a:t>
            </a:r>
          </a:p>
        </p:txBody>
      </p:sp>
      <p:sp>
        <p:nvSpPr>
          <p:cNvPr id="9" name="TextBox 8"/>
          <p:cNvSpPr txBox="1"/>
          <p:nvPr/>
        </p:nvSpPr>
        <p:spPr>
          <a:xfrm>
            <a:off x="3383280" y="2404872"/>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champion without it; challenger kept</a:t>
            </a:r>
          </a:p>
        </p:txBody>
      </p:sp>
      <p:sp>
        <p:nvSpPr>
          <p:cNvPr id="10" name="Rounded Rectangle 9"/>
          <p:cNvSpPr/>
          <p:nvPr/>
        </p:nvSpPr>
        <p:spPr>
          <a:xfrm>
            <a:off x="822960" y="3008376"/>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063240"/>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AutoFE could leak</a:t>
            </a:r>
          </a:p>
        </p:txBody>
      </p:sp>
      <p:sp>
        <p:nvSpPr>
          <p:cNvPr id="12" name="TextBox 11"/>
          <p:cNvSpPr txBox="1"/>
          <p:nvPr/>
        </p:nvSpPr>
        <p:spPr>
          <a:xfrm>
            <a:off x="3383280" y="3063240"/>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row-wise formulas only, recomputed at inference</a:t>
            </a:r>
          </a:p>
        </p:txBody>
      </p:sp>
      <p:sp>
        <p:nvSpPr>
          <p:cNvPr id="13" name="Rounded Rectangle 12"/>
          <p:cNvSpPr/>
          <p:nvPr/>
        </p:nvSpPr>
        <p:spPr>
          <a:xfrm>
            <a:off x="822960" y="3666744"/>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721607"/>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No business cost of errors</a:t>
            </a:r>
          </a:p>
        </p:txBody>
      </p:sp>
      <p:sp>
        <p:nvSpPr>
          <p:cNvPr id="15" name="TextBox 14"/>
          <p:cNvSpPr txBox="1"/>
          <p:nvPr/>
        </p:nvSpPr>
        <p:spPr>
          <a:xfrm>
            <a:off x="3383280" y="3721607"/>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threshold = maximum F1 on validation</a:t>
            </a:r>
          </a:p>
        </p:txBody>
      </p:sp>
      <p:sp>
        <p:nvSpPr>
          <p:cNvPr id="16" name="Rounded Rectangle 15"/>
          <p:cNvSpPr/>
          <p:nvPr/>
        </p:nvSpPr>
        <p:spPr>
          <a:xfrm>
            <a:off x="822960" y="4325112"/>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79976"/>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Spark on Windows / Docker</a:t>
            </a:r>
          </a:p>
        </p:txBody>
      </p:sp>
      <p:sp>
        <p:nvSpPr>
          <p:cNvPr id="18" name="TextBox 17"/>
          <p:cNvSpPr txBox="1"/>
          <p:nvPr/>
        </p:nvSpPr>
        <p:spPr>
          <a:xfrm>
            <a:off x="3383280" y="4379976"/>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pinned env, explicit memory and cores</a:t>
            </a:r>
          </a:p>
        </p:txBody>
      </p:sp>
      <p:sp>
        <p:nvSpPr>
          <p:cNvPr id="19" name="Rounded Rectangle 18"/>
          <p:cNvSpPr/>
          <p:nvPr/>
        </p:nvSpPr>
        <p:spPr>
          <a:xfrm>
            <a:off x="822960" y="4983479"/>
            <a:ext cx="5760720" cy="566928"/>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038343"/>
            <a:ext cx="2377440" cy="457200"/>
          </a:xfrm>
          <a:prstGeom prst="rect">
            <a:avLst/>
          </a:prstGeom>
          <a:noFill/>
        </p:spPr>
        <p:txBody>
          <a:bodyPr wrap="square" anchor="ctr" lIns="36576" rIns="36576" tIns="18288" bIns="18288">
            <a:spAutoFit/>
          </a:bodyPr>
          <a:lstStyle/>
          <a:p>
            <a:pPr algn="l"/>
            <a:r>
              <a:rPr sz="1200" b="1" i="0">
                <a:solidFill>
                  <a:srgbClr val="FFFFFF"/>
                </a:solidFill>
                <a:latin typeface="Calibri"/>
              </a:rPr>
              <a:t>Month-by-month must match</a:t>
            </a:r>
          </a:p>
        </p:txBody>
      </p:sp>
      <p:sp>
        <p:nvSpPr>
          <p:cNvPr id="21" name="TextBox 20"/>
          <p:cNvSpPr txBox="1"/>
          <p:nvPr/>
        </p:nvSpPr>
        <p:spPr>
          <a:xfrm>
            <a:off x="3383280" y="5038343"/>
            <a:ext cx="3108960" cy="457200"/>
          </a:xfrm>
          <a:prstGeom prst="rect">
            <a:avLst/>
          </a:prstGeom>
          <a:noFill/>
        </p:spPr>
        <p:txBody>
          <a:bodyPr wrap="square" anchor="ctr" lIns="36576" rIns="36576" tIns="18288" bIns="18288">
            <a:spAutoFit/>
          </a:bodyPr>
          <a:lstStyle/>
          <a:p>
            <a:pPr algn="l"/>
            <a:r>
              <a:rPr sz="1150" b="0" i="0">
                <a:solidFill>
                  <a:srgbClr val="CADCFC"/>
                </a:solidFill>
                <a:latin typeface="Calibri"/>
              </a:rPr>
              <a:t>verified identical to the full build</a:t>
            </a:r>
          </a:p>
        </p:txBody>
      </p:sp>
      <p:sp>
        <p:nvSpPr>
          <p:cNvPr id="22" name="TextBox 21"/>
          <p:cNvSpPr txBox="1"/>
          <p:nvPr/>
        </p:nvSpPr>
        <p:spPr>
          <a:xfrm>
            <a:off x="6949440" y="1280160"/>
            <a:ext cx="4754880" cy="320040"/>
          </a:xfrm>
          <a:prstGeom prst="rect">
            <a:avLst/>
          </a:prstGeom>
          <a:noFill/>
        </p:spPr>
        <p:txBody>
          <a:bodyPr wrap="square" anchor="t" lIns="36576" rIns="36576" tIns="18288" bIns="18288">
            <a:spAutoFit/>
          </a:bodyPr>
          <a:lstStyle/>
          <a:p>
            <a:pPr algn="l"/>
            <a:r>
              <a:rPr sz="1300" b="1" i="0">
                <a:solidFill>
                  <a:srgbClr val="CADCFC"/>
                </a:solidFill>
                <a:latin typeface="Calibri"/>
              </a:rPr>
              <a:t>RESULTS</a:t>
            </a:r>
          </a:p>
        </p:txBody>
      </p:sp>
      <p:sp>
        <p:nvSpPr>
          <p:cNvPr id="23" name="TextBox 22"/>
          <p:cNvSpPr txBox="1"/>
          <p:nvPr/>
        </p:nvSpPr>
        <p:spPr>
          <a:xfrm>
            <a:off x="6949440" y="1691640"/>
            <a:ext cx="1737360" cy="731520"/>
          </a:xfrm>
          <a:prstGeom prst="rect">
            <a:avLst/>
          </a:prstGeom>
          <a:noFill/>
        </p:spPr>
        <p:txBody>
          <a:bodyPr wrap="square" anchor="t" lIns="36576" rIns="36576" tIns="18288" bIns="18288">
            <a:spAutoFit/>
          </a:bodyPr>
          <a:lstStyle/>
          <a:p>
            <a:pPr algn="l"/>
            <a:r>
              <a:rPr sz="3000" b="1" i="0">
                <a:solidFill>
                  <a:srgbClr val="FFFFFF"/>
                </a:solidFill>
                <a:latin typeface="Cambria"/>
              </a:rPr>
              <a:t>0.619</a:t>
            </a:r>
          </a:p>
        </p:txBody>
      </p:sp>
      <p:sp>
        <p:nvSpPr>
          <p:cNvPr id="24" name="TextBox 23"/>
          <p:cNvSpPr txBox="1"/>
          <p:nvPr/>
        </p:nvSpPr>
        <p:spPr>
          <a:xfrm>
            <a:off x="8732520" y="1801368"/>
            <a:ext cx="3017520" cy="640080"/>
          </a:xfrm>
          <a:prstGeom prst="rect">
            <a:avLst/>
          </a:prstGeom>
          <a:noFill/>
        </p:spPr>
        <p:txBody>
          <a:bodyPr wrap="square" anchor="t" lIns="36576" rIns="36576" tIns="18288" bIns="18288">
            <a:spAutoFit/>
          </a:bodyPr>
          <a:lstStyle/>
          <a:p>
            <a:pPr algn="l"/>
            <a:r>
              <a:rPr sz="1250" b="0" i="0">
                <a:solidFill>
                  <a:srgbClr val="CADCFC"/>
                </a:solidFill>
                <a:latin typeface="Calibri"/>
              </a:rPr>
              <a:t>out-of-time PR-AUC (baseline 0.542)</a:t>
            </a:r>
          </a:p>
        </p:txBody>
      </p:sp>
      <p:sp>
        <p:nvSpPr>
          <p:cNvPr id="25" name="TextBox 24"/>
          <p:cNvSpPr txBox="1"/>
          <p:nvPr/>
        </p:nvSpPr>
        <p:spPr>
          <a:xfrm>
            <a:off x="6949440" y="2560320"/>
            <a:ext cx="1737360" cy="731520"/>
          </a:xfrm>
          <a:prstGeom prst="rect">
            <a:avLst/>
          </a:prstGeom>
          <a:noFill/>
        </p:spPr>
        <p:txBody>
          <a:bodyPr wrap="square" anchor="t" lIns="36576" rIns="36576" tIns="18288" bIns="18288">
            <a:spAutoFit/>
          </a:bodyPr>
          <a:lstStyle/>
          <a:p>
            <a:pPr algn="l"/>
            <a:r>
              <a:rPr sz="3000" b="1" i="0">
                <a:solidFill>
                  <a:srgbClr val="FFFFFF"/>
                </a:solidFill>
                <a:latin typeface="Cambria"/>
              </a:rPr>
              <a:t>70%</a:t>
            </a:r>
          </a:p>
        </p:txBody>
      </p:sp>
      <p:sp>
        <p:nvSpPr>
          <p:cNvPr id="26" name="TextBox 25"/>
          <p:cNvSpPr txBox="1"/>
          <p:nvPr/>
        </p:nvSpPr>
        <p:spPr>
          <a:xfrm>
            <a:off x="8732520" y="2670048"/>
            <a:ext cx="3017520" cy="640080"/>
          </a:xfrm>
          <a:prstGeom prst="rect">
            <a:avLst/>
          </a:prstGeom>
          <a:noFill/>
        </p:spPr>
        <p:txBody>
          <a:bodyPr wrap="square" anchor="t" lIns="36576" rIns="36576" tIns="18288" bIns="18288">
            <a:spAutoFit/>
          </a:bodyPr>
          <a:lstStyle/>
          <a:p>
            <a:pPr algn="l"/>
            <a:r>
              <a:rPr sz="1250" b="0" i="0">
                <a:solidFill>
                  <a:srgbClr val="CADCFC"/>
                </a:solidFill>
                <a:latin typeface="Calibri"/>
              </a:rPr>
              <a:t>of later defaulters caught, flagging ~35% of loans</a:t>
            </a:r>
          </a:p>
        </p:txBody>
      </p:sp>
      <p:sp>
        <p:nvSpPr>
          <p:cNvPr id="27" name="TextBox 26"/>
          <p:cNvSpPr txBox="1"/>
          <p:nvPr/>
        </p:nvSpPr>
        <p:spPr>
          <a:xfrm>
            <a:off x="6949440" y="3429000"/>
            <a:ext cx="1737360" cy="731520"/>
          </a:xfrm>
          <a:prstGeom prst="rect">
            <a:avLst/>
          </a:prstGeom>
          <a:noFill/>
        </p:spPr>
        <p:txBody>
          <a:bodyPr wrap="square" anchor="t" lIns="36576" rIns="36576" tIns="18288" bIns="18288">
            <a:spAutoFit/>
          </a:bodyPr>
          <a:lstStyle/>
          <a:p>
            <a:pPr algn="l"/>
            <a:r>
              <a:rPr sz="3000" b="1" i="0">
                <a:solidFill>
                  <a:srgbClr val="FFFFFF"/>
                </a:solidFill>
                <a:latin typeface="Cambria"/>
              </a:rPr>
              <a:t>30</a:t>
            </a:r>
          </a:p>
        </p:txBody>
      </p:sp>
      <p:sp>
        <p:nvSpPr>
          <p:cNvPr id="28" name="TextBox 27"/>
          <p:cNvSpPr txBox="1"/>
          <p:nvPr/>
        </p:nvSpPr>
        <p:spPr>
          <a:xfrm>
            <a:off x="8732520" y="3538728"/>
            <a:ext cx="3017520" cy="640080"/>
          </a:xfrm>
          <a:prstGeom prst="rect">
            <a:avLst/>
          </a:prstGeom>
          <a:noFill/>
        </p:spPr>
        <p:txBody>
          <a:bodyPr wrap="square" anchor="t" lIns="36576" rIns="36576" tIns="18288" bIns="18288">
            <a:spAutoFit/>
          </a:bodyPr>
          <a:lstStyle/>
          <a:p>
            <a:pPr algn="l"/>
            <a:r>
              <a:rPr sz="1250" b="0" i="0">
                <a:solidFill>
                  <a:srgbClr val="CADCFC"/>
                </a:solidFill>
                <a:latin typeface="Calibri"/>
              </a:rPr>
              <a:t>features, down from 66, with no loss</a:t>
            </a:r>
          </a:p>
        </p:txBody>
      </p:sp>
      <p:sp>
        <p:nvSpPr>
          <p:cNvPr id="29" name="TextBox 28"/>
          <p:cNvSpPr txBox="1"/>
          <p:nvPr/>
        </p:nvSpPr>
        <p:spPr>
          <a:xfrm>
            <a:off x="6949440" y="4434840"/>
            <a:ext cx="4754880" cy="320040"/>
          </a:xfrm>
          <a:prstGeom prst="rect">
            <a:avLst/>
          </a:prstGeom>
          <a:noFill/>
        </p:spPr>
        <p:txBody>
          <a:bodyPr wrap="square" anchor="t" lIns="36576" rIns="36576" tIns="18288" bIns="18288">
            <a:spAutoFit/>
          </a:bodyPr>
          <a:lstStyle/>
          <a:p>
            <a:pPr algn="l"/>
            <a:r>
              <a:rPr sz="1300" b="1" i="0">
                <a:solidFill>
                  <a:srgbClr val="CADCFC"/>
                </a:solidFill>
                <a:latin typeface="Calibri"/>
              </a:rPr>
              <a:t>NEXT</a:t>
            </a:r>
          </a:p>
        </p:txBody>
      </p:sp>
      <p:sp>
        <p:nvSpPr>
          <p:cNvPr id="30" name="TextBox 29"/>
          <p:cNvSpPr txBox="1"/>
          <p:nvPr/>
        </p:nvSpPr>
        <p:spPr>
          <a:xfrm>
            <a:off x="6949440" y="4754880"/>
            <a:ext cx="4754880" cy="1463040"/>
          </a:xfrm>
          <a:prstGeom prst="rect">
            <a:avLst/>
          </a:prstGeom>
          <a:noFill/>
        </p:spPr>
        <p:txBody>
          <a:bodyPr wrap="square" anchor="t" lIns="36576" rIns="36576" tIns="18288" bIns="18288">
            <a:spAutoFit/>
          </a:bodyPr>
          <a:lstStyle/>
          <a:p>
            <a:pPr algn="l"/>
            <a:r>
              <a:rPr sz="1250" b="0" i="0">
                <a:solidFill>
                  <a:srgbClr val="FFFFFF"/>
                </a:solidFill>
                <a:latin typeface="Calibri"/>
              </a:rPr>
              <a:t>Daily batches · investigate the 2025-01 cohort · segment calibration (managers, income Q4) · business cost for the threshold · bring the challenger back if clickstream returns</a:t>
            </a:r>
          </a:p>
        </p:txBody>
      </p:sp>
      <p:sp>
        <p:nvSpPr>
          <p:cNvPr id="31"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End to end machine learning for loan default prediction</a:t>
            </a:r>
          </a:p>
        </p:txBody>
      </p:sp>
      <p:sp>
        <p:nvSpPr>
          <p:cNvPr id="32"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 to End Machine Learning for Loan Default Prediction</dc:title>
  <dc:subject/>
  <dc:creator>albertsoh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
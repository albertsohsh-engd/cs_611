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D60280-BDD9-4ABD-8534-146C66030774}">
          <p14:sldIdLst>
            <p14:sldId id="256"/>
            <p14:sldId id="257"/>
          </p14:sldIdLst>
        </p14:section>
        <p14:section name="Part 1 · Model selection" id="{33A40C26-1F97-423E-87F7-2C3EF351C08A}">
          <p14:sldIdLst>
            <p14:sldId id="258"/>
            <p14:sldId id="259"/>
            <p14:sldId id="260"/>
            <p14:sldId id="261"/>
            <p14:sldId id="262"/>
            <p14:sldId id="263"/>
            <p14:sldId id="264"/>
            <p14:sldId id="265"/>
          </p14:sldIdLst>
        </p14:section>
        <p14:section name="Part 2 · Imbalance treatment" id="{B906FB08-31F8-4464-ABC4-253D58275082}">
          <p14:sldIdLst>
            <p14:sldId id="266"/>
            <p14:sldId id="267"/>
            <p14:sldId id="268"/>
          </p14:sldIdLst>
        </p14:section>
        <p14:section name="Part 3 · Feature importance &amp; selection" id="{1F7DC38A-1D32-406E-99F2-E0CAB78F3CF6}">
          <p14:sldIdLst>
            <p14:sldId id="269"/>
            <p14:sldId id="270"/>
            <p14:sldId id="271"/>
            <p14:sldId id="272"/>
            <p14:sldId id="273"/>
            <p14:sldId id="274"/>
            <p14:sldId id="275"/>
          </p14:sldIdLst>
        </p14:section>
        <p14:section name="Part 4 · Hyperparameter tuning" id="{3CD403DF-2181-4EA6-9FC0-D38BE1EF82E4}">
          <p14:sldIdLst>
            <p14:sldId id="276"/>
            <p14:sldId id="277"/>
            <p14:sldId id="278"/>
          </p14:sldIdLst>
        </p14:section>
        <p14:section name="Part 5 · Error &amp; robustness analysis" id="{DE70CA0B-9320-42C2-94BB-DA11391746EE}">
          <p14:sldIdLst>
            <p14:sldId id="279"/>
            <p14:sldId id="280"/>
            <p14:sldId id="281"/>
            <p14:sldId id="282"/>
            <p14:sldId id="283"/>
          </p14:sldIdLst>
        </p14:section>
        <p14:section name="Part 6 · Deployment &amp; operations" id="{4C2991EC-4C26-453B-8471-17C485B740C5}">
          <p14:sldIdLst>
            <p14:sldId id="284"/>
            <p14:sldId id="285"/>
            <p14:sldId id="286"/>
            <p14:sldId id="287"/>
            <p14:sldId id="288"/>
            <p14:sldId id="289"/>
            <p14:sldId id="290"/>
            <p14:sldId id="291"/>
            <p14:sldId id="292"/>
            <p14:sldId id="293"/>
          </p14:sldIdLst>
        </p14:section>
        <p14:section name="Summary" id="{C4FA322F-376C-4D5D-B31F-73941985EB90}">
          <p14:sldIdLst>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4213D"/>
                </a:solidFill>
                <a:latin typeface="Calibri"/>
              </a:rPr>
              <a:t>Baselines — CV PR-AUC</a:t>
            </a:r>
          </a:p>
        </c:rich>
      </c:tx>
      <c:layout/>
      <c:overlay val="0"/>
    </c:title>
    <c:autoTitleDeleted val="0"/>
    <c:plotArea>
      <c:barChart>
        <c:barDir val="col"/>
        <c:grouping val="clustered"/>
        <c:ser>
          <c:idx val="0"/>
          <c:order val="0"/>
          <c:tx>
            <c:strRef>
              <c:f>Sheet1!$B$1</c:f>
              <c:strCache>
                <c:ptCount val="1"/>
                <c:pt idx="0">
                  <c:v>CV PR-AUC</c:v>
                </c:pt>
              </c:strCache>
            </c:strRef>
          </c:tx>
          <c:spPr>
            <a:solidFill>
              <a:srgbClr val="2A78D6"/>
            </a:solidFill>
          </c:spPr>
          <c:dPt>
            <c:idx val="0"/>
            <c:spPr>
              <a:solidFill>
                <a:srgbClr val="C8CCD2"/>
              </a:solidFill>
            </c:spPr>
          </c:dPt>
          <c:cat>
            <c:strRef>
              <c:f>Sheet1!$A$2:$A$3</c:f>
              <c:strCache>
                <c:ptCount val="2"/>
                <c:pt idx="0">
                  <c:v>dummy (prior)</c:v>
                </c:pt>
                <c:pt idx="1">
                  <c:v>logistic regression</c:v>
                </c:pt>
              </c:strCache>
            </c:strRef>
          </c:cat>
          <c:val>
            <c:numRef>
              <c:f>Sheet1!$B$2:$B$3</c:f>
              <c:numCache>
                <c:formatCode>General</c:formatCode>
                <c:ptCount val="2"/>
                <c:pt idx="0">
                  <c:v>0.2886</c:v>
                </c:pt>
                <c:pt idx="1">
                  <c:v>0.5639780985657941</c:v>
                </c:pt>
              </c:numCache>
            </c:numRef>
          </c:val>
        </c:ser>
        <c:dLbls>
          <c:numFmt formatCode="0.000" sourceLinked="0"/>
          <c:txPr>
            <a:bodyPr/>
            <a:lstStyle/>
            <a:p>
              <a:pPr>
                <a:defRPr sz="11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CCD2"/>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4E3DF"/>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B647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4213D"/>
                </a:solidFill>
                <a:latin typeface="Calibri"/>
              </a:rPr>
              <a:t>Change in CV PR-AUC vs the same algorithm on A_raw</a:t>
            </a:r>
          </a:p>
        </c:rich>
      </c:tx>
      <c:layout/>
      <c:overlay val="0"/>
    </c:title>
    <c:autoTitleDeleted val="0"/>
    <c:plotArea>
      <c:barChart>
        <c:barDir val="col"/>
        <c:grouping val="clustered"/>
        <c:ser>
          <c:idx val="0"/>
          <c:order val="0"/>
          <c:tx>
            <c:strRef>
              <c:f>Sheet1!$B$1</c:f>
              <c:strCache>
                <c:ptCount val="1"/>
                <c:pt idx="0">
                  <c:v>+ generated features (A_fe − A_raw)</c:v>
                </c:pt>
              </c:strCache>
            </c:strRef>
          </c:tx>
          <c:spPr>
            <a:solidFill>
              <a:srgbClr val="1BAF7A"/>
            </a:solidFill>
          </c:spPr>
          <c:cat>
            <c:strRef>
              <c:f>Sheet1!$A$2:$A$4</c:f>
              <c:strCache>
                <c:ptCount val="3"/>
                <c:pt idx="0">
                  <c:v>Logistic regression</c:v>
                </c:pt>
                <c:pt idx="1">
                  <c:v>Random forest</c:v>
                </c:pt>
                <c:pt idx="2">
                  <c:v>XGBoost</c:v>
                </c:pt>
              </c:strCache>
            </c:strRef>
          </c:cat>
          <c:val>
            <c:numRef>
              <c:f>Sheet1!$B$2:$B$4</c:f>
              <c:numCache>
                <c:formatCode>General</c:formatCode>
                <c:ptCount val="3"/>
                <c:pt idx="0">
                  <c:v>0.0039218264646637</c:v>
                </c:pt>
                <c:pt idx="1">
                  <c:v>0.0104667800622713</c:v>
                </c:pt>
                <c:pt idx="2">
                  <c:v>0.0051494204952946</c:v>
                </c:pt>
              </c:numCache>
            </c:numRef>
          </c:val>
        </c:ser>
        <c:ser>
          <c:idx val="1"/>
          <c:order val="1"/>
          <c:tx>
            <c:strRef>
              <c:f>Sheet1!$C$1</c:f>
              <c:strCache>
                <c:ptCount val="1"/>
                <c:pt idx="0">
                  <c:v>+ clickstream (B_raw − A_raw)</c:v>
                </c:pt>
              </c:strCache>
            </c:strRef>
          </c:tx>
          <c:spPr>
            <a:solidFill>
              <a:srgbClr val="EB6834"/>
            </a:solidFill>
          </c:spPr>
          <c:cat>
            <c:strRef>
              <c:f>Sheet1!$A$2:$A$4</c:f>
              <c:strCache>
                <c:ptCount val="3"/>
                <c:pt idx="0">
                  <c:v>Logistic regression</c:v>
                </c:pt>
                <c:pt idx="1">
                  <c:v>Random forest</c:v>
                </c:pt>
                <c:pt idx="2">
                  <c:v>XGBoost</c:v>
                </c:pt>
              </c:strCache>
            </c:strRef>
          </c:cat>
          <c:val>
            <c:numRef>
              <c:f>Sheet1!$C$2:$C$4</c:f>
              <c:numCache>
                <c:formatCode>General</c:formatCode>
                <c:ptCount val="3"/>
                <c:pt idx="0">
                  <c:v>0.0497413184876139</c:v>
                </c:pt>
                <c:pt idx="1">
                  <c:v>0.0233234196975915</c:v>
                </c:pt>
                <c:pt idx="2">
                  <c:v>0.0294885789340874</c:v>
                </c:pt>
              </c:numCache>
            </c:numRef>
          </c:val>
        </c:ser>
        <c:ser>
          <c:idx val="2"/>
          <c:order val="2"/>
          <c:tx>
            <c:strRef>
              <c:f>Sheet1!$D$1</c:f>
              <c:strCache>
                <c:ptCount val="1"/>
                <c:pt idx="0">
                  <c:v>both (B_fe − A_raw)</c:v>
                </c:pt>
              </c:strCache>
            </c:strRef>
          </c:tx>
          <c:spPr>
            <a:solidFill>
              <a:srgbClr val="2A78D6"/>
            </a:solidFill>
          </c:spPr>
          <c:cat>
            <c:strRef>
              <c:f>Sheet1!$A$2:$A$4</c:f>
              <c:strCache>
                <c:ptCount val="3"/>
                <c:pt idx="0">
                  <c:v>Logistic regression</c:v>
                </c:pt>
                <c:pt idx="1">
                  <c:v>Random forest</c:v>
                </c:pt>
                <c:pt idx="2">
                  <c:v>XGBoost</c:v>
                </c:pt>
              </c:strCache>
            </c:strRef>
          </c:cat>
          <c:val>
            <c:numRef>
              <c:f>Sheet1!$D$2:$D$4</c:f>
              <c:numCache>
                <c:formatCode>General</c:formatCode>
                <c:ptCount val="3"/>
                <c:pt idx="0">
                  <c:v>0.0577655442004839</c:v>
                </c:pt>
                <c:pt idx="1">
                  <c:v>0.0335914880639859</c:v>
                </c:pt>
                <c:pt idx="2">
                  <c:v>0.0386586808061539</c:v>
                </c:pt>
              </c:numCache>
            </c:numRef>
          </c:val>
        </c:ser>
        <c:dLbls>
          <c:numFmt formatCode="+0.000" sourceLinked="0"/>
          <c:txPr>
            <a:bodyPr/>
            <a:lstStyle/>
            <a:p>
              <a:pPr>
                <a:defRPr sz="11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CCD2"/>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4E3DF"/>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100"/>
          </a:pPr>
        </a:p>
      </c:txPr>
    </c:legend>
    <c:dispBlanksAs val="gap"/>
  </c:chart>
  <c:txPr>
    <a:bodyPr/>
    <a:lstStyle/>
    <a:p>
      <a:pPr>
        <a:defRPr sz="1100">
          <a:solidFill>
            <a:srgbClr val="5B647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4213D"/>
                </a:solidFill>
                <a:latin typeface="Calibri"/>
              </a:rPr>
              <a:t>PR-AUC by evaluation set</a:t>
            </a:r>
          </a:p>
        </c:rich>
      </c:tx>
      <c:layout/>
      <c:overlay val="0"/>
    </c:title>
    <c:autoTitleDeleted val="0"/>
    <c:plotArea>
      <c:barChart>
        <c:barDir val="col"/>
        <c:grouping val="clustered"/>
        <c:ser>
          <c:idx val="0"/>
          <c:order val="0"/>
          <c:tx>
            <c:strRef>
              <c:f>Sheet1!$B$1</c:f>
              <c:strCache>
                <c:ptCount val="1"/>
                <c:pt idx="0">
                  <c:v>Baseline LR</c:v>
                </c:pt>
              </c:strCache>
            </c:strRef>
          </c:tx>
          <c:spPr>
            <a:solidFill>
              <a:srgbClr val="9A9994"/>
            </a:solidFill>
          </c:spPr>
          <c:cat>
            <c:strRef>
              <c:f>Sheet1!$A$2:$A$4</c:f>
              <c:strCache>
                <c:ptCount val="3"/>
                <c:pt idx="0">
                  <c:v>Validation</c:v>
                </c:pt>
                <c:pt idx="1">
                  <c:v>Test (in-time)</c:v>
                </c:pt>
                <c:pt idx="2">
                  <c:v>OOT 2024-07 → 2025-01</c:v>
                </c:pt>
              </c:strCache>
            </c:strRef>
          </c:cat>
          <c:val>
            <c:numRef>
              <c:f>Sheet1!$B$2:$B$4</c:f>
              <c:numCache>
                <c:formatCode>General</c:formatCode>
                <c:ptCount val="3"/>
                <c:pt idx="0">
                  <c:v>0.5772067557261755</c:v>
                </c:pt>
                <c:pt idx="1">
                  <c:v>0.5656076724347835</c:v>
                </c:pt>
                <c:pt idx="2">
                  <c:v>0.5416226656833822</c:v>
                </c:pt>
              </c:numCache>
            </c:numRef>
          </c:val>
        </c:ser>
        <c:ser>
          <c:idx val="1"/>
          <c:order val="1"/>
          <c:tx>
            <c:strRef>
              <c:f>Sheet1!$C$1</c:f>
              <c:strCache>
                <c:ptCount val="1"/>
                <c:pt idx="0">
                  <c:v>Champion XGB A</c:v>
                </c:pt>
              </c:strCache>
            </c:strRef>
          </c:tx>
          <c:spPr>
            <a:solidFill>
              <a:srgbClr val="2A78D6"/>
            </a:solidFill>
          </c:spPr>
          <c:cat>
            <c:strRef>
              <c:f>Sheet1!$A$2:$A$4</c:f>
              <c:strCache>
                <c:ptCount val="3"/>
                <c:pt idx="0">
                  <c:v>Validation</c:v>
                </c:pt>
                <c:pt idx="1">
                  <c:v>Test (in-time)</c:v>
                </c:pt>
                <c:pt idx="2">
                  <c:v>OOT 2024-07 → 2025-01</c:v>
                </c:pt>
              </c:strCache>
            </c:strRef>
          </c:cat>
          <c:val>
            <c:numRef>
              <c:f>Sheet1!$C$2:$C$4</c:f>
              <c:numCache>
                <c:formatCode>General</c:formatCode>
                <c:ptCount val="3"/>
                <c:pt idx="0">
                  <c:v>0.60089567175637</c:v>
                </c:pt>
                <c:pt idx="1">
                  <c:v>0.6132440383538943</c:v>
                </c:pt>
                <c:pt idx="2">
                  <c:v>0.6188256817787054</c:v>
                </c:pt>
              </c:numCache>
            </c:numRef>
          </c:val>
        </c:ser>
        <c:dLbls>
          <c:numFmt formatCode="0.000" sourceLinked="0"/>
          <c:txPr>
            <a:bodyPr/>
            <a:lstStyle/>
            <a:p>
              <a:pPr>
                <a:defRPr sz="11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CCD2"/>
            </a:solidFill>
          </a:ln>
        </c:spPr>
        <c:txPr>
          <a:bodyPr/>
          <a:lstStyle/>
          <a:p>
            <a:pPr>
              <a:defRPr sz="1100"/>
            </a:pPr>
          </a:p>
        </c:txPr>
        <c:crossAx val="-2113994440"/>
        <c:crosses val="autoZero"/>
        <c:auto val="1"/>
        <c:lblAlgn val="ctr"/>
        <c:lblOffset val="100"/>
        <c:noMultiLvlLbl val="0"/>
      </c:catAx>
      <c:valAx>
        <c:axId val="-2113994440"/>
        <c:scaling>
          <c:min val="0.4"/>
        </c:scaling>
        <c:delete val="0"/>
        <c:axPos val="l"/>
        <c:majorGridlines>
          <c:spPr>
            <a:ln>
              <a:solidFill>
                <a:srgbClr val="E4E3DF"/>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100"/>
          </a:pPr>
        </a:p>
      </c:txPr>
    </c:legend>
    <c:dispBlanksAs val="gap"/>
  </c:chart>
  <c:txPr>
    <a:bodyPr/>
    <a:lstStyle/>
    <a:p>
      <a:pPr>
        <a:defRPr sz="1100">
          <a:solidFill>
            <a:srgbClr val="5B647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4213D"/>
                </a:solidFill>
                <a:latin typeface="Calibri"/>
              </a:rPr>
              <a:t>Champion: top 10 features by share of SHAP importance</a:t>
            </a:r>
          </a:p>
        </c:rich>
      </c:tx>
      <c:layout/>
      <c:overlay val="0"/>
    </c:title>
    <c:autoTitleDeleted val="0"/>
    <c:plotArea>
      <c:barChart>
        <c:barDir val="bar"/>
        <c:grouping val="clustered"/>
        <c:ser>
          <c:idx val="0"/>
          <c:order val="0"/>
          <c:tx>
            <c:strRef>
              <c:f>Sheet1!$B$1</c:f>
              <c:strCache>
                <c:ptCount val="1"/>
                <c:pt idx="0">
                  <c:v>share of total |SHAP|</c:v>
                </c:pt>
              </c:strCache>
            </c:strRef>
          </c:tx>
          <c:spPr>
            <a:solidFill>
              <a:srgbClr val="2A78D6"/>
            </a:solidFill>
          </c:spPr>
          <c:cat>
            <c:strRef>
              <c:f>Sheet1!$A$2:$A$11</c:f>
              <c:strCache>
                <c:ptCount val="10"/>
                <c:pt idx="0">
                  <c:v>Num_Credit_Card ÷ Num_of_Delayed_Payment</c:v>
                </c:pt>
                <c:pt idx="1">
                  <c:v>Num_Credit_Inquiries × Outstanding_Debt</c:v>
                </c:pt>
                <c:pt idx="2">
                  <c:v>Outstanding_Debt ÷ credit_history_age_months</c:v>
                </c:pt>
                <c:pt idx="3">
                  <c:v>Delay_from_due_date × Outstanding_Debt</c:v>
                </c:pt>
                <c:pt idx="4">
                  <c:v>Monthly_Balance</c:v>
                </c:pt>
                <c:pt idx="5">
                  <c:v>Num_Credit_Card</c:v>
                </c:pt>
                <c:pt idx="6">
                  <c:v>Changed_Credit_Limit × Outstanding_Debt</c:v>
                </c:pt>
                <c:pt idx="7">
                  <c:v>Delay_from_due_date − Num_of_Delayed_Payment</c:v>
                </c:pt>
                <c:pt idx="8">
                  <c:v>Payment_Behaviour</c:v>
                </c:pt>
                <c:pt idx="9">
                  <c:v>Interest_Rate × Outstanding_Debt</c:v>
                </c:pt>
              </c:strCache>
            </c:strRef>
          </c:cat>
          <c:val>
            <c:numRef>
              <c:f>Sheet1!$B$2:$B$11</c:f>
              <c:numCache>
                <c:formatCode>General</c:formatCode>
                <c:ptCount val="10"/>
                <c:pt idx="0">
                  <c:v>0.0340812</c:v>
                </c:pt>
                <c:pt idx="1">
                  <c:v>0.035962857</c:v>
                </c:pt>
                <c:pt idx="2">
                  <c:v>0.036892228</c:v>
                </c:pt>
                <c:pt idx="3">
                  <c:v>0.039685626</c:v>
                </c:pt>
                <c:pt idx="4">
                  <c:v>0.040297292</c:v>
                </c:pt>
                <c:pt idx="5">
                  <c:v>0.043091387</c:v>
                </c:pt>
                <c:pt idx="6">
                  <c:v>0.044033147</c:v>
                </c:pt>
                <c:pt idx="7">
                  <c:v>0.045327004</c:v>
                </c:pt>
                <c:pt idx="8">
                  <c:v>0.074107826</c:v>
                </c:pt>
                <c:pt idx="9">
                  <c:v>0.14590508</c:v>
                </c:pt>
              </c:numCache>
            </c:numRef>
          </c:val>
        </c:ser>
        <c:dLbls>
          <c:numFmt formatCode="0%" sourceLinked="0"/>
          <c:txPr>
            <a:bodyPr/>
            <a:lstStyle/>
            <a:p>
              <a:pPr>
                <a:defRPr sz="10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8CCD2"/>
            </a:solidFill>
          </a:ln>
        </c:spPr>
        <c:txPr>
          <a:bodyPr/>
          <a:lstStyle/>
          <a:p>
            <a:pPr>
              <a:defRPr sz="1000"/>
            </a:pPr>
          </a:p>
        </c:txPr>
        <c:crossAx val="-2113994440"/>
        <c:crosses val="autoZero"/>
        <c:auto val="1"/>
        <c:lblAlgn val="ctr"/>
        <c:lblOffset val="100"/>
        <c:noMultiLvlLbl val="0"/>
      </c:catAx>
      <c:valAx>
        <c:axId val="-2113994440"/>
        <c:scaling/>
        <c:delete val="0"/>
        <c:axPos val="b"/>
        <c:majorGridlines>
          <c:spPr>
            <a:ln>
              <a:solidFill>
                <a:srgbClr val="E4E3DF"/>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5B647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4213D"/>
                </a:solidFill>
                <a:latin typeface="Calibri"/>
              </a:rPr>
              <a:t>Champion outcomes on OOT (threshold 0.29)</a:t>
            </a:r>
          </a:p>
        </c:rich>
      </c:tx>
      <c:layout/>
      <c:overlay val="0"/>
    </c:title>
    <c:autoTitleDeleted val="0"/>
    <c:plotArea>
      <c:barChart>
        <c:barDir val="col"/>
        <c:grouping val="clustered"/>
        <c:ser>
          <c:idx val="0"/>
          <c:order val="0"/>
          <c:tx>
            <c:strRef>
              <c:f>Sheet1!$B$1</c:f>
              <c:strCache>
                <c:ptCount val="1"/>
                <c:pt idx="0">
                  <c:v>OOT loans</c:v>
                </c:pt>
              </c:strCache>
            </c:strRef>
          </c:tx>
          <c:spPr>
            <a:solidFill>
              <a:srgbClr val="2A78D6"/>
            </a:solidFill>
          </c:spPr>
          <c:dPt>
            <c:idx val="0"/>
            <c:spPr>
              <a:solidFill>
                <a:srgbClr val="E34948"/>
              </a:solidFill>
            </c:spPr>
          </c:dPt>
          <c:dPt>
            <c:idx val="1"/>
            <c:spPr>
              <a:solidFill>
                <a:srgbClr val="EB6834"/>
              </a:solidFill>
            </c:spPr>
          </c:dPt>
          <c:dPt>
            <c:idx val="2"/>
            <c:spPr>
              <a:solidFill>
                <a:srgbClr val="EDA100"/>
              </a:solidFill>
            </c:spPr>
          </c:dPt>
          <c:dPt>
            <c:idx val="3"/>
            <c:spPr>
              <a:solidFill>
                <a:srgbClr val="2A78D6"/>
              </a:solidFill>
            </c:spPr>
          </c:dPt>
          <c:cat>
            <c:strRef>
              <c:f>Sheet1!$A$2:$A$5</c:f>
              <c:strCache>
                <c:ptCount val="4"/>
                <c:pt idx="0">
                  <c:v>caught defaulter</c:v>
                </c:pt>
                <c:pt idx="1">
                  <c:v>missed defaulter</c:v>
                </c:pt>
                <c:pt idx="2">
                  <c:v>false alarm</c:v>
                </c:pt>
                <c:pt idx="3">
                  <c:v>correct good loan</c:v>
                </c:pt>
              </c:strCache>
            </c:strRef>
          </c:cat>
          <c:val>
            <c:numRef>
              <c:f>Sheet1!$B$2:$B$5</c:f>
              <c:numCache>
                <c:formatCode>General</c:formatCode>
                <c:ptCount val="4"/>
                <c:pt idx="0">
                  <c:v>707</c:v>
                </c:pt>
                <c:pt idx="1">
                  <c:v>304</c:v>
                </c:pt>
                <c:pt idx="2">
                  <c:v>522</c:v>
                </c:pt>
                <c:pt idx="3">
                  <c:v>1993</c:v>
                </c:pt>
              </c:numCache>
            </c:numRef>
          </c:val>
        </c:ser>
        <c:dLbls>
          <c:numFmt formatCode="#,##0" sourceLinked="0"/>
          <c:txPr>
            <a:bodyPr/>
            <a:lstStyle/>
            <a:p>
              <a:pPr>
                <a:defRPr sz="1100">
                  <a:solidFill>
                    <a:srgbClr val="1F293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8CCD2"/>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4E3DF"/>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100">
          <a:solidFill>
            <a:srgbClr val="5B647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continues the data and feature pipeline deck (steps 01-23). It covers how the model was chosen how far we can trust it, and how it runs in production: steps 24-36 of the V6.6 checklist.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stages, each with a recorded decision. Headline: the champion scores PR-AUC 0.619 on loans from a later period it never saw, 0.077 better than the baseline, and passes all stress tests.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Fixing the metric, folds and improvement rule before seeing any candidate prevents choosing the metric that flatters the result. The 5:1 cost assumption was removed because there was no business basis for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LR, random forest and XGBoost on four feature sets: A without clickstream, B with clickstream, raw or with OpenFE features. Same folds, same preprocessing refit inside every fold. LR on A_raw reproduces the baseline exactly, which proves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chart: editable in PowerPoint. LR gains most from clickstream (+0.05) because it cannot build interactions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 was tied with XGB (0.632 vs 0.633) but is 8x slower to score, larger, and has no built-in SHAP; it is recorded as an equivalent alternative. A is the champion because it can be fed and verified on new loans.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is flat between thresholds 0.2 and 0.4, so the exact choice is not fragile (step 32 confirms on OOT). Probabilities are well calibrated (mean predicted 0.28 vs actual 0.29), so the model was not reweighted.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 same period, never used. OOT = 3,526 loans that started after every training loan. Both CIs exclude zero, so the improvement over the baseline is real, not noise.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Month-level PR-AUC moves with sample size (~500 loans per month). The point is that there is no downward trend after the training period.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29% minority is mild; weighting usually matters below ~5%. We tested it rather than skipping the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default rate is 0.29. Balanced weighting pushes the average predicted probability to 0.39 for XGB and 0.45 for LR, so the probabilities would no longer mean 'chance of default'.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(XGBoost built-in TreeSHAP) explains how much each feature pushes each prediction; summed back from one-hot columns to the original features. Permutation importance measures how much CV PR-AUC drops when a feature is shuffled. Names: × multiply, ÷ divide, − subtract (OpenFE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Beeswarm of the step-27 SHAP values for model A (66-feature version; the final 30-feature model has the same leading drivers, see the SHAP importance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step-shaped dependence suggests the data was generated with thresholds, which explains why tree models win by ~0.06 PR-AUC.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validation loans chosen by predicted risk only (labels not used): highest, median and lowest.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Fewer features = fewer data feeds that can break, simpler explanations, often better stability. The override is documented as chosen after seeing validation, so validation is not untouched for model 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 is not used by the champion, which is also helpful for fairness.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fixed from step 28 (A: 30, B: 25). No class weighting (step 26).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defaults is a valid outcome: it avoids overfitting the folds through 60 attempts.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profile chart: median value of each outcome group on the top features, as a percentile of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Segments flagged when n &gt;= 100 and ROC-AUC is more than 0.05 below overall, or calibration gap &gt; 5 points.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noise costs 0.004 PR-AUC; 10% random missing costs 0.013; even 30% missing (0.572) stays above the clean baseline (0.542). The critical single input is Interest_Rate x Outstanding_Debt (-0.042 if lost), so the interest-rate and outstanding-debt fields are the first to monitor.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Retraining with different random seeds barely changes the model; the threshold is not on a knife edge.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Registry is a local SQLite store. Aliases decouple the deployed model from the code: inference always asks for @champion.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month: Gold features of the loans starting that month, OpenFE formulas recomputed row by row (nothing fitted, no labels), model loaded by alias, threshold from the registry tag, three SHAP reason codes per loan.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PSI = population stability index: how far a month's distribution of a feature has moved from training. Reference bins and validation metrics are frozen at training time (monitoring_reference.json).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score drift known at scoring. Middle: share flagged stays inside the validation band. Right: performance appears 6 months later, when the month-6 labels arrive.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illustration of why monitoring includes data quality, not only model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consecutive months because a single month has ~500 loans and its PR-AUC moves several points from sampling alone. Full SOP: output_data/Model_Governance_and_Refresh_SOP.md.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inference resolves the alias at run time, promotion and rollback need no new image and no code change.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fresh setup, unpause all three DAGs: data back-fills month by month, training runs at 2025-07 once its data exists and registers @champion, then inference scores and monitors each month in order.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that splitting the pipeline into monthly Airflow tasks did not change any result.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six takeaways and the watch items carried into monitoring.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image" Target="../media/image13.png"/><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463040"/>
            <a:ext cx="10515600" cy="457200"/>
          </a:xfrm>
          <a:prstGeom prst="rect">
            <a:avLst/>
          </a:prstGeom>
          <a:noFill/>
        </p:spPr>
        <p:txBody>
          <a:bodyPr wrap="square" anchor="t" lIns="36576" rIns="36576" tIns="18288" bIns="18288">
            <a:spAutoFit/>
          </a:bodyPr>
          <a:lstStyle/>
          <a:p>
            <a:pPr algn="l"/>
            <a:r>
              <a:rPr sz="1600" b="1" i="0">
                <a:solidFill>
                  <a:srgbClr val="CADCFC"/>
                </a:solidFill>
                <a:latin typeface="Calibri"/>
              </a:rPr>
              <a:t>CS611 · ASSIGNMENT 2 · ML PIPELINE</a:t>
            </a:r>
          </a:p>
        </p:txBody>
      </p:sp>
      <p:sp>
        <p:nvSpPr>
          <p:cNvPr id="3" name="TextBox 2"/>
          <p:cNvSpPr txBox="1"/>
          <p:nvPr/>
        </p:nvSpPr>
        <p:spPr>
          <a:xfrm>
            <a:off x="822960" y="2011680"/>
            <a:ext cx="10607040" cy="1463040"/>
          </a:xfrm>
          <a:prstGeom prst="rect">
            <a:avLst/>
          </a:prstGeom>
          <a:noFill/>
        </p:spPr>
        <p:txBody>
          <a:bodyPr wrap="square" anchor="t" lIns="36576" rIns="36576" tIns="18288" bIns="18288">
            <a:spAutoFit/>
          </a:bodyPr>
          <a:lstStyle/>
          <a:p>
            <a:pPr algn="l"/>
            <a:r>
              <a:rPr sz="4000" b="1" i="0">
                <a:solidFill>
                  <a:srgbClr val="FFFFFF"/>
                </a:solidFill>
                <a:latin typeface="Cambria"/>
              </a:rPr>
              <a:t>Loan default prediction: choosing, testing and stress-testing the model</a:t>
            </a:r>
          </a:p>
        </p:txBody>
      </p:sp>
      <p:sp>
        <p:nvSpPr>
          <p:cNvPr id="4" name="TextBox 3"/>
          <p:cNvSpPr txBox="1"/>
          <p:nvPr/>
        </p:nvSpPr>
        <p:spPr>
          <a:xfrm>
            <a:off x="822960" y="3749039"/>
            <a:ext cx="10515600" cy="822960"/>
          </a:xfrm>
          <a:prstGeom prst="rect">
            <a:avLst/>
          </a:prstGeom>
          <a:noFill/>
        </p:spPr>
        <p:txBody>
          <a:bodyPr wrap="square" anchor="t" lIns="36576" rIns="36576" tIns="18288" bIns="18288">
            <a:spAutoFit/>
          </a:bodyPr>
          <a:lstStyle/>
          <a:p>
            <a:pPr algn="l"/>
            <a:r>
              <a:rPr sz="1800" b="0" i="0">
                <a:solidFill>
                  <a:srgbClr val="CADCFC"/>
                </a:solidFill>
                <a:latin typeface="Calibri"/>
              </a:rPr>
              <a:t>Model selection · imbalance treatment · feature importance and selection · hyperparameter tuning · error and robustness analysis · deployment and operations
Checklist V6.6, steps 24–36 · scikit-learn · XGBoost · SHAP · Optuna · MLflow</a:t>
            </a:r>
          </a:p>
        </p:txBody>
      </p:sp>
      <p:sp>
        <p:nvSpPr>
          <p:cNvPr id="5" name="TextBox 4"/>
          <p:cNvSpPr txBox="1"/>
          <p:nvPr/>
        </p:nvSpPr>
        <p:spPr>
          <a:xfrm>
            <a:off x="822960" y="5120640"/>
            <a:ext cx="5486400" cy="365760"/>
          </a:xfrm>
          <a:prstGeom prst="rect">
            <a:avLst/>
          </a:prstGeom>
          <a:noFill/>
        </p:spPr>
        <p:txBody>
          <a:bodyPr wrap="square" anchor="t" lIns="36576" rIns="36576" tIns="18288" bIns="18288">
            <a:spAutoFit/>
          </a:bodyPr>
          <a:lstStyle/>
          <a:p>
            <a:pPr algn="l"/>
            <a:r>
              <a:rPr sz="1400" b="0" i="0">
                <a:solidFill>
                  <a:srgbClr val="CADCFC"/>
                </a:solidFill>
                <a:latin typeface="Calibri"/>
              </a:rPr>
              <a:t>October 2026</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The ML pipeline at a glance</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a:t>
            </a:r>
          </a:p>
        </p:txBody>
      </p:sp>
      <p:sp>
        <p:nvSpPr>
          <p:cNvPr id="5" name="Rounded Rectangle 4"/>
          <p:cNvSpPr/>
          <p:nvPr/>
        </p:nvSpPr>
        <p:spPr>
          <a:xfrm>
            <a:off x="548640" y="1371600"/>
            <a:ext cx="1261872" cy="16002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24</a:t>
            </a:r>
          </a:p>
        </p:txBody>
      </p:sp>
      <p:sp>
        <p:nvSpPr>
          <p:cNvPr id="7" name="TextBox 6"/>
          <p:cNvSpPr txBox="1"/>
          <p:nvPr/>
        </p:nvSpPr>
        <p:spPr>
          <a:xfrm>
            <a:off x="640080"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Baseline</a:t>
            </a:r>
          </a:p>
        </p:txBody>
      </p:sp>
      <p:sp>
        <p:nvSpPr>
          <p:cNvPr id="8" name="TextBox 7"/>
          <p:cNvSpPr txBox="1"/>
          <p:nvPr/>
        </p:nvSpPr>
        <p:spPr>
          <a:xfrm>
            <a:off x="640080"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metric contract fixed</a:t>
            </a:r>
          </a:p>
        </p:txBody>
      </p:sp>
      <p:cxnSp>
        <p:nvCxnSpPr>
          <p:cNvPr id="9" name="Connector 8"/>
          <p:cNvCxnSpPr/>
          <p:nvPr/>
        </p:nvCxnSpPr>
        <p:spPr>
          <a:xfrm>
            <a:off x="1819655" y="2167128"/>
            <a:ext cx="118873"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947672" y="1371600"/>
            <a:ext cx="1261872" cy="160020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39112"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25</a:t>
            </a:r>
          </a:p>
        </p:txBody>
      </p:sp>
      <p:sp>
        <p:nvSpPr>
          <p:cNvPr id="12" name="TextBox 11"/>
          <p:cNvSpPr txBox="1"/>
          <p:nvPr/>
        </p:nvSpPr>
        <p:spPr>
          <a:xfrm>
            <a:off x="2039112"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Candidates</a:t>
            </a:r>
          </a:p>
        </p:txBody>
      </p:sp>
      <p:sp>
        <p:nvSpPr>
          <p:cNvPr id="13" name="TextBox 12"/>
          <p:cNvSpPr txBox="1"/>
          <p:nvPr/>
        </p:nvSpPr>
        <p:spPr>
          <a:xfrm>
            <a:off x="2039112"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3 algorithms × 4 sets</a:t>
            </a:r>
          </a:p>
        </p:txBody>
      </p:sp>
      <p:cxnSp>
        <p:nvCxnSpPr>
          <p:cNvPr id="14" name="Connector 13"/>
          <p:cNvCxnSpPr/>
          <p:nvPr/>
        </p:nvCxnSpPr>
        <p:spPr>
          <a:xfrm>
            <a:off x="3218687" y="2167128"/>
            <a:ext cx="118873"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46704" y="1371600"/>
            <a:ext cx="1261872" cy="16002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8144"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26</a:t>
            </a:r>
          </a:p>
        </p:txBody>
      </p:sp>
      <p:sp>
        <p:nvSpPr>
          <p:cNvPr id="17" name="TextBox 16"/>
          <p:cNvSpPr txBox="1"/>
          <p:nvPr/>
        </p:nvSpPr>
        <p:spPr>
          <a:xfrm>
            <a:off x="3438144"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Imbalance</a:t>
            </a:r>
          </a:p>
        </p:txBody>
      </p:sp>
      <p:sp>
        <p:nvSpPr>
          <p:cNvPr id="18" name="TextBox 17"/>
          <p:cNvSpPr txBox="1"/>
          <p:nvPr/>
        </p:nvSpPr>
        <p:spPr>
          <a:xfrm>
            <a:off x="3438144"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weighting tested</a:t>
            </a:r>
          </a:p>
        </p:txBody>
      </p:sp>
      <p:cxnSp>
        <p:nvCxnSpPr>
          <p:cNvPr id="19" name="Connector 18"/>
          <p:cNvCxnSpPr/>
          <p:nvPr/>
        </p:nvCxnSpPr>
        <p:spPr>
          <a:xfrm>
            <a:off x="4617720" y="2167128"/>
            <a:ext cx="118872"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745736" y="1371600"/>
            <a:ext cx="1261872" cy="160020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37175"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27–28</a:t>
            </a:r>
          </a:p>
        </p:txBody>
      </p:sp>
      <p:sp>
        <p:nvSpPr>
          <p:cNvPr id="22" name="TextBox 21"/>
          <p:cNvSpPr txBox="1"/>
          <p:nvPr/>
        </p:nvSpPr>
        <p:spPr>
          <a:xfrm>
            <a:off x="4837175"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Features</a:t>
            </a:r>
          </a:p>
        </p:txBody>
      </p:sp>
      <p:sp>
        <p:nvSpPr>
          <p:cNvPr id="23" name="TextBox 22"/>
          <p:cNvSpPr txBox="1"/>
          <p:nvPr/>
        </p:nvSpPr>
        <p:spPr>
          <a:xfrm>
            <a:off x="4837175"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SHAP, 1-SE reduction</a:t>
            </a:r>
          </a:p>
        </p:txBody>
      </p:sp>
      <p:cxnSp>
        <p:nvCxnSpPr>
          <p:cNvPr id="24" name="Connector 23"/>
          <p:cNvCxnSpPr/>
          <p:nvPr/>
        </p:nvCxnSpPr>
        <p:spPr>
          <a:xfrm>
            <a:off x="6016751" y="2167128"/>
            <a:ext cx="118872"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44768" y="1371600"/>
            <a:ext cx="1261872" cy="16002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6207"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29</a:t>
            </a:r>
          </a:p>
        </p:txBody>
      </p:sp>
      <p:sp>
        <p:nvSpPr>
          <p:cNvPr id="27" name="TextBox 26"/>
          <p:cNvSpPr txBox="1"/>
          <p:nvPr/>
        </p:nvSpPr>
        <p:spPr>
          <a:xfrm>
            <a:off x="6236207"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Tuning</a:t>
            </a:r>
          </a:p>
        </p:txBody>
      </p:sp>
      <p:sp>
        <p:nvSpPr>
          <p:cNvPr id="28" name="TextBox 27"/>
          <p:cNvSpPr txBox="1"/>
          <p:nvPr/>
        </p:nvSpPr>
        <p:spPr>
          <a:xfrm>
            <a:off x="6236207"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Optuna, 60 trials</a:t>
            </a:r>
          </a:p>
        </p:txBody>
      </p:sp>
      <p:cxnSp>
        <p:nvCxnSpPr>
          <p:cNvPr id="29" name="Connector 28"/>
          <p:cNvCxnSpPr/>
          <p:nvPr/>
        </p:nvCxnSpPr>
        <p:spPr>
          <a:xfrm>
            <a:off x="7415783" y="2167128"/>
            <a:ext cx="118873"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543800" y="1371600"/>
            <a:ext cx="1261872" cy="160020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35240"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30–31</a:t>
            </a:r>
          </a:p>
        </p:txBody>
      </p:sp>
      <p:sp>
        <p:nvSpPr>
          <p:cNvPr id="32" name="TextBox 31"/>
          <p:cNvSpPr txBox="1"/>
          <p:nvPr/>
        </p:nvSpPr>
        <p:spPr>
          <a:xfrm>
            <a:off x="7635240"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Select + test</a:t>
            </a:r>
          </a:p>
        </p:txBody>
      </p:sp>
      <p:sp>
        <p:nvSpPr>
          <p:cNvPr id="33" name="TextBox 32"/>
          <p:cNvSpPr txBox="1"/>
          <p:nvPr/>
        </p:nvSpPr>
        <p:spPr>
          <a:xfrm>
            <a:off x="7635240"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sign-off, test + OOT</a:t>
            </a:r>
          </a:p>
        </p:txBody>
      </p:sp>
      <p:cxnSp>
        <p:nvCxnSpPr>
          <p:cNvPr id="34" name="Connector 33"/>
          <p:cNvCxnSpPr/>
          <p:nvPr/>
        </p:nvCxnSpPr>
        <p:spPr>
          <a:xfrm>
            <a:off x="8814816" y="2167128"/>
            <a:ext cx="118872"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42832" y="1371600"/>
            <a:ext cx="1261872" cy="16002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34272"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32</a:t>
            </a:r>
          </a:p>
        </p:txBody>
      </p:sp>
      <p:sp>
        <p:nvSpPr>
          <p:cNvPr id="37" name="TextBox 36"/>
          <p:cNvSpPr txBox="1"/>
          <p:nvPr/>
        </p:nvSpPr>
        <p:spPr>
          <a:xfrm>
            <a:off x="9034272"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Robustness</a:t>
            </a:r>
          </a:p>
        </p:txBody>
      </p:sp>
      <p:sp>
        <p:nvSpPr>
          <p:cNvPr id="38" name="TextBox 37"/>
          <p:cNvSpPr txBox="1"/>
          <p:nvPr/>
        </p:nvSpPr>
        <p:spPr>
          <a:xfrm>
            <a:off x="9034272"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errors, stress tests</a:t>
            </a:r>
          </a:p>
        </p:txBody>
      </p:sp>
      <p:cxnSp>
        <p:nvCxnSpPr>
          <p:cNvPr id="39" name="Connector 38"/>
          <p:cNvCxnSpPr/>
          <p:nvPr/>
        </p:nvCxnSpPr>
        <p:spPr>
          <a:xfrm>
            <a:off x="10213848" y="2167128"/>
            <a:ext cx="118871" cy="0"/>
          </a:xfrm>
          <a:prstGeom prst="line">
            <a:avLst/>
          </a:prstGeom>
          <a:ln w="25400">
            <a:solidFill>
              <a:srgbClr val="2A78D6"/>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0341864" y="1371600"/>
            <a:ext cx="1261872" cy="160020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33304" y="1444752"/>
            <a:ext cx="1097280" cy="274320"/>
          </a:xfrm>
          <a:prstGeom prst="rect">
            <a:avLst/>
          </a:prstGeom>
          <a:noFill/>
        </p:spPr>
        <p:txBody>
          <a:bodyPr wrap="square" anchor="t" lIns="36576" rIns="36576" tIns="18288" bIns="18288">
            <a:spAutoFit/>
          </a:bodyPr>
          <a:lstStyle/>
          <a:p>
            <a:pPr algn="l"/>
            <a:r>
              <a:rPr sz="1000" b="1" i="0">
                <a:solidFill>
                  <a:srgbClr val="2A78D6"/>
                </a:solidFill>
                <a:latin typeface="Calibri"/>
              </a:rPr>
              <a:t>STEP 33–36</a:t>
            </a:r>
          </a:p>
        </p:txBody>
      </p:sp>
      <p:sp>
        <p:nvSpPr>
          <p:cNvPr id="42" name="TextBox 41"/>
          <p:cNvSpPr txBox="1"/>
          <p:nvPr/>
        </p:nvSpPr>
        <p:spPr>
          <a:xfrm>
            <a:off x="10433304" y="1719072"/>
            <a:ext cx="1097280" cy="457200"/>
          </a:xfrm>
          <a:prstGeom prst="rect">
            <a:avLst/>
          </a:prstGeom>
          <a:noFill/>
        </p:spPr>
        <p:txBody>
          <a:bodyPr wrap="square" anchor="t" lIns="36576" rIns="36576" tIns="18288" bIns="18288">
            <a:spAutoFit/>
          </a:bodyPr>
          <a:lstStyle/>
          <a:p>
            <a:pPr algn="l"/>
            <a:r>
              <a:rPr sz="1500" b="1" i="0">
                <a:solidFill>
                  <a:srgbClr val="14213D"/>
                </a:solidFill>
                <a:latin typeface="Cambria"/>
              </a:rPr>
              <a:t>Deploy + operate</a:t>
            </a:r>
          </a:p>
        </p:txBody>
      </p:sp>
      <p:sp>
        <p:nvSpPr>
          <p:cNvPr id="43" name="TextBox 42"/>
          <p:cNvSpPr txBox="1"/>
          <p:nvPr/>
        </p:nvSpPr>
        <p:spPr>
          <a:xfrm>
            <a:off x="10433304" y="2240280"/>
            <a:ext cx="1097280" cy="685800"/>
          </a:xfrm>
          <a:prstGeom prst="rect">
            <a:avLst/>
          </a:prstGeom>
          <a:noFill/>
        </p:spPr>
        <p:txBody>
          <a:bodyPr wrap="square" anchor="t" lIns="36576" rIns="36576" tIns="18288" bIns="18288">
            <a:spAutoFit/>
          </a:bodyPr>
          <a:lstStyle/>
          <a:p>
            <a:pPr algn="l"/>
            <a:r>
              <a:rPr sz="1100" b="0" i="0">
                <a:solidFill>
                  <a:srgbClr val="1F2937"/>
                </a:solidFill>
                <a:latin typeface="Calibri"/>
              </a:rPr>
              <a:t>registry, scoring, monitoring, Airflow</a:t>
            </a:r>
          </a:p>
        </p:txBody>
      </p:sp>
      <p:sp>
        <p:nvSpPr>
          <p:cNvPr id="44" name="Rounded Rectangle 43"/>
          <p:cNvSpPr/>
          <p:nvPr/>
        </p:nvSpPr>
        <p:spPr>
          <a:xfrm>
            <a:off x="548640" y="3337560"/>
            <a:ext cx="1737360" cy="1280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3429000"/>
            <a:ext cx="1463039" cy="640080"/>
          </a:xfrm>
          <a:prstGeom prst="rect">
            <a:avLst/>
          </a:prstGeom>
          <a:noFill/>
        </p:spPr>
        <p:txBody>
          <a:bodyPr wrap="square" anchor="t" lIns="36576" rIns="36576" tIns="18288" bIns="18288">
            <a:spAutoFit/>
          </a:bodyPr>
          <a:lstStyle/>
          <a:p>
            <a:pPr algn="l"/>
            <a:r>
              <a:rPr sz="3200" b="1" i="0">
                <a:solidFill>
                  <a:srgbClr val="14213D"/>
                </a:solidFill>
                <a:latin typeface="Cambria"/>
              </a:rPr>
              <a:t>12</a:t>
            </a:r>
          </a:p>
        </p:txBody>
      </p:sp>
      <p:sp>
        <p:nvSpPr>
          <p:cNvPr id="46" name="TextBox 45"/>
          <p:cNvSpPr txBox="1"/>
          <p:nvPr/>
        </p:nvSpPr>
        <p:spPr>
          <a:xfrm>
            <a:off x="685800" y="4050791"/>
            <a:ext cx="1463039" cy="530352"/>
          </a:xfrm>
          <a:prstGeom prst="rect">
            <a:avLst/>
          </a:prstGeom>
          <a:noFill/>
        </p:spPr>
        <p:txBody>
          <a:bodyPr wrap="square" anchor="t" lIns="36576" rIns="36576" tIns="18288" bIns="18288">
            <a:spAutoFit/>
          </a:bodyPr>
          <a:lstStyle/>
          <a:p>
            <a:pPr algn="l"/>
            <a:r>
              <a:rPr sz="1200" b="0" i="0">
                <a:solidFill>
                  <a:srgbClr val="5B6472"/>
                </a:solidFill>
                <a:latin typeface="Calibri"/>
              </a:rPr>
              <a:t>candidate models compared on identical folds</a:t>
            </a:r>
          </a:p>
        </p:txBody>
      </p:sp>
      <p:sp>
        <p:nvSpPr>
          <p:cNvPr id="47" name="Rounded Rectangle 46"/>
          <p:cNvSpPr/>
          <p:nvPr/>
        </p:nvSpPr>
        <p:spPr>
          <a:xfrm>
            <a:off x="2450592" y="3337560"/>
            <a:ext cx="1737360" cy="1280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87752" y="3429000"/>
            <a:ext cx="1463039" cy="640080"/>
          </a:xfrm>
          <a:prstGeom prst="rect">
            <a:avLst/>
          </a:prstGeom>
          <a:noFill/>
        </p:spPr>
        <p:txBody>
          <a:bodyPr wrap="square" anchor="t" lIns="36576" rIns="36576" tIns="18288" bIns="18288">
            <a:spAutoFit/>
          </a:bodyPr>
          <a:lstStyle/>
          <a:p>
            <a:pPr algn="l"/>
            <a:r>
              <a:rPr sz="3200" b="1" i="0">
                <a:solidFill>
                  <a:srgbClr val="1BAF7A"/>
                </a:solidFill>
                <a:latin typeface="Cambria"/>
              </a:rPr>
              <a:t>0.619</a:t>
            </a:r>
          </a:p>
        </p:txBody>
      </p:sp>
      <p:sp>
        <p:nvSpPr>
          <p:cNvPr id="49" name="TextBox 48"/>
          <p:cNvSpPr txBox="1"/>
          <p:nvPr/>
        </p:nvSpPr>
        <p:spPr>
          <a:xfrm>
            <a:off x="2587752" y="4050791"/>
            <a:ext cx="1463039" cy="530352"/>
          </a:xfrm>
          <a:prstGeom prst="rect">
            <a:avLst/>
          </a:prstGeom>
          <a:noFill/>
        </p:spPr>
        <p:txBody>
          <a:bodyPr wrap="square" anchor="t" lIns="36576" rIns="36576" tIns="18288" bIns="18288">
            <a:spAutoFit/>
          </a:bodyPr>
          <a:lstStyle/>
          <a:p>
            <a:pPr algn="l"/>
            <a:r>
              <a:rPr sz="1200" b="0" i="0">
                <a:solidFill>
                  <a:srgbClr val="5B6472"/>
                </a:solidFill>
                <a:latin typeface="Calibri"/>
              </a:rPr>
              <a:t>champion PR-AUC on later loans (OOT)</a:t>
            </a:r>
          </a:p>
        </p:txBody>
      </p:sp>
      <p:sp>
        <p:nvSpPr>
          <p:cNvPr id="50" name="Rounded Rectangle 49"/>
          <p:cNvSpPr/>
          <p:nvPr/>
        </p:nvSpPr>
        <p:spPr>
          <a:xfrm>
            <a:off x="4352544" y="3337560"/>
            <a:ext cx="1737360" cy="1280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89704" y="3429000"/>
            <a:ext cx="1463039" cy="640080"/>
          </a:xfrm>
          <a:prstGeom prst="rect">
            <a:avLst/>
          </a:prstGeom>
          <a:noFill/>
        </p:spPr>
        <p:txBody>
          <a:bodyPr wrap="square" anchor="t" lIns="36576" rIns="36576" tIns="18288" bIns="18288">
            <a:spAutoFit/>
          </a:bodyPr>
          <a:lstStyle/>
          <a:p>
            <a:pPr algn="l"/>
            <a:r>
              <a:rPr sz="3200" b="1" i="0">
                <a:solidFill>
                  <a:srgbClr val="1BAF7A"/>
                </a:solidFill>
                <a:latin typeface="Cambria"/>
              </a:rPr>
              <a:t>+0.077</a:t>
            </a:r>
          </a:p>
        </p:txBody>
      </p:sp>
      <p:sp>
        <p:nvSpPr>
          <p:cNvPr id="52" name="TextBox 51"/>
          <p:cNvSpPr txBox="1"/>
          <p:nvPr/>
        </p:nvSpPr>
        <p:spPr>
          <a:xfrm>
            <a:off x="4489704" y="4050791"/>
            <a:ext cx="1463039" cy="530352"/>
          </a:xfrm>
          <a:prstGeom prst="rect">
            <a:avLst/>
          </a:prstGeom>
          <a:noFill/>
        </p:spPr>
        <p:txBody>
          <a:bodyPr wrap="square" anchor="t" lIns="36576" rIns="36576" tIns="18288" bIns="18288">
            <a:spAutoFit/>
          </a:bodyPr>
          <a:lstStyle/>
          <a:p>
            <a:pPr algn="l"/>
            <a:r>
              <a:rPr sz="1200" b="0" i="0">
                <a:solidFill>
                  <a:srgbClr val="5B6472"/>
                </a:solidFill>
                <a:latin typeface="Calibri"/>
              </a:rPr>
              <a:t>over the logistic baseline on OOT</a:t>
            </a:r>
          </a:p>
        </p:txBody>
      </p:sp>
      <p:sp>
        <p:nvSpPr>
          <p:cNvPr id="53" name="Rounded Rectangle 52"/>
          <p:cNvSpPr/>
          <p:nvPr/>
        </p:nvSpPr>
        <p:spPr>
          <a:xfrm>
            <a:off x="6254496" y="3337560"/>
            <a:ext cx="1737360" cy="1280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91656" y="3429000"/>
            <a:ext cx="1463039" cy="640080"/>
          </a:xfrm>
          <a:prstGeom prst="rect">
            <a:avLst/>
          </a:prstGeom>
          <a:noFill/>
        </p:spPr>
        <p:txBody>
          <a:bodyPr wrap="square" anchor="t" lIns="36576" rIns="36576" tIns="18288" bIns="18288">
            <a:spAutoFit/>
          </a:bodyPr>
          <a:lstStyle/>
          <a:p>
            <a:pPr algn="l"/>
            <a:r>
              <a:rPr sz="3200" b="1" i="0">
                <a:solidFill>
                  <a:srgbClr val="14213D"/>
                </a:solidFill>
                <a:latin typeface="Cambria"/>
              </a:rPr>
              <a:t>70%</a:t>
            </a:r>
          </a:p>
        </p:txBody>
      </p:sp>
      <p:sp>
        <p:nvSpPr>
          <p:cNvPr id="55" name="TextBox 54"/>
          <p:cNvSpPr txBox="1"/>
          <p:nvPr/>
        </p:nvSpPr>
        <p:spPr>
          <a:xfrm>
            <a:off x="6391656" y="4050791"/>
            <a:ext cx="1463039" cy="530352"/>
          </a:xfrm>
          <a:prstGeom prst="rect">
            <a:avLst/>
          </a:prstGeom>
          <a:noFill/>
        </p:spPr>
        <p:txBody>
          <a:bodyPr wrap="square" anchor="t" lIns="36576" rIns="36576" tIns="18288" bIns="18288">
            <a:spAutoFit/>
          </a:bodyPr>
          <a:lstStyle/>
          <a:p>
            <a:pPr algn="l"/>
            <a:r>
              <a:rPr sz="1200" b="0" i="0">
                <a:solidFill>
                  <a:srgbClr val="5B6472"/>
                </a:solidFill>
                <a:latin typeface="Calibri"/>
              </a:rPr>
              <a:t>of OOT defaulters caught</a:t>
            </a:r>
          </a:p>
        </p:txBody>
      </p:sp>
      <p:sp>
        <p:nvSpPr>
          <p:cNvPr id="56" name="Rounded Rectangle 55"/>
          <p:cNvSpPr/>
          <p:nvPr/>
        </p:nvSpPr>
        <p:spPr>
          <a:xfrm>
            <a:off x="8156448" y="3337560"/>
            <a:ext cx="1737360" cy="1280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93608" y="3429000"/>
            <a:ext cx="1463039" cy="640080"/>
          </a:xfrm>
          <a:prstGeom prst="rect">
            <a:avLst/>
          </a:prstGeom>
          <a:noFill/>
        </p:spPr>
        <p:txBody>
          <a:bodyPr wrap="square" anchor="t" lIns="36576" rIns="36576" tIns="18288" bIns="18288">
            <a:spAutoFit/>
          </a:bodyPr>
          <a:lstStyle/>
          <a:p>
            <a:pPr algn="l"/>
            <a:r>
              <a:rPr sz="3200" b="1" i="0">
                <a:solidFill>
                  <a:srgbClr val="14213D"/>
                </a:solidFill>
                <a:latin typeface="Cambria"/>
              </a:rPr>
              <a:t>8/8</a:t>
            </a:r>
          </a:p>
        </p:txBody>
      </p:sp>
      <p:sp>
        <p:nvSpPr>
          <p:cNvPr id="58" name="TextBox 57"/>
          <p:cNvSpPr txBox="1"/>
          <p:nvPr/>
        </p:nvSpPr>
        <p:spPr>
          <a:xfrm>
            <a:off x="8293608" y="4050791"/>
            <a:ext cx="1463039" cy="530352"/>
          </a:xfrm>
          <a:prstGeom prst="rect">
            <a:avLst/>
          </a:prstGeom>
          <a:noFill/>
        </p:spPr>
        <p:txBody>
          <a:bodyPr wrap="square" anchor="t" lIns="36576" rIns="36576" tIns="18288" bIns="18288">
            <a:spAutoFit/>
          </a:bodyPr>
          <a:lstStyle/>
          <a:p>
            <a:pPr algn="l"/>
            <a:r>
              <a:rPr sz="1200" b="0" i="0">
                <a:solidFill>
                  <a:srgbClr val="5B6472"/>
                </a:solidFill>
                <a:latin typeface="Calibri"/>
              </a:rPr>
              <a:t>stress tests passed</a:t>
            </a:r>
          </a:p>
        </p:txBody>
      </p:sp>
      <p:sp>
        <p:nvSpPr>
          <p:cNvPr id="59" name="Rounded Rectangle 58"/>
          <p:cNvSpPr/>
          <p:nvPr/>
        </p:nvSpPr>
        <p:spPr>
          <a:xfrm>
            <a:off x="10058400" y="3337560"/>
            <a:ext cx="1737360" cy="12801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195560" y="3429000"/>
            <a:ext cx="1463039" cy="640080"/>
          </a:xfrm>
          <a:prstGeom prst="rect">
            <a:avLst/>
          </a:prstGeom>
          <a:noFill/>
        </p:spPr>
        <p:txBody>
          <a:bodyPr wrap="square" anchor="t" lIns="36576" rIns="36576" tIns="18288" bIns="18288">
            <a:spAutoFit/>
          </a:bodyPr>
          <a:lstStyle/>
          <a:p>
            <a:pPr algn="l"/>
            <a:r>
              <a:rPr sz="3200" b="1" i="0">
                <a:solidFill>
                  <a:srgbClr val="14213D"/>
                </a:solidFill>
                <a:latin typeface="Cambria"/>
              </a:rPr>
              <a:t>30</a:t>
            </a:r>
          </a:p>
        </p:txBody>
      </p:sp>
      <p:sp>
        <p:nvSpPr>
          <p:cNvPr id="61" name="TextBox 60"/>
          <p:cNvSpPr txBox="1"/>
          <p:nvPr/>
        </p:nvSpPr>
        <p:spPr>
          <a:xfrm>
            <a:off x="10195560" y="4050791"/>
            <a:ext cx="1463039" cy="530352"/>
          </a:xfrm>
          <a:prstGeom prst="rect">
            <a:avLst/>
          </a:prstGeom>
          <a:noFill/>
        </p:spPr>
        <p:txBody>
          <a:bodyPr wrap="square" anchor="t" lIns="36576" rIns="36576" tIns="18288" bIns="18288">
            <a:spAutoFit/>
          </a:bodyPr>
          <a:lstStyle/>
          <a:p>
            <a:pPr algn="l"/>
            <a:r>
              <a:rPr sz="1200" b="0" i="0">
                <a:solidFill>
                  <a:srgbClr val="5B6472"/>
                </a:solidFill>
                <a:latin typeface="Calibri"/>
              </a:rPr>
              <a:t>features in the champion</a:t>
            </a:r>
          </a:p>
        </p:txBody>
      </p:sp>
      <p:sp>
        <p:nvSpPr>
          <p:cNvPr id="62" name="TextBox 61"/>
          <p:cNvSpPr txBox="1"/>
          <p:nvPr/>
        </p:nvSpPr>
        <p:spPr>
          <a:xfrm>
            <a:off x="548640" y="4892040"/>
            <a:ext cx="11064240" cy="137160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Fair comparison: </a:t>
            </a:r>
            <a:r>
              <a:rPr sz="1400" b="0">
                <a:solidFill>
                  <a:srgbClr val="1F2937"/>
                </a:solidFill>
                <a:latin typeface="Calibri"/>
              </a:rPr>
              <a:t>every model uses the same 5 cross-validation folds, the same metric contract and train-only fitting; test and OOT were used only once, to evaluate the signed-off model.</a:t>
            </a:r>
          </a:p>
          <a:p>
            <a:pPr marL="201168" indent="-182880">
              <a:spcAft>
                <a:spcPts val="800"/>
              </a:spcAft>
              <a:buFont typeface="Arial"/>
              <a:buChar char="•"/>
            </a:pPr>
            <a:r>
              <a:rPr sz="1400" b="1">
                <a:solidFill>
                  <a:srgbClr val="1F2937"/>
                </a:solidFill>
                <a:latin typeface="Calibri"/>
              </a:rPr>
              <a:t>Primary metric: </a:t>
            </a:r>
            <a:r>
              <a:rPr sz="1400" b="0">
                <a:solidFill>
                  <a:srgbClr val="1F2937"/>
                </a:solidFill>
                <a:latin typeface="Calibri"/>
              </a:rPr>
              <a:t>PR-AUC, because defaulters are the minority (29%); a model must beat the baseline by at least 0.02 (and more than fold noise) to count as better.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nchor="t" lIns="36576" rIns="36576" tIns="18288" bIns="18288">
            <a:spAutoFit/>
          </a:bodyPr>
          <a:lstStyle/>
          <a:p>
            <a:pPr algn="l"/>
            <a:r>
              <a:rPr sz="1600" b="1" i="0">
                <a:solidFill>
                  <a:srgbClr val="CADCFC"/>
                </a:solidFill>
                <a:latin typeface="Calibri"/>
              </a:rPr>
              <a:t>PART 1</a:t>
            </a:r>
          </a:p>
        </p:txBody>
      </p:sp>
      <p:sp>
        <p:nvSpPr>
          <p:cNvPr id="3" name="TextBox 2"/>
          <p:cNvSpPr txBox="1"/>
          <p:nvPr/>
        </p:nvSpPr>
        <p:spPr>
          <a:xfrm>
            <a:off x="822960" y="2377440"/>
            <a:ext cx="10515600" cy="1097280"/>
          </a:xfrm>
          <a:prstGeom prst="rect">
            <a:avLst/>
          </a:prstGeom>
          <a:noFill/>
        </p:spPr>
        <p:txBody>
          <a:bodyPr wrap="square" anchor="t" lIns="36576" rIns="36576" tIns="18288" bIns="18288">
            <a:spAutoFit/>
          </a:bodyPr>
          <a:lstStyle/>
          <a:p>
            <a:pPr algn="l"/>
            <a:r>
              <a:rPr sz="4400" b="1" i="0">
                <a:solidFill>
                  <a:srgbClr val="FFFFFF"/>
                </a:solidFill>
                <a:latin typeface="Cambria"/>
              </a:rPr>
              <a:t>Model selection</a:t>
            </a:r>
          </a:p>
        </p:txBody>
      </p:sp>
      <p:sp>
        <p:nvSpPr>
          <p:cNvPr id="4" name="TextBox 3"/>
          <p:cNvSpPr txBox="1"/>
          <p:nvPr/>
        </p:nvSpPr>
        <p:spPr>
          <a:xfrm>
            <a:off x="822960" y="3520440"/>
            <a:ext cx="10058400" cy="914400"/>
          </a:xfrm>
          <a:prstGeom prst="rect">
            <a:avLst/>
          </a:prstGeom>
          <a:noFill/>
        </p:spPr>
        <p:txBody>
          <a:bodyPr wrap="square" anchor="t" lIns="36576" rIns="36576" tIns="18288" bIns="18288">
            <a:spAutoFit/>
          </a:bodyPr>
          <a:lstStyle/>
          <a:p>
            <a:pPr algn="l"/>
            <a:r>
              <a:rPr sz="1800" b="0" i="0">
                <a:solidFill>
                  <a:srgbClr val="CADCFC"/>
                </a:solidFill>
                <a:latin typeface="Calibri"/>
              </a:rPr>
              <a:t>A fixed baseline and metric, twelve candidates on identical folds, a champion that can be deployed, and one honest test on untouched data.</a:t>
            </a:r>
          </a:p>
        </p:txBody>
      </p:sp>
      <p:sp>
        <p:nvSpPr>
          <p:cNvPr id="5" name="Rounded Rectangle 4"/>
          <p:cNvSpPr/>
          <p:nvPr/>
        </p:nvSpPr>
        <p:spPr>
          <a:xfrm>
            <a:off x="822960" y="4572000"/>
            <a:ext cx="2377440" cy="457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Steps 24, 25, 30, 31</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The rules were fixed before any candidate was trained</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24</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4</a:t>
            </a:r>
          </a:p>
        </p:txBody>
      </p:sp>
      <p:graphicFrame>
        <p:nvGraphicFramePr>
          <p:cNvPr id="6" name="Table"/>
          <p:cNvGraphicFramePr>
            <a:graphicFrameLocks noGrp="1"/>
          </p:cNvGraphicFramePr>
          <p:nvPr/>
        </p:nvGraphicFramePr>
        <p:xfrm>
          <a:off x="548640" y="1325880"/>
          <a:ext cx="6858000" cy="3200400"/>
        </p:xfrm>
        <a:graphic>
          <a:graphicData uri="http://schemas.openxmlformats.org/drawingml/2006/table">
            <a:tbl>
              <a:tblPr firstRow="0" bandRow="0">
                <a:tableStyleId>{5940675A-B579-460E-94D1-54222C63F5DA}</a:tableStyleId>
              </a:tblPr>
              <a:tblGrid>
                <a:gridCol w="1828800"/>
                <a:gridCol w="5029200"/>
              </a:tblGrid>
              <a:tr h="457200">
                <a:tc>
                  <a:txBody>
                    <a:bodyPr wrap="square"/>
                    <a:lstStyle/>
                    <a:p>
                      <a:r>
                        <a:rPr sz="1300" b="1">
                          <a:solidFill>
                            <a:srgbClr val="FFFFFF"/>
                          </a:solidFill>
                          <a:latin typeface="Calibri"/>
                        </a:rPr>
                        <a:t>Item</a:t>
                      </a:r>
                    </a:p>
                  </a:txBody>
                  <a:tcPr marL="73152" marR="73152" marT="27432" marB="27432" anchor="ctr">
                    <a:solidFill>
                      <a:srgbClr val="14213D"/>
                    </a:solidFill>
                  </a:tcPr>
                </a:tc>
                <a:tc>
                  <a:txBody>
                    <a:bodyPr wrap="square"/>
                    <a:lstStyle/>
                    <a:p>
                      <a:r>
                        <a:rPr sz="1300" b="1">
                          <a:solidFill>
                            <a:srgbClr val="FFFFFF"/>
                          </a:solidFill>
                          <a:latin typeface="Calibri"/>
                        </a:rPr>
                        <a:t>Decision</a:t>
                      </a:r>
                    </a:p>
                  </a:txBody>
                  <a:tcPr marL="73152" marR="73152" marT="27432" marB="27432" anchor="ctr">
                    <a:solidFill>
                      <a:srgbClr val="14213D"/>
                    </a:solidFill>
                  </a:tcPr>
                </a:tc>
              </a:tr>
              <a:tr h="457200">
                <a:tc>
                  <a:txBody>
                    <a:bodyPr wrap="square"/>
                    <a:lstStyle/>
                    <a:p>
                      <a:r>
                        <a:rPr sz="1300" b="1">
                          <a:solidFill>
                            <a:srgbClr val="1F2937"/>
                          </a:solidFill>
                          <a:latin typeface="Calibri"/>
                        </a:rPr>
                        <a:t>Primary metric</a:t>
                      </a:r>
                    </a:p>
                  </a:txBody>
                  <a:tcPr marL="73152" marR="73152" marT="27432" marB="27432" anchor="ctr">
                    <a:solidFill>
                      <a:srgbClr val="FFFFFF"/>
                    </a:solidFill>
                  </a:tcPr>
                </a:tc>
                <a:tc>
                  <a:txBody>
                    <a:bodyPr wrap="square"/>
                    <a:lstStyle/>
                    <a:p>
                      <a:r>
                        <a:rPr sz="1300" b="0">
                          <a:solidFill>
                            <a:srgbClr val="1F2937"/>
                          </a:solidFill>
                          <a:latin typeface="Calibri"/>
                        </a:rPr>
                        <a:t>PR-AUC (average precision)</a:t>
                      </a:r>
                    </a:p>
                  </a:txBody>
                  <a:tcPr marL="73152" marR="73152" marT="27432" marB="27432" anchor="ctr">
                    <a:solidFill>
                      <a:srgbClr val="FFFFFF"/>
                    </a:solidFill>
                  </a:tcPr>
                </a:tc>
              </a:tr>
              <a:tr h="457200">
                <a:tc>
                  <a:txBody>
                    <a:bodyPr wrap="square"/>
                    <a:lstStyle/>
                    <a:p>
                      <a:r>
                        <a:rPr sz="1300" b="1">
                          <a:solidFill>
                            <a:srgbClr val="1F2937"/>
                          </a:solidFill>
                          <a:latin typeface="Calibri"/>
                        </a:rPr>
                        <a:t>Also reported</a:t>
                      </a:r>
                    </a:p>
                  </a:txBody>
                  <a:tcPr marL="73152" marR="73152" marT="27432" marB="27432" anchor="ctr">
                    <a:solidFill>
                      <a:srgbClr val="F6F8FB"/>
                    </a:solidFill>
                  </a:tcPr>
                </a:tc>
                <a:tc>
                  <a:txBody>
                    <a:bodyPr wrap="square"/>
                    <a:lstStyle/>
                    <a:p>
                      <a:r>
                        <a:rPr sz="1300" b="0">
                          <a:solidFill>
                            <a:srgbClr val="1F2937"/>
                          </a:solidFill>
                          <a:latin typeface="Calibri"/>
                        </a:rPr>
                        <a:t>ROC-AUC, Brier, log loss, precision / recall / F1</a:t>
                      </a:r>
                    </a:p>
                  </a:txBody>
                  <a:tcPr marL="73152" marR="73152" marT="27432" marB="27432" anchor="ctr">
                    <a:solidFill>
                      <a:srgbClr val="F6F8FB"/>
                    </a:solidFill>
                  </a:tcPr>
                </a:tc>
              </a:tr>
              <a:tr h="457200">
                <a:tc>
                  <a:txBody>
                    <a:bodyPr wrap="square"/>
                    <a:lstStyle/>
                    <a:p>
                      <a:r>
                        <a:rPr sz="1300" b="1">
                          <a:solidFill>
                            <a:srgbClr val="1F2937"/>
                          </a:solidFill>
                          <a:latin typeface="Calibri"/>
                        </a:rPr>
                        <a:t>Better means</a:t>
                      </a:r>
                    </a:p>
                  </a:txBody>
                  <a:tcPr marL="73152" marR="73152" marT="27432" marB="27432" anchor="ctr">
                    <a:solidFill>
                      <a:srgbClr val="FFFFFF"/>
                    </a:solidFill>
                  </a:tcPr>
                </a:tc>
                <a:tc>
                  <a:txBody>
                    <a:bodyPr wrap="square"/>
                    <a:lstStyle/>
                    <a:p>
                      <a:r>
                        <a:rPr sz="1300" b="0">
                          <a:solidFill>
                            <a:srgbClr val="1F2937"/>
                          </a:solidFill>
                          <a:latin typeface="Calibri"/>
                        </a:rPr>
                        <a:t>+0.02 CV PR-AUC and more than the baseline's fold std</a:t>
                      </a:r>
                    </a:p>
                  </a:txBody>
                  <a:tcPr marL="73152" marR="73152" marT="27432" marB="27432" anchor="ctr">
                    <a:solidFill>
                      <a:srgbClr val="FFFFFF"/>
                    </a:solidFill>
                  </a:tcPr>
                </a:tc>
              </a:tr>
              <a:tr h="457200">
                <a:tc>
                  <a:txBody>
                    <a:bodyPr wrap="square"/>
                    <a:lstStyle/>
                    <a:p>
                      <a:r>
                        <a:rPr sz="1300" b="1">
                          <a:solidFill>
                            <a:srgbClr val="1F2937"/>
                          </a:solidFill>
                          <a:latin typeface="Calibri"/>
                        </a:rPr>
                        <a:t>Protocol</a:t>
                      </a:r>
                    </a:p>
                  </a:txBody>
                  <a:tcPr marL="73152" marR="73152" marT="27432" marB="27432" anchor="ctr">
                    <a:solidFill>
                      <a:srgbClr val="F6F8FB"/>
                    </a:solidFill>
                  </a:tcPr>
                </a:tc>
                <a:tc>
                  <a:txBody>
                    <a:bodyPr wrap="square"/>
                    <a:lstStyle/>
                    <a:p>
                      <a:r>
                        <a:rPr sz="1300" b="0">
                          <a:solidFill>
                            <a:srgbClr val="1F2937"/>
                          </a:solidFill>
                          <a:latin typeface="Calibri"/>
                        </a:rPr>
                        <a:t>5-fold stratified CV on train (seed 42), then validation</a:t>
                      </a:r>
                    </a:p>
                  </a:txBody>
                  <a:tcPr marL="73152" marR="73152" marT="27432" marB="27432" anchor="ctr">
                    <a:solidFill>
                      <a:srgbClr val="F6F8FB"/>
                    </a:solidFill>
                  </a:tcPr>
                </a:tc>
              </a:tr>
              <a:tr h="457200">
                <a:tc>
                  <a:txBody>
                    <a:bodyPr wrap="square"/>
                    <a:lstStyle/>
                    <a:p>
                      <a:r>
                        <a:rPr sz="1300" b="1">
                          <a:solidFill>
                            <a:srgbClr val="1F2937"/>
                          </a:solidFill>
                          <a:latin typeface="Calibri"/>
                        </a:rPr>
                        <a:t>Threshold</a:t>
                      </a:r>
                    </a:p>
                  </a:txBody>
                  <a:tcPr marL="73152" marR="73152" marT="27432" marB="27432" anchor="ctr">
                    <a:solidFill>
                      <a:srgbClr val="FFFFFF"/>
                    </a:solidFill>
                  </a:tcPr>
                </a:tc>
                <a:tc>
                  <a:txBody>
                    <a:bodyPr wrap="square"/>
                    <a:lstStyle/>
                    <a:p>
                      <a:r>
                        <a:rPr sz="1300" b="0">
                          <a:solidFill>
                            <a:srgbClr val="1F2937"/>
                          </a:solidFill>
                          <a:latin typeface="Calibri"/>
                        </a:rPr>
                        <a:t>max F1 on validation; never on test / OOT</a:t>
                      </a:r>
                    </a:p>
                  </a:txBody>
                  <a:tcPr marL="73152" marR="73152" marT="27432" marB="27432" anchor="ctr">
                    <a:solidFill>
                      <a:srgbClr val="FFFFFF"/>
                    </a:solidFill>
                  </a:tcPr>
                </a:tc>
              </a:tr>
              <a:tr h="457200">
                <a:tc>
                  <a:txBody>
                    <a:bodyPr wrap="square"/>
                    <a:lstStyle/>
                    <a:p>
                      <a:r>
                        <a:rPr sz="1300" b="1">
                          <a:solidFill>
                            <a:srgbClr val="1F2937"/>
                          </a:solidFill>
                          <a:latin typeface="Calibri"/>
                        </a:rPr>
                        <a:t>Cost of errors</a:t>
                      </a:r>
                    </a:p>
                  </a:txBody>
                  <a:tcPr marL="73152" marR="73152" marT="27432" marB="27432" anchor="ctr">
                    <a:solidFill>
                      <a:srgbClr val="F6F8FB"/>
                    </a:solidFill>
                  </a:tcPr>
                </a:tc>
                <a:tc>
                  <a:txBody>
                    <a:bodyPr wrap="square"/>
                    <a:lstStyle/>
                    <a:p>
                      <a:r>
                        <a:rPr sz="1300" b="0">
                          <a:solidFill>
                            <a:srgbClr val="1F2937"/>
                          </a:solidFill>
                          <a:latin typeface="Calibri"/>
                        </a:rPr>
                        <a:t>none assumed (no business basis)</a:t>
                      </a:r>
                    </a:p>
                  </a:txBody>
                  <a:tcPr marL="73152" marR="73152" marT="27432" marB="27432" anchor="ctr">
                    <a:solidFill>
                      <a:srgbClr val="F6F8FB"/>
                    </a:solidFill>
                  </a:tcPr>
                </a:tc>
              </a:tr>
            </a:tbl>
          </a:graphicData>
        </a:graphic>
      </p:graphicFrame>
      <p:graphicFrame>
        <p:nvGraphicFramePr>
          <p:cNvPr id="7" name="Chart 6"/>
          <p:cNvGraphicFramePr>
            <a:graphicFrameLocks noGrp="1"/>
          </p:cNvGraphicFramePr>
          <p:nvPr/>
        </p:nvGraphicFramePr>
        <p:xfrm>
          <a:off x="7772400" y="1325880"/>
          <a:ext cx="3886200" cy="310896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4617720"/>
            <a:ext cx="3886200" cy="16002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4709159"/>
            <a:ext cx="3611880" cy="365760"/>
          </a:xfrm>
          <a:prstGeom prst="rect">
            <a:avLst/>
          </a:prstGeom>
          <a:noFill/>
        </p:spPr>
        <p:txBody>
          <a:bodyPr wrap="square" anchor="t" lIns="36576" rIns="36576" tIns="18288" bIns="18288">
            <a:spAutoFit/>
          </a:bodyPr>
          <a:lstStyle/>
          <a:p>
            <a:pPr algn="l"/>
            <a:r>
              <a:rPr sz="1400" b="1" i="0">
                <a:solidFill>
                  <a:srgbClr val="14213D"/>
                </a:solidFill>
                <a:latin typeface="Calibri"/>
              </a:rPr>
              <a:t>Target for every candidate</a:t>
            </a:r>
          </a:p>
        </p:txBody>
      </p:sp>
      <p:sp>
        <p:nvSpPr>
          <p:cNvPr id="10" name="TextBox 9"/>
          <p:cNvSpPr txBox="1"/>
          <p:nvPr/>
        </p:nvSpPr>
        <p:spPr>
          <a:xfrm>
            <a:off x="7909560" y="5074920"/>
            <a:ext cx="3611880" cy="1097280"/>
          </a:xfrm>
          <a:prstGeom prst="rect">
            <a:avLst/>
          </a:prstGeom>
          <a:noFill/>
        </p:spPr>
        <p:txBody>
          <a:bodyPr wrap="square" anchor="t" lIns="36576" rIns="36576" tIns="18288" bIns="18288">
            <a:spAutoFit/>
          </a:bodyPr>
          <a:lstStyle/>
          <a:p>
            <a:pPr algn="l"/>
            <a:r>
              <a:rPr sz="1200" b="0" i="0">
                <a:solidFill>
                  <a:srgbClr val="1F2937"/>
                </a:solidFill>
                <a:latin typeface="Calibri"/>
              </a:rPr>
              <a:t>CV PR-AUC ≥ 0.584 (baseline 0.564 ± 0.010 + 0.02). The dummy model's 0.289 is the default rate: the floor.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12 candidates: tree models win, clickstream helps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25</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5</a:t>
            </a:r>
          </a:p>
        </p:txBody>
      </p:sp>
      <p:pic>
        <p:nvPicPr>
          <p:cNvPr id="6" name="25_1_leaderboard.png" descr="25_1_leaderboard.png"/>
          <p:cNvPicPr>
            <a:picLocks noChangeAspect="1"/>
          </p:cNvPicPr>
          <p:nvPr/>
        </p:nvPicPr>
        <p:blipFill>
          <a:blip r:embed="rId2"/>
          <a:stretch>
            <a:fillRect/>
          </a:stretch>
        </p:blipFill>
        <p:spPr>
          <a:xfrm>
            <a:off x="457200" y="1420477"/>
            <a:ext cx="7589520" cy="3011204"/>
          </a:xfrm>
          <a:prstGeom prst="rect">
            <a:avLst/>
          </a:prstGeom>
        </p:spPr>
      </p:pic>
      <p:graphicFrame>
        <p:nvGraphicFramePr>
          <p:cNvPr id="7" name="Table"/>
          <p:cNvGraphicFramePr>
            <a:graphicFrameLocks noGrp="1"/>
          </p:cNvGraphicFramePr>
          <p:nvPr/>
        </p:nvGraphicFramePr>
        <p:xfrm>
          <a:off x="8229600" y="1325880"/>
          <a:ext cx="3429000" cy="2926080"/>
        </p:xfrm>
        <a:graphic>
          <a:graphicData uri="http://schemas.openxmlformats.org/drawingml/2006/table">
            <a:tbl>
              <a:tblPr firstRow="0" bandRow="0">
                <a:tableStyleId>{5940675A-B579-460E-94D1-54222C63F5DA}</a:tableStyleId>
              </a:tblPr>
              <a:tblGrid>
                <a:gridCol w="1417320"/>
                <a:gridCol w="1143000"/>
                <a:gridCol w="868680"/>
              </a:tblGrid>
              <a:tr h="365760">
                <a:tc>
                  <a:txBody>
                    <a:bodyPr wrap="square"/>
                    <a:lstStyle/>
                    <a:p>
                      <a:r>
                        <a:rPr sz="1050" b="1">
                          <a:solidFill>
                            <a:srgbClr val="FFFFFF"/>
                          </a:solidFill>
                          <a:latin typeface="Calibri"/>
                        </a:rPr>
                        <a:t>Candidate</a:t>
                      </a:r>
                    </a:p>
                  </a:txBody>
                  <a:tcPr marL="73152" marR="73152" marT="27432" marB="27432" anchor="ctr">
                    <a:solidFill>
                      <a:srgbClr val="14213D"/>
                    </a:solidFill>
                  </a:tcPr>
                </a:tc>
                <a:tc>
                  <a:txBody>
                    <a:bodyPr wrap="square"/>
                    <a:lstStyle/>
                    <a:p>
                      <a:r>
                        <a:rPr sz="1050" b="1">
                          <a:solidFill>
                            <a:srgbClr val="FFFFFF"/>
                          </a:solidFill>
                          <a:latin typeface="Calibri"/>
                        </a:rPr>
                        <a:t>CV PR-AUC</a:t>
                      </a:r>
                    </a:p>
                  </a:txBody>
                  <a:tcPr marL="73152" marR="73152" marT="27432" marB="27432" anchor="ctr">
                    <a:solidFill>
                      <a:srgbClr val="14213D"/>
                    </a:solidFill>
                  </a:tcPr>
                </a:tc>
                <a:tc>
                  <a:txBody>
                    <a:bodyPr wrap="square"/>
                    <a:lstStyle/>
                    <a:p>
                      <a:r>
                        <a:rPr sz="1050" b="1">
                          <a:solidFill>
                            <a:srgbClr val="FFFFFF"/>
                          </a:solidFill>
                          <a:latin typeface="Calibri"/>
                        </a:rPr>
                        <a:t>Val PR-AUC</a:t>
                      </a:r>
                    </a:p>
                  </a:txBody>
                  <a:tcPr marL="73152" marR="73152" marT="27432" marB="27432" anchor="ctr">
                    <a:solidFill>
                      <a:srgbClr val="14213D"/>
                    </a:solidFill>
                  </a:tcPr>
                </a:tc>
              </a:tr>
              <a:tr h="365760">
                <a:tc>
                  <a:txBody>
                    <a:bodyPr wrap="square"/>
                    <a:lstStyle/>
                    <a:p>
                      <a:r>
                        <a:rPr sz="1050" b="1">
                          <a:solidFill>
                            <a:srgbClr val="1F2937"/>
                          </a:solidFill>
                          <a:latin typeface="Calibri"/>
                        </a:rPr>
                        <a:t>XGB__B_fe</a:t>
                      </a:r>
                    </a:p>
                  </a:txBody>
                  <a:tcPr marL="73152" marR="73152" marT="27432" marB="27432" anchor="ctr">
                    <a:solidFill>
                      <a:srgbClr val="FFFFFF"/>
                    </a:solidFill>
                  </a:tcPr>
                </a:tc>
                <a:tc>
                  <a:txBody>
                    <a:bodyPr wrap="square"/>
                    <a:lstStyle/>
                    <a:p>
                      <a:r>
                        <a:rPr sz="1050" b="0">
                          <a:solidFill>
                            <a:srgbClr val="1F2937"/>
                          </a:solidFill>
                          <a:latin typeface="Calibri"/>
                        </a:rPr>
                        <a:t>0.667 ± 0.027</a:t>
                      </a:r>
                    </a:p>
                  </a:txBody>
                  <a:tcPr marL="73152" marR="73152" marT="27432" marB="27432" anchor="ctr">
                    <a:solidFill>
                      <a:srgbClr val="FFFFFF"/>
                    </a:solidFill>
                  </a:tcPr>
                </a:tc>
                <a:tc>
                  <a:txBody>
                    <a:bodyPr wrap="square"/>
                    <a:lstStyle/>
                    <a:p>
                      <a:r>
                        <a:rPr sz="1050" b="0">
                          <a:solidFill>
                            <a:srgbClr val="1F2937"/>
                          </a:solidFill>
                          <a:latin typeface="Calibri"/>
                        </a:rPr>
                        <a:t>0.633</a:t>
                      </a:r>
                    </a:p>
                  </a:txBody>
                  <a:tcPr marL="73152" marR="73152" marT="27432" marB="27432" anchor="ctr">
                    <a:solidFill>
                      <a:srgbClr val="FFFFFF"/>
                    </a:solidFill>
                  </a:tcPr>
                </a:tc>
              </a:tr>
              <a:tr h="365760">
                <a:tc>
                  <a:txBody>
                    <a:bodyPr wrap="square"/>
                    <a:lstStyle/>
                    <a:p>
                      <a:r>
                        <a:rPr sz="1050" b="1">
                          <a:solidFill>
                            <a:srgbClr val="1F2937"/>
                          </a:solidFill>
                          <a:latin typeface="Calibri"/>
                        </a:rPr>
                        <a:t>XGB__B_raw</a:t>
                      </a:r>
                    </a:p>
                  </a:txBody>
                  <a:tcPr marL="73152" marR="73152" marT="27432" marB="27432" anchor="ctr">
                    <a:solidFill>
                      <a:srgbClr val="F6F8FB"/>
                    </a:solidFill>
                  </a:tcPr>
                </a:tc>
                <a:tc>
                  <a:txBody>
                    <a:bodyPr wrap="square"/>
                    <a:lstStyle/>
                    <a:p>
                      <a:r>
                        <a:rPr sz="1050" b="0">
                          <a:solidFill>
                            <a:srgbClr val="1F2937"/>
                          </a:solidFill>
                          <a:latin typeface="Calibri"/>
                        </a:rPr>
                        <a:t>0.657 ± 0.023</a:t>
                      </a:r>
                    </a:p>
                  </a:txBody>
                  <a:tcPr marL="73152" marR="73152" marT="27432" marB="27432" anchor="ctr">
                    <a:solidFill>
                      <a:srgbClr val="F6F8FB"/>
                    </a:solidFill>
                  </a:tcPr>
                </a:tc>
                <a:tc>
                  <a:txBody>
                    <a:bodyPr wrap="square"/>
                    <a:lstStyle/>
                    <a:p>
                      <a:r>
                        <a:rPr sz="1050" b="0">
                          <a:solidFill>
                            <a:srgbClr val="1F2937"/>
                          </a:solidFill>
                          <a:latin typeface="Calibri"/>
                        </a:rPr>
                        <a:t>0.626</a:t>
                      </a:r>
                    </a:p>
                  </a:txBody>
                  <a:tcPr marL="73152" marR="73152" marT="27432" marB="27432" anchor="ctr">
                    <a:solidFill>
                      <a:srgbClr val="F6F8FB"/>
                    </a:solidFill>
                  </a:tcPr>
                </a:tc>
              </a:tr>
              <a:tr h="365760">
                <a:tc>
                  <a:txBody>
                    <a:bodyPr wrap="square"/>
                    <a:lstStyle/>
                    <a:p>
                      <a:r>
                        <a:rPr sz="1050" b="1">
                          <a:solidFill>
                            <a:srgbClr val="1F2937"/>
                          </a:solidFill>
                          <a:latin typeface="Calibri"/>
                        </a:rPr>
                        <a:t>RF__B_fe</a:t>
                      </a:r>
                    </a:p>
                  </a:txBody>
                  <a:tcPr marL="73152" marR="73152" marT="27432" marB="27432" anchor="ctr">
                    <a:solidFill>
                      <a:srgbClr val="FFFFFF"/>
                    </a:solidFill>
                  </a:tcPr>
                </a:tc>
                <a:tc>
                  <a:txBody>
                    <a:bodyPr wrap="square"/>
                    <a:lstStyle/>
                    <a:p>
                      <a:r>
                        <a:rPr sz="1050" b="0">
                          <a:solidFill>
                            <a:srgbClr val="1F2937"/>
                          </a:solidFill>
                          <a:latin typeface="Calibri"/>
                        </a:rPr>
                        <a:t>0.655 ± 0.029</a:t>
                      </a:r>
                    </a:p>
                  </a:txBody>
                  <a:tcPr marL="73152" marR="73152" marT="27432" marB="27432" anchor="ctr">
                    <a:solidFill>
                      <a:srgbClr val="FFFFFF"/>
                    </a:solidFill>
                  </a:tcPr>
                </a:tc>
                <a:tc>
                  <a:txBody>
                    <a:bodyPr wrap="square"/>
                    <a:lstStyle/>
                    <a:p>
                      <a:r>
                        <a:rPr sz="1050" b="0">
                          <a:solidFill>
                            <a:srgbClr val="1F2937"/>
                          </a:solidFill>
                          <a:latin typeface="Calibri"/>
                        </a:rPr>
                        <a:t>0.629</a:t>
                      </a:r>
                    </a:p>
                  </a:txBody>
                  <a:tcPr marL="73152" marR="73152" marT="27432" marB="27432" anchor="ctr">
                    <a:solidFill>
                      <a:srgbClr val="FFFFFF"/>
                    </a:solidFill>
                  </a:tcPr>
                </a:tc>
              </a:tr>
              <a:tr h="365760">
                <a:tc>
                  <a:txBody>
                    <a:bodyPr wrap="square"/>
                    <a:lstStyle/>
                    <a:p>
                      <a:r>
                        <a:rPr sz="1050" b="1">
                          <a:solidFill>
                            <a:srgbClr val="1F2937"/>
                          </a:solidFill>
                          <a:latin typeface="Calibri"/>
                        </a:rPr>
                        <a:t>RF__B_raw</a:t>
                      </a:r>
                    </a:p>
                  </a:txBody>
                  <a:tcPr marL="73152" marR="73152" marT="27432" marB="27432" anchor="ctr">
                    <a:solidFill>
                      <a:srgbClr val="F6F8FB"/>
                    </a:solidFill>
                  </a:tcPr>
                </a:tc>
                <a:tc>
                  <a:txBody>
                    <a:bodyPr wrap="square"/>
                    <a:lstStyle/>
                    <a:p>
                      <a:r>
                        <a:rPr sz="1050" b="0">
                          <a:solidFill>
                            <a:srgbClr val="1F2937"/>
                          </a:solidFill>
                          <a:latin typeface="Calibri"/>
                        </a:rPr>
                        <a:t>0.644 ± 0.031</a:t>
                      </a:r>
                    </a:p>
                  </a:txBody>
                  <a:tcPr marL="73152" marR="73152" marT="27432" marB="27432" anchor="ctr">
                    <a:solidFill>
                      <a:srgbClr val="F6F8FB"/>
                    </a:solidFill>
                  </a:tcPr>
                </a:tc>
                <a:tc>
                  <a:txBody>
                    <a:bodyPr wrap="square"/>
                    <a:lstStyle/>
                    <a:p>
                      <a:r>
                        <a:rPr sz="1050" b="0">
                          <a:solidFill>
                            <a:srgbClr val="1F2937"/>
                          </a:solidFill>
                          <a:latin typeface="Calibri"/>
                        </a:rPr>
                        <a:t>0.613</a:t>
                      </a:r>
                    </a:p>
                  </a:txBody>
                  <a:tcPr marL="73152" marR="73152" marT="27432" marB="27432" anchor="ctr">
                    <a:solidFill>
                      <a:srgbClr val="F6F8FB"/>
                    </a:solidFill>
                  </a:tcPr>
                </a:tc>
              </a:tr>
              <a:tr h="365760">
                <a:tc>
                  <a:txBody>
                    <a:bodyPr wrap="square"/>
                    <a:lstStyle/>
                    <a:p>
                      <a:r>
                        <a:rPr sz="1050" b="1">
                          <a:solidFill>
                            <a:srgbClr val="1F2937"/>
                          </a:solidFill>
                          <a:latin typeface="Calibri"/>
                        </a:rPr>
                        <a:t>XGB__A_fe</a:t>
                      </a:r>
                    </a:p>
                  </a:txBody>
                  <a:tcPr marL="73152" marR="73152" marT="27432" marB="27432" anchor="ctr">
                    <a:solidFill>
                      <a:srgbClr val="FFFFFF"/>
                    </a:solidFill>
                  </a:tcPr>
                </a:tc>
                <a:tc>
                  <a:txBody>
                    <a:bodyPr wrap="square"/>
                    <a:lstStyle/>
                    <a:p>
                      <a:r>
                        <a:rPr sz="1050" b="0">
                          <a:solidFill>
                            <a:srgbClr val="1F2937"/>
                          </a:solidFill>
                          <a:latin typeface="Calibri"/>
                        </a:rPr>
                        <a:t>0.633 ± 0.019</a:t>
                      </a:r>
                    </a:p>
                  </a:txBody>
                  <a:tcPr marL="73152" marR="73152" marT="27432" marB="27432" anchor="ctr">
                    <a:solidFill>
                      <a:srgbClr val="FFFFFF"/>
                    </a:solidFill>
                  </a:tcPr>
                </a:tc>
                <a:tc>
                  <a:txBody>
                    <a:bodyPr wrap="square"/>
                    <a:lstStyle/>
                    <a:p>
                      <a:r>
                        <a:rPr sz="1050" b="0">
                          <a:solidFill>
                            <a:srgbClr val="1F2937"/>
                          </a:solidFill>
                          <a:latin typeface="Calibri"/>
                        </a:rPr>
                        <a:t>0.616</a:t>
                      </a:r>
                    </a:p>
                  </a:txBody>
                  <a:tcPr marL="73152" marR="73152" marT="27432" marB="27432" anchor="ctr">
                    <a:solidFill>
                      <a:srgbClr val="FFFFFF"/>
                    </a:solidFill>
                  </a:tcPr>
                </a:tc>
              </a:tr>
              <a:tr h="365760">
                <a:tc>
                  <a:txBody>
                    <a:bodyPr wrap="square"/>
                    <a:lstStyle/>
                    <a:p>
                      <a:r>
                        <a:rPr sz="1050" b="1">
                          <a:solidFill>
                            <a:srgbClr val="1F2937"/>
                          </a:solidFill>
                          <a:latin typeface="Calibri"/>
                        </a:rPr>
                        <a:t>RF__A_fe</a:t>
                      </a:r>
                    </a:p>
                  </a:txBody>
                  <a:tcPr marL="73152" marR="73152" marT="27432" marB="27432" anchor="ctr">
                    <a:solidFill>
                      <a:srgbClr val="F6F8FB"/>
                    </a:solidFill>
                  </a:tcPr>
                </a:tc>
                <a:tc>
                  <a:txBody>
                    <a:bodyPr wrap="square"/>
                    <a:lstStyle/>
                    <a:p>
                      <a:r>
                        <a:rPr sz="1050" b="0">
                          <a:solidFill>
                            <a:srgbClr val="1F2937"/>
                          </a:solidFill>
                          <a:latin typeface="Calibri"/>
                        </a:rPr>
                        <a:t>0.632 ± 0.025</a:t>
                      </a:r>
                    </a:p>
                  </a:txBody>
                  <a:tcPr marL="73152" marR="73152" marT="27432" marB="27432" anchor="ctr">
                    <a:solidFill>
                      <a:srgbClr val="F6F8FB"/>
                    </a:solidFill>
                  </a:tcPr>
                </a:tc>
                <a:tc>
                  <a:txBody>
                    <a:bodyPr wrap="square"/>
                    <a:lstStyle/>
                    <a:p>
                      <a:r>
                        <a:rPr sz="1050" b="0">
                          <a:solidFill>
                            <a:srgbClr val="1F2937"/>
                          </a:solidFill>
                          <a:latin typeface="Calibri"/>
                        </a:rPr>
                        <a:t>0.606</a:t>
                      </a:r>
                    </a:p>
                  </a:txBody>
                  <a:tcPr marL="73152" marR="73152" marT="27432" marB="27432" anchor="ctr">
                    <a:solidFill>
                      <a:srgbClr val="F6F8FB"/>
                    </a:solidFill>
                  </a:tcPr>
                </a:tc>
              </a:tr>
              <a:tr h="365760">
                <a:tc>
                  <a:txBody>
                    <a:bodyPr wrap="square"/>
                    <a:lstStyle/>
                    <a:p>
                      <a:r>
                        <a:rPr sz="1050" b="1">
                          <a:solidFill>
                            <a:srgbClr val="1F2937"/>
                          </a:solidFill>
                          <a:latin typeface="Calibri"/>
                        </a:rPr>
                        <a:t>LR__A_raw (baseline)</a:t>
                      </a:r>
                    </a:p>
                  </a:txBody>
                  <a:tcPr marL="73152" marR="73152" marT="27432" marB="27432" anchor="ctr">
                    <a:solidFill>
                      <a:srgbClr val="FFFFFF"/>
                    </a:solidFill>
                  </a:tcPr>
                </a:tc>
                <a:tc>
                  <a:txBody>
                    <a:bodyPr wrap="square"/>
                    <a:lstStyle/>
                    <a:p>
                      <a:r>
                        <a:rPr sz="1050" b="0">
                          <a:solidFill>
                            <a:srgbClr val="1F2937"/>
                          </a:solidFill>
                          <a:latin typeface="Calibri"/>
                        </a:rPr>
                        <a:t>0.564</a:t>
                      </a:r>
                    </a:p>
                  </a:txBody>
                  <a:tcPr marL="73152" marR="73152" marT="27432" marB="27432" anchor="ctr">
                    <a:solidFill>
                      <a:srgbClr val="FFFFFF"/>
                    </a:solidFill>
                  </a:tcPr>
                </a:tc>
                <a:tc>
                  <a:txBody>
                    <a:bodyPr wrap="square"/>
                    <a:lstStyle/>
                    <a:p>
                      <a:r>
                        <a:rPr sz="1050" b="0">
                          <a:solidFill>
                            <a:srgbClr val="1F2937"/>
                          </a:solidFill>
                          <a:latin typeface="Calibri"/>
                        </a:rPr>
                        <a:t>0.577</a:t>
                      </a:r>
                    </a:p>
                  </a:txBody>
                  <a:tcPr marL="73152" marR="73152" marT="27432" marB="27432" anchor="ctr">
                    <a:solidFill>
                      <a:srgbClr val="FFFFFF"/>
                    </a:solidFill>
                  </a:tcPr>
                </a:tc>
              </a:tr>
            </a:tbl>
          </a:graphicData>
        </a:graphic>
      </p:graphicFrame>
      <p:sp>
        <p:nvSpPr>
          <p:cNvPr id="8" name="TextBox 7"/>
          <p:cNvSpPr txBox="1"/>
          <p:nvPr/>
        </p:nvSpPr>
        <p:spPr>
          <a:xfrm>
            <a:off x="548640" y="4754880"/>
            <a:ext cx="11064240" cy="155448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Algorithm matters most: </a:t>
            </a:r>
            <a:r>
              <a:rPr sz="1400" b="0">
                <a:solidFill>
                  <a:srgbClr val="1F2937"/>
                </a:solidFill>
                <a:latin typeface="Calibri"/>
              </a:rPr>
              <a:t>on the same features, XGB / RF beat logistic regression by about 0.06 — they capture thresholds and interactions.</a:t>
            </a:r>
          </a:p>
          <a:p>
            <a:pPr marL="201168" indent="-182880">
              <a:spcAft>
                <a:spcPts val="800"/>
              </a:spcAft>
              <a:buFont typeface="Arial"/>
              <a:buChar char="•"/>
            </a:pPr>
            <a:r>
              <a:rPr sz="1400" b="1">
                <a:solidFill>
                  <a:srgbClr val="1F2937"/>
                </a:solidFill>
                <a:latin typeface="Calibri"/>
              </a:rPr>
              <a:t>Clickstream adds </a:t>
            </a:r>
            <a:r>
              <a:rPr sz="1400" b="0">
                <a:solidFill>
                  <a:srgbClr val="1F2937"/>
                </a:solidFill>
                <a:latin typeface="Calibri"/>
              </a:rPr>
              <a:t>+0.029 for XGB; generated (OpenFE) features add +0.005 — inside fold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Where the gains come from</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25</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6</a:t>
            </a:r>
          </a:p>
        </p:txBody>
      </p:sp>
      <p:graphicFrame>
        <p:nvGraphicFramePr>
          <p:cNvPr id="6" name="Chart 5"/>
          <p:cNvGraphicFramePr>
            <a:graphicFrameLocks noGrp="1"/>
          </p:cNvGraphicFramePr>
          <p:nvPr/>
        </p:nvGraphicFramePr>
        <p:xfrm>
          <a:off x="548640" y="1325880"/>
          <a:ext cx="7132320" cy="4846320"/>
        </p:xfrm>
        <a:graphic>
          <a:graphicData uri="http://schemas.openxmlformats.org/drawingml/2006/chart">
            <c:chart xmlns:c="http://schemas.openxmlformats.org/drawingml/2006/chart" r:id="rId2"/>
          </a:graphicData>
        </a:graphic>
      </p:graphicFrame>
      <p:sp>
        <p:nvSpPr>
          <p:cNvPr id="7" name="Rounded Rectangle 6"/>
          <p:cNvSpPr/>
          <p:nvPr/>
        </p:nvSpPr>
        <p:spPr>
          <a:xfrm>
            <a:off x="8046720" y="1325880"/>
            <a:ext cx="3611880" cy="22402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80" y="1417320"/>
            <a:ext cx="3337560" cy="365760"/>
          </a:xfrm>
          <a:prstGeom prst="rect">
            <a:avLst/>
          </a:prstGeom>
          <a:noFill/>
        </p:spPr>
        <p:txBody>
          <a:bodyPr wrap="square" anchor="t" lIns="36576" rIns="36576" tIns="18288" bIns="18288">
            <a:spAutoFit/>
          </a:bodyPr>
          <a:lstStyle/>
          <a:p>
            <a:pPr algn="l"/>
            <a:r>
              <a:rPr sz="1400" b="1" i="0">
                <a:solidFill>
                  <a:srgbClr val="14213D"/>
                </a:solidFill>
                <a:latin typeface="Calibri"/>
              </a:rPr>
              <a:t>Reading the chart</a:t>
            </a:r>
          </a:p>
        </p:txBody>
      </p:sp>
      <p:sp>
        <p:nvSpPr>
          <p:cNvPr id="9" name="TextBox 8"/>
          <p:cNvSpPr txBox="1"/>
          <p:nvPr/>
        </p:nvSpPr>
        <p:spPr>
          <a:xfrm>
            <a:off x="8183880" y="1783080"/>
            <a:ext cx="3337560" cy="1737360"/>
          </a:xfrm>
          <a:prstGeom prst="rect">
            <a:avLst/>
          </a:prstGeom>
          <a:noFill/>
        </p:spPr>
        <p:txBody>
          <a:bodyPr wrap="square" anchor="t" lIns="36576" rIns="36576" tIns="18288" bIns="18288">
            <a:spAutoFit/>
          </a:bodyPr>
          <a:lstStyle/>
          <a:p>
            <a:pPr algn="l"/>
            <a:r>
              <a:rPr sz="1200" b="0" i="0">
                <a:solidFill>
                  <a:srgbClr val="1F2937"/>
                </a:solidFill>
                <a:latin typeface="Calibri"/>
              </a:rPr>
              <a:t>Each bar is the gain from adding a feature group to the same algorithm. Fold-to-fold spread is about ±0.02, so bars below that are within noise.</a:t>
            </a:r>
          </a:p>
        </p:txBody>
      </p:sp>
      <p:sp>
        <p:nvSpPr>
          <p:cNvPr id="10" name="Rounded Rectangle 9"/>
          <p:cNvSpPr/>
          <p:nvPr/>
        </p:nvSpPr>
        <p:spPr>
          <a:xfrm>
            <a:off x="8046720" y="3749039"/>
            <a:ext cx="3611880" cy="242316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3840479"/>
            <a:ext cx="3337560" cy="365760"/>
          </a:xfrm>
          <a:prstGeom prst="rect">
            <a:avLst/>
          </a:prstGeom>
          <a:noFill/>
        </p:spPr>
        <p:txBody>
          <a:bodyPr wrap="square" anchor="t" lIns="36576" rIns="36576" tIns="18288" bIns="18288">
            <a:spAutoFit/>
          </a:bodyPr>
          <a:lstStyle/>
          <a:p>
            <a:pPr algn="l"/>
            <a:r>
              <a:rPr sz="1400" b="1" i="0">
                <a:solidFill>
                  <a:srgbClr val="14213D"/>
                </a:solidFill>
                <a:latin typeface="Calibri"/>
              </a:rPr>
              <a:t>Consequence</a:t>
            </a:r>
          </a:p>
        </p:txBody>
      </p:sp>
      <p:sp>
        <p:nvSpPr>
          <p:cNvPr id="12" name="TextBox 11"/>
          <p:cNvSpPr txBox="1"/>
          <p:nvPr/>
        </p:nvSpPr>
        <p:spPr>
          <a:xfrm>
            <a:off x="8183880" y="4206240"/>
            <a:ext cx="3337560" cy="1920239"/>
          </a:xfrm>
          <a:prstGeom prst="rect">
            <a:avLst/>
          </a:prstGeom>
          <a:noFill/>
        </p:spPr>
        <p:txBody>
          <a:bodyPr wrap="square" anchor="t" lIns="36576" rIns="36576" tIns="18288" bIns="18288">
            <a:spAutoFit/>
          </a:bodyPr>
          <a:lstStyle/>
          <a:p>
            <a:pPr algn="l"/>
            <a:r>
              <a:rPr sz="1200" b="0" i="0">
                <a:solidFill>
                  <a:srgbClr val="1F2937"/>
                </a:solidFill>
                <a:latin typeface="Calibri"/>
              </a:rPr>
              <a:t>Clickstream is the most valuable extra source, but it stops in 2024-06. OpenFE features help a little; their value was settled by the feature-reduction rule (step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Why model A is the champion</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STEPS 27, 30</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7</a:t>
            </a:r>
          </a:p>
        </p:txBody>
      </p:sp>
      <p:graphicFrame>
        <p:nvGraphicFramePr>
          <p:cNvPr id="6" name="Table"/>
          <p:cNvGraphicFramePr>
            <a:graphicFrameLocks noGrp="1"/>
          </p:cNvGraphicFramePr>
          <p:nvPr/>
        </p:nvGraphicFramePr>
        <p:xfrm>
          <a:off x="548640" y="1325880"/>
          <a:ext cx="6949440" cy="3328416"/>
        </p:xfrm>
        <a:graphic>
          <a:graphicData uri="http://schemas.openxmlformats.org/drawingml/2006/table">
            <a:tbl>
              <a:tblPr firstRow="0" bandRow="0">
                <a:tableStyleId>{5940675A-B579-460E-94D1-54222C63F5DA}</a:tableStyleId>
              </a:tblPr>
              <a:tblGrid>
                <a:gridCol w="2011680"/>
                <a:gridCol w="2468880"/>
                <a:gridCol w="2468880"/>
              </a:tblGrid>
              <a:tr h="475488">
                <a:tc>
                  <a:txBody>
                    <a:bodyPr wrap="square"/>
                    <a:lstStyle/>
                    <a:p>
                      <a:r>
                        <a:rPr sz="1250" b="1">
                          <a:solidFill>
                            <a:srgbClr val="FFFFFF"/>
                          </a:solidFill>
                          <a:latin typeface="Calibri"/>
                        </a:rPr>
                        <a:t/>
                      </a:r>
                    </a:p>
                  </a:txBody>
                  <a:tcPr marL="73152" marR="73152" marT="27432" marB="27432" anchor="ctr">
                    <a:solidFill>
                      <a:srgbClr val="14213D"/>
                    </a:solidFill>
                  </a:tcPr>
                </a:tc>
                <a:tc>
                  <a:txBody>
                    <a:bodyPr wrap="square"/>
                    <a:lstStyle/>
                    <a:p>
                      <a:r>
                        <a:rPr sz="1250" b="1">
                          <a:solidFill>
                            <a:srgbClr val="FFFFFF"/>
                          </a:solidFill>
                          <a:latin typeface="Calibri"/>
                        </a:rPr>
                        <a:t>Model A — champion</a:t>
                      </a:r>
                    </a:p>
                  </a:txBody>
                  <a:tcPr marL="73152" marR="73152" marT="27432" marB="27432" anchor="ctr">
                    <a:solidFill>
                      <a:srgbClr val="14213D"/>
                    </a:solidFill>
                  </a:tcPr>
                </a:tc>
                <a:tc>
                  <a:txBody>
                    <a:bodyPr wrap="square"/>
                    <a:lstStyle/>
                    <a:p>
                      <a:r>
                        <a:rPr sz="1250" b="1">
                          <a:solidFill>
                            <a:srgbClr val="FFFFFF"/>
                          </a:solidFill>
                          <a:latin typeface="Calibri"/>
                        </a:rPr>
                        <a:t>Model B — challenger</a:t>
                      </a:r>
                    </a:p>
                  </a:txBody>
                  <a:tcPr marL="73152" marR="73152" marT="27432" marB="27432" anchor="ctr">
                    <a:solidFill>
                      <a:srgbClr val="14213D"/>
                    </a:solidFill>
                  </a:tcPr>
                </a:tc>
              </a:tr>
              <a:tr h="475488">
                <a:tc>
                  <a:txBody>
                    <a:bodyPr wrap="square"/>
                    <a:lstStyle/>
                    <a:p>
                      <a:r>
                        <a:rPr sz="1250" b="1">
                          <a:solidFill>
                            <a:srgbClr val="1F2937"/>
                          </a:solidFill>
                          <a:latin typeface="Calibri"/>
                        </a:rPr>
                        <a:t>Algorithm / features</a:t>
                      </a:r>
                    </a:p>
                  </a:txBody>
                  <a:tcPr marL="73152" marR="73152" marT="27432" marB="27432" anchor="ctr">
                    <a:solidFill>
                      <a:srgbClr val="FFFFFF"/>
                    </a:solidFill>
                  </a:tcPr>
                </a:tc>
                <a:tc>
                  <a:txBody>
                    <a:bodyPr wrap="square"/>
                    <a:lstStyle/>
                    <a:p>
                      <a:r>
                        <a:rPr sz="1250" b="0">
                          <a:solidFill>
                            <a:srgbClr val="1F2937"/>
                          </a:solidFill>
                          <a:latin typeface="Calibri"/>
                        </a:rPr>
                        <a:t>XGBoost · 30 (no clickstream)</a:t>
                      </a:r>
                    </a:p>
                  </a:txBody>
                  <a:tcPr marL="73152" marR="73152" marT="27432" marB="27432" anchor="ctr">
                    <a:solidFill>
                      <a:srgbClr val="FFFFFF"/>
                    </a:solidFill>
                  </a:tcPr>
                </a:tc>
                <a:tc>
                  <a:txBody>
                    <a:bodyPr wrap="square"/>
                    <a:lstStyle/>
                    <a:p>
                      <a:r>
                        <a:rPr sz="1250" b="0">
                          <a:solidFill>
                            <a:srgbClr val="1F2937"/>
                          </a:solidFill>
                          <a:latin typeface="Calibri"/>
                        </a:rPr>
                        <a:t>XGBoost · 25 (10 clickstream)</a:t>
                      </a:r>
                    </a:p>
                  </a:txBody>
                  <a:tcPr marL="73152" marR="73152" marT="27432" marB="27432" anchor="ctr">
                    <a:solidFill>
                      <a:srgbClr val="FFFFFF"/>
                    </a:solidFill>
                  </a:tcPr>
                </a:tc>
              </a:tr>
              <a:tr h="475488">
                <a:tc>
                  <a:txBody>
                    <a:bodyPr wrap="square"/>
                    <a:lstStyle/>
                    <a:p>
                      <a:r>
                        <a:rPr sz="1250" b="1">
                          <a:solidFill>
                            <a:srgbClr val="1F2937"/>
                          </a:solidFill>
                          <a:latin typeface="Calibri"/>
                        </a:rPr>
                        <a:t>CV PR-AUC</a:t>
                      </a:r>
                    </a:p>
                  </a:txBody>
                  <a:tcPr marL="73152" marR="73152" marT="27432" marB="27432" anchor="ctr">
                    <a:solidFill>
                      <a:srgbClr val="F6F8FB"/>
                    </a:solidFill>
                  </a:tcPr>
                </a:tc>
                <a:tc>
                  <a:txBody>
                    <a:bodyPr wrap="square"/>
                    <a:lstStyle/>
                    <a:p>
                      <a:r>
                        <a:rPr sz="1250" b="0">
                          <a:solidFill>
                            <a:srgbClr val="1F2937"/>
                          </a:solidFill>
                          <a:latin typeface="Calibri"/>
                        </a:rPr>
                        <a:t>0.640</a:t>
                      </a:r>
                    </a:p>
                  </a:txBody>
                  <a:tcPr marL="73152" marR="73152" marT="27432" marB="27432" anchor="ctr">
                    <a:solidFill>
                      <a:srgbClr val="F6F8FB"/>
                    </a:solidFill>
                  </a:tcPr>
                </a:tc>
                <a:tc>
                  <a:txBody>
                    <a:bodyPr wrap="square"/>
                    <a:lstStyle/>
                    <a:p>
                      <a:r>
                        <a:rPr sz="1250" b="0">
                          <a:solidFill>
                            <a:srgbClr val="1F2937"/>
                          </a:solidFill>
                          <a:latin typeface="Calibri"/>
                        </a:rPr>
                        <a:t>0.666</a:t>
                      </a:r>
                    </a:p>
                  </a:txBody>
                  <a:tcPr marL="73152" marR="73152" marT="27432" marB="27432" anchor="ctr">
                    <a:solidFill>
                      <a:srgbClr val="F6F8FB"/>
                    </a:solidFill>
                  </a:tcPr>
                </a:tc>
              </a:tr>
              <a:tr h="475488">
                <a:tc>
                  <a:txBody>
                    <a:bodyPr wrap="square"/>
                    <a:lstStyle/>
                    <a:p>
                      <a:r>
                        <a:rPr sz="1250" b="1">
                          <a:solidFill>
                            <a:srgbClr val="1F2937"/>
                          </a:solidFill>
                          <a:latin typeface="Calibri"/>
                        </a:rPr>
                        <a:t>Validation PR-AUC</a:t>
                      </a:r>
                    </a:p>
                  </a:txBody>
                  <a:tcPr marL="73152" marR="73152" marT="27432" marB="27432" anchor="ctr">
                    <a:solidFill>
                      <a:srgbClr val="FFFFFF"/>
                    </a:solidFill>
                  </a:tcPr>
                </a:tc>
                <a:tc>
                  <a:txBody>
                    <a:bodyPr wrap="square"/>
                    <a:lstStyle/>
                    <a:p>
                      <a:r>
                        <a:rPr sz="1250" b="0">
                          <a:solidFill>
                            <a:srgbClr val="1F2937"/>
                          </a:solidFill>
                          <a:latin typeface="Calibri"/>
                        </a:rPr>
                        <a:t>0.601</a:t>
                      </a:r>
                    </a:p>
                  </a:txBody>
                  <a:tcPr marL="73152" marR="73152" marT="27432" marB="27432" anchor="ctr">
                    <a:solidFill>
                      <a:srgbClr val="FFFFFF"/>
                    </a:solidFill>
                  </a:tcPr>
                </a:tc>
                <a:tc>
                  <a:txBody>
                    <a:bodyPr wrap="square"/>
                    <a:lstStyle/>
                    <a:p>
                      <a:r>
                        <a:rPr sz="1250" b="0">
                          <a:solidFill>
                            <a:srgbClr val="1F2937"/>
                          </a:solidFill>
                          <a:latin typeface="Calibri"/>
                        </a:rPr>
                        <a:t>0.647</a:t>
                      </a:r>
                    </a:p>
                  </a:txBody>
                  <a:tcPr marL="73152" marR="73152" marT="27432" marB="27432" anchor="ctr">
                    <a:solidFill>
                      <a:srgbClr val="FFFFFF"/>
                    </a:solidFill>
                  </a:tcPr>
                </a:tc>
              </a:tr>
              <a:tr h="475488">
                <a:tc>
                  <a:txBody>
                    <a:bodyPr wrap="square"/>
                    <a:lstStyle/>
                    <a:p>
                      <a:r>
                        <a:rPr sz="1250" b="1">
                          <a:solidFill>
                            <a:srgbClr val="1F2937"/>
                          </a:solidFill>
                          <a:latin typeface="Calibri"/>
                        </a:rPr>
                        <a:t>Test PR-AUC (in-time)</a:t>
                      </a:r>
                    </a:p>
                  </a:txBody>
                  <a:tcPr marL="73152" marR="73152" marT="27432" marB="27432" anchor="ctr">
                    <a:solidFill>
                      <a:srgbClr val="F6F8FB"/>
                    </a:solidFill>
                  </a:tcPr>
                </a:tc>
                <a:tc>
                  <a:txBody>
                    <a:bodyPr wrap="square"/>
                    <a:lstStyle/>
                    <a:p>
                      <a:r>
                        <a:rPr sz="1250" b="0">
                          <a:solidFill>
                            <a:srgbClr val="1F2937"/>
                          </a:solidFill>
                          <a:latin typeface="Calibri"/>
                        </a:rPr>
                        <a:t>0.613</a:t>
                      </a:r>
                    </a:p>
                  </a:txBody>
                  <a:tcPr marL="73152" marR="73152" marT="27432" marB="27432" anchor="ctr">
                    <a:solidFill>
                      <a:srgbClr val="F6F8FB"/>
                    </a:solidFill>
                  </a:tcPr>
                </a:tc>
                <a:tc>
                  <a:txBody>
                    <a:bodyPr wrap="square"/>
                    <a:lstStyle/>
                    <a:p>
                      <a:r>
                        <a:rPr sz="1250" b="0">
                          <a:solidFill>
                            <a:srgbClr val="1F2937"/>
                          </a:solidFill>
                          <a:latin typeface="Calibri"/>
                        </a:rPr>
                        <a:t>0.640</a:t>
                      </a:r>
                    </a:p>
                  </a:txBody>
                  <a:tcPr marL="73152" marR="73152" marT="27432" marB="27432" anchor="ctr">
                    <a:solidFill>
                      <a:srgbClr val="F6F8FB"/>
                    </a:solidFill>
                  </a:tcPr>
                </a:tc>
              </a:tr>
              <a:tr h="475488">
                <a:tc>
                  <a:txBody>
                    <a:bodyPr wrap="square"/>
                    <a:lstStyle/>
                    <a:p>
                      <a:r>
                        <a:rPr sz="1250" b="1">
                          <a:solidFill>
                            <a:srgbClr val="1F2937"/>
                          </a:solidFill>
                          <a:latin typeface="Calibri"/>
                        </a:rPr>
                        <a:t>Can be tested on OOT</a:t>
                      </a:r>
                    </a:p>
                  </a:txBody>
                  <a:tcPr marL="73152" marR="73152" marT="27432" marB="27432" anchor="ctr">
                    <a:solidFill>
                      <a:srgbClr val="FFFFFF"/>
                    </a:solidFill>
                  </a:tcPr>
                </a:tc>
                <a:tc>
                  <a:txBody>
                    <a:bodyPr wrap="square"/>
                    <a:lstStyle/>
                    <a:p>
                      <a:r>
                        <a:rPr sz="1250" b="0">
                          <a:solidFill>
                            <a:srgbClr val="1F2937"/>
                          </a:solidFill>
                          <a:latin typeface="Calibri"/>
                        </a:rPr>
                        <a:t>yes</a:t>
                      </a:r>
                    </a:p>
                  </a:txBody>
                  <a:tcPr marL="73152" marR="73152" marT="27432" marB="27432" anchor="ctr">
                    <a:solidFill>
                      <a:srgbClr val="FFFFFF"/>
                    </a:solidFill>
                  </a:tcPr>
                </a:tc>
                <a:tc>
                  <a:txBody>
                    <a:bodyPr wrap="square"/>
                    <a:lstStyle/>
                    <a:p>
                      <a:r>
                        <a:rPr sz="1250" b="0">
                          <a:solidFill>
                            <a:srgbClr val="1F2937"/>
                          </a:solidFill>
                          <a:latin typeface="Calibri"/>
                        </a:rPr>
                        <a:t>no — no clickstream after 2024-06</a:t>
                      </a:r>
                    </a:p>
                  </a:txBody>
                  <a:tcPr marL="73152" marR="73152" marT="27432" marB="27432" anchor="ctr">
                    <a:solidFill>
                      <a:srgbClr val="FFFFFF"/>
                    </a:solidFill>
                  </a:tcPr>
                </a:tc>
              </a:tr>
              <a:tr h="475488">
                <a:tc>
                  <a:txBody>
                    <a:bodyPr wrap="square"/>
                    <a:lstStyle/>
                    <a:p>
                      <a:r>
                        <a:rPr sz="1250" b="1">
                          <a:solidFill>
                            <a:srgbClr val="1F2937"/>
                          </a:solidFill>
                          <a:latin typeface="Calibri"/>
                        </a:rPr>
                        <a:t>Can score new applicants</a:t>
                      </a:r>
                    </a:p>
                  </a:txBody>
                  <a:tcPr marL="73152" marR="73152" marT="27432" marB="27432" anchor="ctr">
                    <a:solidFill>
                      <a:srgbClr val="F6F8FB"/>
                    </a:solidFill>
                  </a:tcPr>
                </a:tc>
                <a:tc>
                  <a:txBody>
                    <a:bodyPr wrap="square"/>
                    <a:lstStyle/>
                    <a:p>
                      <a:r>
                        <a:rPr sz="1250" b="0">
                          <a:solidFill>
                            <a:srgbClr val="1F2937"/>
                          </a:solidFill>
                          <a:latin typeface="Calibri"/>
                        </a:rPr>
                        <a:t>yes</a:t>
                      </a:r>
                    </a:p>
                  </a:txBody>
                  <a:tcPr marL="73152" marR="73152" marT="27432" marB="27432" anchor="ctr">
                    <a:solidFill>
                      <a:srgbClr val="F6F8FB"/>
                    </a:solidFill>
                  </a:tcPr>
                </a:tc>
                <a:tc>
                  <a:txBody>
                    <a:bodyPr wrap="square"/>
                    <a:lstStyle/>
                    <a:p>
                      <a:r>
                        <a:rPr sz="1250" b="0">
                          <a:solidFill>
                            <a:srgbClr val="1F2937"/>
                          </a:solidFill>
                          <a:latin typeface="Calibri"/>
                        </a:rPr>
                        <a:t>no — feed stopped</a:t>
                      </a:r>
                    </a:p>
                  </a:txBody>
                  <a:tcPr marL="73152" marR="73152" marT="27432" marB="27432" anchor="ctr">
                    <a:solidFill>
                      <a:srgbClr val="F6F8FB"/>
                    </a:solidFill>
                  </a:tcPr>
                </a:tc>
              </a:tr>
            </a:tbl>
          </a:graphicData>
        </a:graphic>
      </p:graphicFrame>
      <p:sp>
        <p:nvSpPr>
          <p:cNvPr id="7" name="Rounded Rectangle 6"/>
          <p:cNvSpPr/>
          <p:nvPr/>
        </p:nvSpPr>
        <p:spPr>
          <a:xfrm>
            <a:off x="7863840" y="1325880"/>
            <a:ext cx="3794760" cy="21945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417320"/>
            <a:ext cx="3520440" cy="365760"/>
          </a:xfrm>
          <a:prstGeom prst="rect">
            <a:avLst/>
          </a:prstGeom>
          <a:noFill/>
        </p:spPr>
        <p:txBody>
          <a:bodyPr wrap="square" anchor="t" lIns="36576" rIns="36576" tIns="18288" bIns="18288">
            <a:spAutoFit/>
          </a:bodyPr>
          <a:lstStyle/>
          <a:p>
            <a:pPr algn="l"/>
            <a:r>
              <a:rPr sz="1400" b="1" i="0">
                <a:solidFill>
                  <a:srgbClr val="14213D"/>
                </a:solidFill>
                <a:latin typeface="Calibri"/>
              </a:rPr>
              <a:t>B's edge is not significant</a:t>
            </a:r>
          </a:p>
        </p:txBody>
      </p:sp>
      <p:sp>
        <p:nvSpPr>
          <p:cNvPr id="9" name="TextBox 8"/>
          <p:cNvSpPr txBox="1"/>
          <p:nvPr/>
        </p:nvSpPr>
        <p:spPr>
          <a:xfrm>
            <a:off x="8001000" y="1783080"/>
            <a:ext cx="3520440" cy="1691639"/>
          </a:xfrm>
          <a:prstGeom prst="rect">
            <a:avLst/>
          </a:prstGeom>
          <a:noFill/>
        </p:spPr>
        <p:txBody>
          <a:bodyPr wrap="square" anchor="t" lIns="36576" rIns="36576" tIns="18288" bIns="18288">
            <a:spAutoFit/>
          </a:bodyPr>
          <a:lstStyle/>
          <a:p>
            <a:pPr algn="l"/>
            <a:r>
              <a:rPr sz="1200" b="0" i="0">
                <a:solidFill>
                  <a:srgbClr val="1F2937"/>
                </a:solidFill>
                <a:latin typeface="Calibri"/>
              </a:rPr>
              <a:t>On test, B − A = +0.027, 95% bootstrap CI [-0.007, +0.062] — includes zero.</a:t>
            </a:r>
          </a:p>
        </p:txBody>
      </p:sp>
      <p:sp>
        <p:nvSpPr>
          <p:cNvPr id="10" name="Rounded Rectangle 9"/>
          <p:cNvSpPr/>
          <p:nvPr/>
        </p:nvSpPr>
        <p:spPr>
          <a:xfrm>
            <a:off x="7863840" y="3703320"/>
            <a:ext cx="3794760" cy="246888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3794759"/>
            <a:ext cx="3520440" cy="365760"/>
          </a:xfrm>
          <a:prstGeom prst="rect">
            <a:avLst/>
          </a:prstGeom>
          <a:noFill/>
        </p:spPr>
        <p:txBody>
          <a:bodyPr wrap="square" anchor="t" lIns="36576" rIns="36576" tIns="18288" bIns="18288">
            <a:spAutoFit/>
          </a:bodyPr>
          <a:lstStyle/>
          <a:p>
            <a:pPr algn="l"/>
            <a:r>
              <a:rPr sz="1400" b="1" i="0">
                <a:solidFill>
                  <a:srgbClr val="14213D"/>
                </a:solidFill>
                <a:latin typeface="Calibri"/>
              </a:rPr>
              <a:t>Without clickstream, B falls behind</a:t>
            </a:r>
          </a:p>
        </p:txBody>
      </p:sp>
      <p:sp>
        <p:nvSpPr>
          <p:cNvPr id="12" name="TextBox 11"/>
          <p:cNvSpPr txBox="1"/>
          <p:nvPr/>
        </p:nvSpPr>
        <p:spPr>
          <a:xfrm>
            <a:off x="8001000" y="4160520"/>
            <a:ext cx="3520440" cy="1965960"/>
          </a:xfrm>
          <a:prstGeom prst="rect">
            <a:avLst/>
          </a:prstGeom>
          <a:noFill/>
        </p:spPr>
        <p:txBody>
          <a:bodyPr wrap="square" anchor="t" lIns="36576" rIns="36576" tIns="18288" bIns="18288">
            <a:spAutoFit/>
          </a:bodyPr>
          <a:lstStyle/>
          <a:p>
            <a:pPr algn="l"/>
            <a:r>
              <a:rPr sz="1200" b="0" i="0">
                <a:solidFill>
                  <a:srgbClr val="1F2937"/>
                </a:solidFill>
                <a:latin typeface="Calibri"/>
              </a:rPr>
              <a:t>Scored on OOT with clickstream missing, B gets 0.610 vs the champion's 0.619. B is ready if the clickstream feed is restored.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Operating threshold: maximise F1 on validation</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30</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8</a:t>
            </a:r>
          </a:p>
        </p:txBody>
      </p:sp>
      <p:pic>
        <p:nvPicPr>
          <p:cNvPr id="6" name="30_1_threshold_selection.png" descr="30_1_threshold_selection.png"/>
          <p:cNvPicPr>
            <a:picLocks noChangeAspect="1"/>
          </p:cNvPicPr>
          <p:nvPr/>
        </p:nvPicPr>
        <p:blipFill>
          <a:blip r:embed="rId2"/>
          <a:stretch>
            <a:fillRect/>
          </a:stretch>
        </p:blipFill>
        <p:spPr>
          <a:xfrm>
            <a:off x="1011194" y="1280160"/>
            <a:ext cx="10139130" cy="3108960"/>
          </a:xfrm>
          <a:prstGeom prst="rect">
            <a:avLst/>
          </a:prstGeom>
        </p:spPr>
      </p:pic>
      <p:graphicFrame>
        <p:nvGraphicFramePr>
          <p:cNvPr id="7" name="Table"/>
          <p:cNvGraphicFramePr>
            <a:graphicFrameLocks noGrp="1"/>
          </p:cNvGraphicFramePr>
          <p:nvPr/>
        </p:nvGraphicFramePr>
        <p:xfrm>
          <a:off x="548640" y="4572000"/>
          <a:ext cx="7498080" cy="1463040"/>
        </p:xfrm>
        <a:graphic>
          <a:graphicData uri="http://schemas.openxmlformats.org/drawingml/2006/table">
            <a:tbl>
              <a:tblPr firstRow="0" bandRow="0">
                <a:tableStyleId>{5940675A-B579-460E-94D1-54222C63F5DA}</a:tableStyleId>
              </a:tblPr>
              <a:tblGrid>
                <a:gridCol w="2560320"/>
                <a:gridCol w="914400"/>
                <a:gridCol w="914400"/>
                <a:gridCol w="914400"/>
                <a:gridCol w="914400"/>
                <a:gridCol w="1280160"/>
              </a:tblGrid>
              <a:tr h="365760">
                <a:tc>
                  <a:txBody>
                    <a:bodyPr wrap="square"/>
                    <a:lstStyle/>
                    <a:p>
                      <a:r>
                        <a:rPr sz="1200" b="1">
                          <a:solidFill>
                            <a:srgbClr val="FFFFFF"/>
                          </a:solidFill>
                          <a:latin typeface="Calibri"/>
                        </a:rPr>
                        <a:t>Model</a:t>
                      </a:r>
                    </a:p>
                  </a:txBody>
                  <a:tcPr marL="73152" marR="73152" marT="27432" marB="27432" anchor="ctr">
                    <a:solidFill>
                      <a:srgbClr val="14213D"/>
                    </a:solidFill>
                  </a:tcPr>
                </a:tc>
                <a:tc>
                  <a:txBody>
                    <a:bodyPr wrap="square"/>
                    <a:lstStyle/>
                    <a:p>
                      <a:r>
                        <a:rPr sz="1200" b="1">
                          <a:solidFill>
                            <a:srgbClr val="FFFFFF"/>
                          </a:solidFill>
                          <a:latin typeface="Calibri"/>
                        </a:rPr>
                        <a:t>Threshold</a:t>
                      </a:r>
                    </a:p>
                  </a:txBody>
                  <a:tcPr marL="73152" marR="73152" marT="27432" marB="27432" anchor="ctr">
                    <a:solidFill>
                      <a:srgbClr val="14213D"/>
                    </a:solidFill>
                  </a:tcPr>
                </a:tc>
                <a:tc>
                  <a:txBody>
                    <a:bodyPr wrap="square"/>
                    <a:lstStyle/>
                    <a:p>
                      <a:r>
                        <a:rPr sz="1200" b="1">
                          <a:solidFill>
                            <a:srgbClr val="FFFFFF"/>
                          </a:solidFill>
                          <a:latin typeface="Calibri"/>
                        </a:rPr>
                        <a:t>Precision</a:t>
                      </a:r>
                    </a:p>
                  </a:txBody>
                  <a:tcPr marL="73152" marR="73152" marT="27432" marB="27432" anchor="ctr">
                    <a:solidFill>
                      <a:srgbClr val="14213D"/>
                    </a:solidFill>
                  </a:tcPr>
                </a:tc>
                <a:tc>
                  <a:txBody>
                    <a:bodyPr wrap="square"/>
                    <a:lstStyle/>
                    <a:p>
                      <a:r>
                        <a:rPr sz="1200" b="1">
                          <a:solidFill>
                            <a:srgbClr val="FFFFFF"/>
                          </a:solidFill>
                          <a:latin typeface="Calibri"/>
                        </a:rPr>
                        <a:t>Recall</a:t>
                      </a:r>
                    </a:p>
                  </a:txBody>
                  <a:tcPr marL="73152" marR="73152" marT="27432" marB="27432" anchor="ctr">
                    <a:solidFill>
                      <a:srgbClr val="14213D"/>
                    </a:solidFill>
                  </a:tcPr>
                </a:tc>
                <a:tc>
                  <a:txBody>
                    <a:bodyPr wrap="square"/>
                    <a:lstStyle/>
                    <a:p>
                      <a:r>
                        <a:rPr sz="1200" b="1">
                          <a:solidFill>
                            <a:srgbClr val="FFFFFF"/>
                          </a:solidFill>
                          <a:latin typeface="Calibri"/>
                        </a:rPr>
                        <a:t>F1</a:t>
                      </a:r>
                    </a:p>
                  </a:txBody>
                  <a:tcPr marL="73152" marR="73152" marT="27432" marB="27432" anchor="ctr">
                    <a:solidFill>
                      <a:srgbClr val="14213D"/>
                    </a:solidFill>
                  </a:tcPr>
                </a:tc>
                <a:tc>
                  <a:txBody>
                    <a:bodyPr wrap="square"/>
                    <a:lstStyle/>
                    <a:p>
                      <a:r>
                        <a:rPr sz="1200" b="1">
                          <a:solidFill>
                            <a:srgbClr val="FFFFFF"/>
                          </a:solidFill>
                          <a:latin typeface="Calibri"/>
                        </a:rPr>
                        <a:t>Loans flagged</a:t>
                      </a:r>
                    </a:p>
                  </a:txBody>
                  <a:tcPr marL="73152" marR="73152" marT="27432" marB="27432" anchor="ctr">
                    <a:solidFill>
                      <a:srgbClr val="14213D"/>
                    </a:solidFill>
                  </a:tcPr>
                </a:tc>
              </a:tr>
              <a:tr h="365760">
                <a:tc>
                  <a:txBody>
                    <a:bodyPr wrap="square"/>
                    <a:lstStyle/>
                    <a:p>
                      <a:r>
                        <a:rPr sz="1200" b="1">
                          <a:solidFill>
                            <a:srgbClr val="1F2937"/>
                          </a:solidFill>
                          <a:latin typeface="Calibri"/>
                        </a:rPr>
                        <a:t>LR__A_raw (baseline)</a:t>
                      </a:r>
                    </a:p>
                  </a:txBody>
                  <a:tcPr marL="73152" marR="73152" marT="27432" marB="27432" anchor="ctr">
                    <a:solidFill>
                      <a:srgbClr val="FFFFFF"/>
                    </a:solidFill>
                  </a:tcPr>
                </a:tc>
                <a:tc>
                  <a:txBody>
                    <a:bodyPr wrap="square"/>
                    <a:lstStyle/>
                    <a:p>
                      <a:r>
                        <a:rPr sz="1200" b="0">
                          <a:solidFill>
                            <a:srgbClr val="1F2937"/>
                          </a:solidFill>
                          <a:latin typeface="Calibri"/>
                        </a:rPr>
                        <a:t>0.32</a:t>
                      </a:r>
                    </a:p>
                  </a:txBody>
                  <a:tcPr marL="73152" marR="73152" marT="27432" marB="27432" anchor="ctr">
                    <a:solidFill>
                      <a:srgbClr val="FFFFFF"/>
                    </a:solidFill>
                  </a:tcPr>
                </a:tc>
                <a:tc>
                  <a:txBody>
                    <a:bodyPr wrap="square"/>
                    <a:lstStyle/>
                    <a:p>
                      <a:r>
                        <a:rPr sz="1200" b="0">
                          <a:solidFill>
                            <a:srgbClr val="1F2937"/>
                          </a:solidFill>
                          <a:latin typeface="Calibri"/>
                        </a:rPr>
                        <a:t>0.54</a:t>
                      </a:r>
                    </a:p>
                  </a:txBody>
                  <a:tcPr marL="73152" marR="73152" marT="27432" marB="27432" anchor="ctr">
                    <a:solidFill>
                      <a:srgbClr val="FFFFFF"/>
                    </a:solidFill>
                  </a:tcPr>
                </a:tc>
                <a:tc>
                  <a:txBody>
                    <a:bodyPr wrap="square"/>
                    <a:lstStyle/>
                    <a:p>
                      <a:r>
                        <a:rPr sz="1200" b="0">
                          <a:solidFill>
                            <a:srgbClr val="1F2937"/>
                          </a:solidFill>
                          <a:latin typeface="Calibri"/>
                        </a:rPr>
                        <a:t>0.66</a:t>
                      </a:r>
                    </a:p>
                  </a:txBody>
                  <a:tcPr marL="73152" marR="73152" marT="27432" marB="27432" anchor="ctr">
                    <a:solidFill>
                      <a:srgbClr val="FFFFFF"/>
                    </a:solidFill>
                  </a:tcPr>
                </a:tc>
                <a:tc>
                  <a:txBody>
                    <a:bodyPr wrap="square"/>
                    <a:lstStyle/>
                    <a:p>
                      <a:r>
                        <a:rPr sz="1200" b="0">
                          <a:solidFill>
                            <a:srgbClr val="1F2937"/>
                          </a:solidFill>
                          <a:latin typeface="Calibri"/>
                        </a:rPr>
                        <a:t>0.597</a:t>
                      </a:r>
                    </a:p>
                  </a:txBody>
                  <a:tcPr marL="73152" marR="73152" marT="27432" marB="27432" anchor="ctr">
                    <a:solidFill>
                      <a:srgbClr val="FFFFFF"/>
                    </a:solidFill>
                  </a:tcPr>
                </a:tc>
                <a:tc>
                  <a:txBody>
                    <a:bodyPr wrap="square"/>
                    <a:lstStyle/>
                    <a:p>
                      <a:r>
                        <a:rPr sz="1200" b="0">
                          <a:solidFill>
                            <a:srgbClr val="1F2937"/>
                          </a:solidFill>
                          <a:latin typeface="Calibri"/>
                        </a:rPr>
                        <a:t>35%</a:t>
                      </a:r>
                    </a:p>
                  </a:txBody>
                  <a:tcPr marL="73152" marR="73152" marT="27432" marB="27432" anchor="ctr">
                    <a:solidFill>
                      <a:srgbClr val="FFFFFF"/>
                    </a:solidFill>
                  </a:tcPr>
                </a:tc>
              </a:tr>
              <a:tr h="365760">
                <a:tc>
                  <a:txBody>
                    <a:bodyPr wrap="square"/>
                    <a:lstStyle/>
                    <a:p>
                      <a:r>
                        <a:rPr sz="1200" b="1">
                          <a:solidFill>
                            <a:srgbClr val="1F2937"/>
                          </a:solidFill>
                          <a:latin typeface="Calibri"/>
                        </a:rPr>
                        <a:t>XGB model A (champion)</a:t>
                      </a:r>
                    </a:p>
                  </a:txBody>
                  <a:tcPr marL="73152" marR="73152" marT="27432" marB="27432" anchor="ctr">
                    <a:solidFill>
                      <a:srgbClr val="F6F8FB"/>
                    </a:solidFill>
                  </a:tcPr>
                </a:tc>
                <a:tc>
                  <a:txBody>
                    <a:bodyPr wrap="square"/>
                    <a:lstStyle/>
                    <a:p>
                      <a:r>
                        <a:rPr sz="1200" b="0">
                          <a:solidFill>
                            <a:srgbClr val="1F2937"/>
                          </a:solidFill>
                          <a:latin typeface="Calibri"/>
                        </a:rPr>
                        <a:t>0.29</a:t>
                      </a:r>
                    </a:p>
                  </a:txBody>
                  <a:tcPr marL="73152" marR="73152" marT="27432" marB="27432" anchor="ctr">
                    <a:solidFill>
                      <a:srgbClr val="F6F8FB"/>
                    </a:solidFill>
                  </a:tcPr>
                </a:tc>
                <a:tc>
                  <a:txBody>
                    <a:bodyPr wrap="square"/>
                    <a:lstStyle/>
                    <a:p>
                      <a:r>
                        <a:rPr sz="1200" b="0">
                          <a:solidFill>
                            <a:srgbClr val="1F2937"/>
                          </a:solidFill>
                          <a:latin typeface="Calibri"/>
                        </a:rPr>
                        <a:t>0.55</a:t>
                      </a:r>
                    </a:p>
                  </a:txBody>
                  <a:tcPr marL="73152" marR="73152" marT="27432" marB="27432" anchor="ctr">
                    <a:solidFill>
                      <a:srgbClr val="F6F8FB"/>
                    </a:solidFill>
                  </a:tcPr>
                </a:tc>
                <a:tc>
                  <a:txBody>
                    <a:bodyPr wrap="square"/>
                    <a:lstStyle/>
                    <a:p>
                      <a:r>
                        <a:rPr sz="1200" b="0">
                          <a:solidFill>
                            <a:srgbClr val="1F2937"/>
                          </a:solidFill>
                          <a:latin typeface="Calibri"/>
                        </a:rPr>
                        <a:t>0.70</a:t>
                      </a:r>
                    </a:p>
                  </a:txBody>
                  <a:tcPr marL="73152" marR="73152" marT="27432" marB="27432" anchor="ctr">
                    <a:solidFill>
                      <a:srgbClr val="F6F8FB"/>
                    </a:solidFill>
                  </a:tcPr>
                </a:tc>
                <a:tc>
                  <a:txBody>
                    <a:bodyPr wrap="square"/>
                    <a:lstStyle/>
                    <a:p>
                      <a:r>
                        <a:rPr sz="1200" b="0">
                          <a:solidFill>
                            <a:srgbClr val="1F2937"/>
                          </a:solidFill>
                          <a:latin typeface="Calibri"/>
                        </a:rPr>
                        <a:t>0.620</a:t>
                      </a:r>
                    </a:p>
                  </a:txBody>
                  <a:tcPr marL="73152" marR="73152" marT="27432" marB="27432" anchor="ctr">
                    <a:solidFill>
                      <a:srgbClr val="F6F8FB"/>
                    </a:solidFill>
                  </a:tcPr>
                </a:tc>
                <a:tc>
                  <a:txBody>
                    <a:bodyPr wrap="square"/>
                    <a:lstStyle/>
                    <a:p>
                      <a:r>
                        <a:rPr sz="1200" b="0">
                          <a:solidFill>
                            <a:srgbClr val="1F2937"/>
                          </a:solidFill>
                          <a:latin typeface="Calibri"/>
                        </a:rPr>
                        <a:t>37%</a:t>
                      </a:r>
                    </a:p>
                  </a:txBody>
                  <a:tcPr marL="73152" marR="73152" marT="27432" marB="27432" anchor="ctr">
                    <a:solidFill>
                      <a:srgbClr val="F6F8FB"/>
                    </a:solidFill>
                  </a:tcPr>
                </a:tc>
              </a:tr>
              <a:tr h="365760">
                <a:tc>
                  <a:txBody>
                    <a:bodyPr wrap="square"/>
                    <a:lstStyle/>
                    <a:p>
                      <a:r>
                        <a:rPr sz="1200" b="1">
                          <a:solidFill>
                            <a:srgbClr val="1F2937"/>
                          </a:solidFill>
                          <a:latin typeface="Calibri"/>
                        </a:rPr>
                        <a:t>XGB model B (challenger)</a:t>
                      </a:r>
                    </a:p>
                  </a:txBody>
                  <a:tcPr marL="73152" marR="73152" marT="27432" marB="27432" anchor="ctr">
                    <a:solidFill>
                      <a:srgbClr val="FFFFFF"/>
                    </a:solidFill>
                  </a:tcPr>
                </a:tc>
                <a:tc>
                  <a:txBody>
                    <a:bodyPr wrap="square"/>
                    <a:lstStyle/>
                    <a:p>
                      <a:r>
                        <a:rPr sz="1200" b="0">
                          <a:solidFill>
                            <a:srgbClr val="1F2937"/>
                          </a:solidFill>
                          <a:latin typeface="Calibri"/>
                        </a:rPr>
                        <a:t>0.31</a:t>
                      </a:r>
                    </a:p>
                  </a:txBody>
                  <a:tcPr marL="73152" marR="73152" marT="27432" marB="27432" anchor="ctr">
                    <a:solidFill>
                      <a:srgbClr val="FFFFFF"/>
                    </a:solidFill>
                  </a:tcPr>
                </a:tc>
                <a:tc>
                  <a:txBody>
                    <a:bodyPr wrap="square"/>
                    <a:lstStyle/>
                    <a:p>
                      <a:r>
                        <a:rPr sz="1200" b="0">
                          <a:solidFill>
                            <a:srgbClr val="1F2937"/>
                          </a:solidFill>
                          <a:latin typeface="Calibri"/>
                        </a:rPr>
                        <a:t>0.59</a:t>
                      </a:r>
                    </a:p>
                  </a:txBody>
                  <a:tcPr marL="73152" marR="73152" marT="27432" marB="27432" anchor="ctr">
                    <a:solidFill>
                      <a:srgbClr val="FFFFFF"/>
                    </a:solidFill>
                  </a:tcPr>
                </a:tc>
                <a:tc>
                  <a:txBody>
                    <a:bodyPr wrap="square"/>
                    <a:lstStyle/>
                    <a:p>
                      <a:r>
                        <a:rPr sz="1200" b="0">
                          <a:solidFill>
                            <a:srgbClr val="1F2937"/>
                          </a:solidFill>
                          <a:latin typeface="Calibri"/>
                        </a:rPr>
                        <a:t>0.68</a:t>
                      </a:r>
                    </a:p>
                  </a:txBody>
                  <a:tcPr marL="73152" marR="73152" marT="27432" marB="27432" anchor="ctr">
                    <a:solidFill>
                      <a:srgbClr val="FFFFFF"/>
                    </a:solidFill>
                  </a:tcPr>
                </a:tc>
                <a:tc>
                  <a:txBody>
                    <a:bodyPr wrap="square"/>
                    <a:lstStyle/>
                    <a:p>
                      <a:r>
                        <a:rPr sz="1200" b="0">
                          <a:solidFill>
                            <a:srgbClr val="1F2937"/>
                          </a:solidFill>
                          <a:latin typeface="Calibri"/>
                        </a:rPr>
                        <a:t>0.629</a:t>
                      </a:r>
                    </a:p>
                  </a:txBody>
                  <a:tcPr marL="73152" marR="73152" marT="27432" marB="27432" anchor="ctr">
                    <a:solidFill>
                      <a:srgbClr val="FFFFFF"/>
                    </a:solidFill>
                  </a:tcPr>
                </a:tc>
                <a:tc>
                  <a:txBody>
                    <a:bodyPr wrap="square"/>
                    <a:lstStyle/>
                    <a:p>
                      <a:r>
                        <a:rPr sz="1200" b="0">
                          <a:solidFill>
                            <a:srgbClr val="1F2937"/>
                          </a:solidFill>
                          <a:latin typeface="Calibri"/>
                        </a:rPr>
                        <a:t>33%</a:t>
                      </a:r>
                    </a:p>
                  </a:txBody>
                  <a:tcPr marL="73152" marR="73152" marT="27432" marB="27432" anchor="ctr">
                    <a:solidFill>
                      <a:srgbClr val="FFFFFF"/>
                    </a:solidFill>
                  </a:tcPr>
                </a:tc>
              </a:tr>
            </a:tbl>
          </a:graphicData>
        </a:graphic>
      </p:graphicFrame>
      <p:sp>
        <p:nvSpPr>
          <p:cNvPr id="8" name="Rounded Rectangle 7"/>
          <p:cNvSpPr/>
          <p:nvPr/>
        </p:nvSpPr>
        <p:spPr>
          <a:xfrm>
            <a:off x="8321040" y="4572000"/>
            <a:ext cx="3337560" cy="16002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663440"/>
            <a:ext cx="3063240" cy="365760"/>
          </a:xfrm>
          <a:prstGeom prst="rect">
            <a:avLst/>
          </a:prstGeom>
          <a:noFill/>
        </p:spPr>
        <p:txBody>
          <a:bodyPr wrap="square" anchor="t" lIns="36576" rIns="36576" tIns="18288" bIns="18288">
            <a:spAutoFit/>
          </a:bodyPr>
          <a:lstStyle/>
          <a:p>
            <a:pPr algn="l"/>
            <a:r>
              <a:rPr sz="1400" b="1" i="0">
                <a:solidFill>
                  <a:srgbClr val="14213D"/>
                </a:solidFill>
                <a:latin typeface="Calibri"/>
              </a:rPr>
              <a:t>Why max F1</a:t>
            </a:r>
          </a:p>
        </p:txBody>
      </p:sp>
      <p:sp>
        <p:nvSpPr>
          <p:cNvPr id="10" name="TextBox 9"/>
          <p:cNvSpPr txBox="1"/>
          <p:nvPr/>
        </p:nvSpPr>
        <p:spPr>
          <a:xfrm>
            <a:off x="8458200" y="5029200"/>
            <a:ext cx="3063240" cy="1097280"/>
          </a:xfrm>
          <a:prstGeom prst="rect">
            <a:avLst/>
          </a:prstGeom>
          <a:noFill/>
        </p:spPr>
        <p:txBody>
          <a:bodyPr wrap="square" anchor="t" lIns="36576" rIns="36576" tIns="18288" bIns="18288">
            <a:spAutoFit/>
          </a:bodyPr>
          <a:lstStyle/>
          <a:p>
            <a:pPr algn="l"/>
            <a:r>
              <a:rPr sz="1150" b="0" i="0">
                <a:solidFill>
                  <a:srgbClr val="1F2937"/>
                </a:solidFill>
                <a:latin typeface="Calibri"/>
              </a:rPr>
              <a:t>No business cost of a missed default vs a false alarm was available, so precision and recall are weighted equally.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One honest test: the champion holds up on later loans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31</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9</a:t>
            </a:r>
          </a:p>
        </p:txBody>
      </p:sp>
      <p:graphicFrame>
        <p:nvGraphicFramePr>
          <p:cNvPr id="6" name="Chart 5"/>
          <p:cNvGraphicFramePr>
            <a:graphicFrameLocks noGrp="1"/>
          </p:cNvGraphicFramePr>
          <p:nvPr/>
        </p:nvGraphicFramePr>
        <p:xfrm>
          <a:off x="548640" y="1325880"/>
          <a:ext cx="6035040" cy="3657600"/>
        </p:xfrm>
        <a:graphic>
          <a:graphicData uri="http://schemas.openxmlformats.org/drawingml/2006/chart">
            <c:chart xmlns:c="http://schemas.openxmlformats.org/drawingml/2006/chart" r:id="rId2"/>
          </a:graphicData>
        </a:graphic>
      </p:graphicFrame>
      <p:graphicFrame>
        <p:nvGraphicFramePr>
          <p:cNvPr id="7" name="Table"/>
          <p:cNvGraphicFramePr>
            <a:graphicFrameLocks noGrp="1"/>
          </p:cNvGraphicFramePr>
          <p:nvPr/>
        </p:nvGraphicFramePr>
        <p:xfrm>
          <a:off x="6858000" y="1325880"/>
          <a:ext cx="4800600" cy="1234440"/>
        </p:xfrm>
        <a:graphic>
          <a:graphicData uri="http://schemas.openxmlformats.org/drawingml/2006/table">
            <a:tbl>
              <a:tblPr firstRow="0" bandRow="0">
                <a:tableStyleId>{5940675A-B579-460E-94D1-54222C63F5DA}</a:tableStyleId>
              </a:tblPr>
              <a:tblGrid>
                <a:gridCol w="1828800"/>
                <a:gridCol w="1234440"/>
                <a:gridCol w="1737360"/>
              </a:tblGrid>
              <a:tr h="411480">
                <a:tc>
                  <a:txBody>
                    <a:bodyPr wrap="square"/>
                    <a:lstStyle/>
                    <a:p>
                      <a:r>
                        <a:rPr sz="1250" b="1">
                          <a:solidFill>
                            <a:srgbClr val="FFFFFF"/>
                          </a:solidFill>
                          <a:latin typeface="Calibri"/>
                        </a:rPr>
                        <a:t>Champion − baseline</a:t>
                      </a:r>
                    </a:p>
                  </a:txBody>
                  <a:tcPr marL="73152" marR="73152" marT="27432" marB="27432" anchor="ctr">
                    <a:solidFill>
                      <a:srgbClr val="14213D"/>
                    </a:solidFill>
                  </a:tcPr>
                </a:tc>
                <a:tc>
                  <a:txBody>
                    <a:bodyPr wrap="square"/>
                    <a:lstStyle/>
                    <a:p>
                      <a:r>
                        <a:rPr sz="1250" b="1">
                          <a:solidFill>
                            <a:srgbClr val="FFFFFF"/>
                          </a:solidFill>
                          <a:latin typeface="Calibri"/>
                        </a:rPr>
                        <a:t>Δ PR-AUC</a:t>
                      </a:r>
                    </a:p>
                  </a:txBody>
                  <a:tcPr marL="73152" marR="73152" marT="27432" marB="27432" anchor="ctr">
                    <a:solidFill>
                      <a:srgbClr val="14213D"/>
                    </a:solidFill>
                  </a:tcPr>
                </a:tc>
                <a:tc>
                  <a:txBody>
                    <a:bodyPr wrap="square"/>
                    <a:lstStyle/>
                    <a:p>
                      <a:r>
                        <a:rPr sz="1250" b="1">
                          <a:solidFill>
                            <a:srgbClr val="FFFFFF"/>
                          </a:solidFill>
                          <a:latin typeface="Calibri"/>
                        </a:rPr>
                        <a:t>95% CI</a:t>
                      </a:r>
                    </a:p>
                  </a:txBody>
                  <a:tcPr marL="73152" marR="73152" marT="27432" marB="27432" anchor="ctr">
                    <a:solidFill>
                      <a:srgbClr val="14213D"/>
                    </a:solidFill>
                  </a:tcPr>
                </a:tc>
              </a:tr>
              <a:tr h="411480">
                <a:tc>
                  <a:txBody>
                    <a:bodyPr wrap="square"/>
                    <a:lstStyle/>
                    <a:p>
                      <a:r>
                        <a:rPr sz="1250" b="1">
                          <a:solidFill>
                            <a:srgbClr val="1F2937"/>
                          </a:solidFill>
                          <a:latin typeface="Calibri"/>
                        </a:rPr>
                        <a:t>TEST</a:t>
                      </a:r>
                    </a:p>
                  </a:txBody>
                  <a:tcPr marL="73152" marR="73152" marT="27432" marB="27432" anchor="ctr">
                    <a:solidFill>
                      <a:srgbClr val="FFFFFF"/>
                    </a:solidFill>
                  </a:tcPr>
                </a:tc>
                <a:tc>
                  <a:txBody>
                    <a:bodyPr wrap="square"/>
                    <a:lstStyle/>
                    <a:p>
                      <a:r>
                        <a:rPr sz="1250" b="0">
                          <a:solidFill>
                            <a:srgbClr val="1F2937"/>
                          </a:solidFill>
                          <a:latin typeface="Calibri"/>
                        </a:rPr>
                        <a:t>+0.048</a:t>
                      </a:r>
                    </a:p>
                  </a:txBody>
                  <a:tcPr marL="73152" marR="73152" marT="27432" marB="27432" anchor="ctr">
                    <a:solidFill>
                      <a:srgbClr val="FFFFFF"/>
                    </a:solidFill>
                  </a:tcPr>
                </a:tc>
                <a:tc>
                  <a:txBody>
                    <a:bodyPr wrap="square"/>
                    <a:lstStyle/>
                    <a:p>
                      <a:r>
                        <a:rPr sz="1250" b="0">
                          <a:solidFill>
                            <a:srgbClr val="1F2937"/>
                          </a:solidFill>
                          <a:latin typeface="Calibri"/>
                        </a:rPr>
                        <a:t>[+0.008, +0.092]</a:t>
                      </a:r>
                    </a:p>
                  </a:txBody>
                  <a:tcPr marL="73152" marR="73152" marT="27432" marB="27432" anchor="ctr">
                    <a:solidFill>
                      <a:srgbClr val="FFFFFF"/>
                    </a:solidFill>
                  </a:tcPr>
                </a:tc>
              </a:tr>
              <a:tr h="411480">
                <a:tc>
                  <a:txBody>
                    <a:bodyPr wrap="square"/>
                    <a:lstStyle/>
                    <a:p>
                      <a:r>
                        <a:rPr sz="1250" b="1">
                          <a:solidFill>
                            <a:srgbClr val="1F2937"/>
                          </a:solidFill>
                          <a:latin typeface="Calibri"/>
                        </a:rPr>
                        <a:t>OOT</a:t>
                      </a:r>
                    </a:p>
                  </a:txBody>
                  <a:tcPr marL="73152" marR="73152" marT="27432" marB="27432" anchor="ctr">
                    <a:solidFill>
                      <a:srgbClr val="F6F8FB"/>
                    </a:solidFill>
                  </a:tcPr>
                </a:tc>
                <a:tc>
                  <a:txBody>
                    <a:bodyPr wrap="square"/>
                    <a:lstStyle/>
                    <a:p>
                      <a:r>
                        <a:rPr sz="1250" b="0">
                          <a:solidFill>
                            <a:srgbClr val="1F2937"/>
                          </a:solidFill>
                          <a:latin typeface="Calibri"/>
                        </a:rPr>
                        <a:t>+0.077</a:t>
                      </a:r>
                    </a:p>
                  </a:txBody>
                  <a:tcPr marL="73152" marR="73152" marT="27432" marB="27432" anchor="ctr">
                    <a:solidFill>
                      <a:srgbClr val="F6F8FB"/>
                    </a:solidFill>
                  </a:tcPr>
                </a:tc>
                <a:tc>
                  <a:txBody>
                    <a:bodyPr wrap="square"/>
                    <a:lstStyle/>
                    <a:p>
                      <a:r>
                        <a:rPr sz="1250" b="0">
                          <a:solidFill>
                            <a:srgbClr val="1F2937"/>
                          </a:solidFill>
                          <a:latin typeface="Calibri"/>
                        </a:rPr>
                        <a:t>[+0.054, +0.105]</a:t>
                      </a:r>
                    </a:p>
                  </a:txBody>
                  <a:tcPr marL="73152" marR="73152" marT="27432" marB="27432" anchor="ctr">
                    <a:solidFill>
                      <a:srgbClr val="F6F8FB"/>
                    </a:solidFill>
                  </a:tcPr>
                </a:tc>
              </a:tr>
            </a:tbl>
          </a:graphicData>
        </a:graphic>
      </p:graphicFrame>
      <p:sp>
        <p:nvSpPr>
          <p:cNvPr id="8" name="Rounded Rectangle 7"/>
          <p:cNvSpPr/>
          <p:nvPr/>
        </p:nvSpPr>
        <p:spPr>
          <a:xfrm>
            <a:off x="6858000" y="2743200"/>
            <a:ext cx="4800600" cy="22402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2834640"/>
            <a:ext cx="4526280" cy="365760"/>
          </a:xfrm>
          <a:prstGeom prst="rect">
            <a:avLst/>
          </a:prstGeom>
          <a:noFill/>
        </p:spPr>
        <p:txBody>
          <a:bodyPr wrap="square" anchor="t" lIns="36576" rIns="36576" tIns="18288" bIns="18288">
            <a:spAutoFit/>
          </a:bodyPr>
          <a:lstStyle/>
          <a:p>
            <a:pPr algn="l"/>
            <a:r>
              <a:rPr sz="1400" b="1" i="0">
                <a:solidFill>
                  <a:srgbClr val="14213D"/>
                </a:solidFill>
                <a:latin typeface="Calibri"/>
              </a:rPr>
              <a:t>At the fixed threshold on OOT</a:t>
            </a:r>
          </a:p>
        </p:txBody>
      </p:sp>
      <p:sp>
        <p:nvSpPr>
          <p:cNvPr id="10" name="TextBox 9"/>
          <p:cNvSpPr txBox="1"/>
          <p:nvPr/>
        </p:nvSpPr>
        <p:spPr>
          <a:xfrm>
            <a:off x="6995160" y="3200400"/>
            <a:ext cx="4526280" cy="1737360"/>
          </a:xfrm>
          <a:prstGeom prst="rect">
            <a:avLst/>
          </a:prstGeom>
          <a:noFill/>
        </p:spPr>
        <p:txBody>
          <a:bodyPr wrap="square" anchor="t" lIns="36576" rIns="36576" tIns="18288" bIns="18288">
            <a:spAutoFit/>
          </a:bodyPr>
          <a:lstStyle/>
          <a:p>
            <a:pPr algn="l"/>
            <a:r>
              <a:rPr sz="1200" b="0" i="0">
                <a:solidFill>
                  <a:srgbClr val="1F2937"/>
                </a:solidFill>
                <a:latin typeface="Calibri"/>
              </a:rPr>
              <a:t>Flags 35% of loans · catches 707 of 1,011 defaulters (70%) · precision 0.58 · F1 0.631.</a:t>
            </a:r>
          </a:p>
        </p:txBody>
      </p:sp>
      <p:sp>
        <p:nvSpPr>
          <p:cNvPr id="11" name="TextBox 10"/>
          <p:cNvSpPr txBox="1"/>
          <p:nvPr/>
        </p:nvSpPr>
        <p:spPr>
          <a:xfrm>
            <a:off x="548640" y="5212080"/>
            <a:ext cx="11064240" cy="109728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Used once, after sign-off: </a:t>
            </a:r>
            <a:r>
              <a:rPr sz="1400" b="0">
                <a:solidFill>
                  <a:srgbClr val="1F2937"/>
                </a:solidFill>
                <a:latin typeface="Calibri"/>
              </a:rPr>
              <a:t>the approval was recorded first; nothing re-selected afterwards. No drop from validation (0.601) to OOT (0.619).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Stable month by month on the out-of-time period</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31</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10</a:t>
            </a:r>
          </a:p>
        </p:txBody>
      </p:sp>
      <p:pic>
        <p:nvPicPr>
          <p:cNvPr id="6" name="31_3_oot_by_month.png" descr="31_3_oot_by_month.png"/>
          <p:cNvPicPr>
            <a:picLocks noChangeAspect="1"/>
          </p:cNvPicPr>
          <p:nvPr/>
        </p:nvPicPr>
        <p:blipFill>
          <a:blip r:embed="rId2"/>
          <a:stretch>
            <a:fillRect/>
          </a:stretch>
        </p:blipFill>
        <p:spPr>
          <a:xfrm>
            <a:off x="465756" y="1280160"/>
            <a:ext cx="11230006" cy="3383280"/>
          </a:xfrm>
          <a:prstGeom prst="rect">
            <a:avLst/>
          </a:prstGeom>
        </p:spPr>
      </p:pic>
      <p:sp>
        <p:nvSpPr>
          <p:cNvPr id="7" name="TextBox 6"/>
          <p:cNvSpPr txBox="1"/>
          <p:nvPr/>
        </p:nvSpPr>
        <p:spPr>
          <a:xfrm>
            <a:off x="548640" y="4846320"/>
            <a:ext cx="11064240" cy="146304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Above the baseline every month; </a:t>
            </a:r>
            <a:r>
              <a:rPr sz="1400" b="0">
                <a:solidFill>
                  <a:srgbClr val="1F2937"/>
                </a:solidFill>
                <a:latin typeface="Calibri"/>
              </a:rPr>
              <a:t>monthly PR-AUC 0.54–0.71. Weakest month 2025-01 — a monitoring item, not a trend.</a:t>
            </a:r>
          </a:p>
          <a:p>
            <a:pPr marL="201168" indent="-182880">
              <a:spcAft>
                <a:spcPts val="800"/>
              </a:spcAft>
              <a:buFont typeface="Arial"/>
              <a:buChar char="•"/>
            </a:pPr>
            <a:r>
              <a:rPr sz="1400" b="1">
                <a:solidFill>
                  <a:srgbClr val="1F2937"/>
                </a:solidFill>
                <a:latin typeface="Calibri"/>
              </a:rPr>
              <a:t>Calibration holds: </a:t>
            </a:r>
            <a:r>
              <a:rPr sz="1400" b="0">
                <a:solidFill>
                  <a:srgbClr val="1F2937"/>
                </a:solidFill>
                <a:latin typeface="Calibri"/>
              </a:rPr>
              <a:t>predicted and actual default rates move together; score distribution train → OOT PSI 0.025 (stable).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nchor="t" lIns="36576" rIns="36576" tIns="18288" bIns="18288">
            <a:spAutoFit/>
          </a:bodyPr>
          <a:lstStyle/>
          <a:p>
            <a:pPr algn="l"/>
            <a:r>
              <a:rPr sz="1600" b="1" i="0">
                <a:solidFill>
                  <a:srgbClr val="CADCFC"/>
                </a:solidFill>
                <a:latin typeface="Calibri"/>
              </a:rPr>
              <a:t>PART 2</a:t>
            </a:r>
          </a:p>
        </p:txBody>
      </p:sp>
      <p:sp>
        <p:nvSpPr>
          <p:cNvPr id="3" name="TextBox 2"/>
          <p:cNvSpPr txBox="1"/>
          <p:nvPr/>
        </p:nvSpPr>
        <p:spPr>
          <a:xfrm>
            <a:off x="822960" y="2377440"/>
            <a:ext cx="10515600" cy="1097280"/>
          </a:xfrm>
          <a:prstGeom prst="rect">
            <a:avLst/>
          </a:prstGeom>
          <a:noFill/>
        </p:spPr>
        <p:txBody>
          <a:bodyPr wrap="square" anchor="t" lIns="36576" rIns="36576" tIns="18288" bIns="18288">
            <a:spAutoFit/>
          </a:bodyPr>
          <a:lstStyle/>
          <a:p>
            <a:pPr algn="l"/>
            <a:r>
              <a:rPr sz="4400" b="1" i="0">
                <a:solidFill>
                  <a:srgbClr val="FFFFFF"/>
                </a:solidFill>
                <a:latin typeface="Cambria"/>
              </a:rPr>
              <a:t>Imbalance treatment</a:t>
            </a:r>
          </a:p>
        </p:txBody>
      </p:sp>
      <p:sp>
        <p:nvSpPr>
          <p:cNvPr id="4" name="TextBox 3"/>
          <p:cNvSpPr txBox="1"/>
          <p:nvPr/>
        </p:nvSpPr>
        <p:spPr>
          <a:xfrm>
            <a:off x="822960" y="3520440"/>
            <a:ext cx="10058400" cy="914400"/>
          </a:xfrm>
          <a:prstGeom prst="rect">
            <a:avLst/>
          </a:prstGeom>
          <a:noFill/>
        </p:spPr>
        <p:txBody>
          <a:bodyPr wrap="square" anchor="t" lIns="36576" rIns="36576" tIns="18288" bIns="18288">
            <a:spAutoFit/>
          </a:bodyPr>
          <a:lstStyle/>
          <a:p>
            <a:pPr algn="l"/>
            <a:r>
              <a:rPr sz="1800" b="0" i="0">
                <a:solidFill>
                  <a:srgbClr val="CADCFC"/>
                </a:solidFill>
                <a:latin typeface="Calibri"/>
              </a:rPr>
              <a:t>29% of loans default: is the minority class too small for the models to learn? We tested class weighting instead of assuming it helps.</a:t>
            </a:r>
          </a:p>
        </p:txBody>
      </p:sp>
      <p:sp>
        <p:nvSpPr>
          <p:cNvPr id="5" name="Rounded Rectangle 4"/>
          <p:cNvSpPr/>
          <p:nvPr/>
        </p:nvSpPr>
        <p:spPr>
          <a:xfrm>
            <a:off x="822960" y="4572000"/>
            <a:ext cx="2377440" cy="457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Step 26</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Options considered and how they were tested</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26</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12</a:t>
            </a:r>
          </a:p>
        </p:txBody>
      </p:sp>
      <p:graphicFrame>
        <p:nvGraphicFramePr>
          <p:cNvPr id="6" name="Table"/>
          <p:cNvGraphicFramePr>
            <a:graphicFrameLocks noGrp="1"/>
          </p:cNvGraphicFramePr>
          <p:nvPr/>
        </p:nvGraphicFramePr>
        <p:xfrm>
          <a:off x="548640" y="1325880"/>
          <a:ext cx="6949440" cy="3017520"/>
        </p:xfrm>
        <a:graphic>
          <a:graphicData uri="http://schemas.openxmlformats.org/drawingml/2006/table">
            <a:tbl>
              <a:tblPr firstRow="0" bandRow="0">
                <a:tableStyleId>{5940675A-B579-460E-94D1-54222C63F5DA}</a:tableStyleId>
              </a:tblPr>
              <a:tblGrid>
                <a:gridCol w="1920240"/>
                <a:gridCol w="2651760"/>
                <a:gridCol w="2377440"/>
              </a:tblGrid>
              <a:tr h="502920">
                <a:tc>
                  <a:txBody>
                    <a:bodyPr wrap="square"/>
                    <a:lstStyle/>
                    <a:p>
                      <a:r>
                        <a:rPr sz="1250" b="1">
                          <a:solidFill>
                            <a:srgbClr val="FFFFFF"/>
                          </a:solidFill>
                          <a:latin typeface="Calibri"/>
                        </a:rPr>
                        <a:t>Option</a:t>
                      </a:r>
                    </a:p>
                  </a:txBody>
                  <a:tcPr marL="73152" marR="73152" marT="27432" marB="27432" anchor="ctr">
                    <a:solidFill>
                      <a:srgbClr val="14213D"/>
                    </a:solidFill>
                  </a:tcPr>
                </a:tc>
                <a:tc>
                  <a:txBody>
                    <a:bodyPr wrap="square"/>
                    <a:lstStyle/>
                    <a:p>
                      <a:r>
                        <a:rPr sz="1250" b="1">
                          <a:solidFill>
                            <a:srgbClr val="FFFFFF"/>
                          </a:solidFill>
                          <a:latin typeface="Calibri"/>
                        </a:rPr>
                        <a:t>What it does</a:t>
                      </a:r>
                    </a:p>
                  </a:txBody>
                  <a:tcPr marL="73152" marR="73152" marT="27432" marB="27432" anchor="ctr">
                    <a:solidFill>
                      <a:srgbClr val="14213D"/>
                    </a:solidFill>
                  </a:tcPr>
                </a:tc>
                <a:tc>
                  <a:txBody>
                    <a:bodyPr wrap="square"/>
                    <a:lstStyle/>
                    <a:p>
                      <a:r>
                        <a:rPr sz="1250" b="1">
                          <a:solidFill>
                            <a:srgbClr val="FFFFFF"/>
                          </a:solidFill>
                          <a:latin typeface="Calibri"/>
                        </a:rPr>
                        <a:t>Decision</a:t>
                      </a:r>
                    </a:p>
                  </a:txBody>
                  <a:tcPr marL="73152" marR="73152" marT="27432" marB="27432" anchor="ctr">
                    <a:solidFill>
                      <a:srgbClr val="14213D"/>
                    </a:solidFill>
                  </a:tcPr>
                </a:tc>
              </a:tr>
              <a:tr h="502920">
                <a:tc>
                  <a:txBody>
                    <a:bodyPr wrap="square"/>
                    <a:lstStyle/>
                    <a:p>
                      <a:r>
                        <a:rPr sz="1250" b="1">
                          <a:solidFill>
                            <a:srgbClr val="1F2937"/>
                          </a:solidFill>
                          <a:latin typeface="Calibri"/>
                        </a:rPr>
                        <a:t>No weighting</a:t>
                      </a:r>
                    </a:p>
                  </a:txBody>
                  <a:tcPr marL="73152" marR="73152" marT="27432" marB="27432" anchor="ctr">
                    <a:solidFill>
                      <a:srgbClr val="FFFFFF"/>
                    </a:solidFill>
                  </a:tcPr>
                </a:tc>
                <a:tc>
                  <a:txBody>
                    <a:bodyPr wrap="square"/>
                    <a:lstStyle/>
                    <a:p>
                      <a:r>
                        <a:rPr sz="1250" b="0">
                          <a:solidFill>
                            <a:srgbClr val="1F2937"/>
                          </a:solidFill>
                          <a:latin typeface="Calibri"/>
                        </a:rPr>
                        <a:t>every loan counts the same</a:t>
                      </a:r>
                    </a:p>
                  </a:txBody>
                  <a:tcPr marL="73152" marR="73152" marT="27432" marB="27432" anchor="ctr">
                    <a:solidFill>
                      <a:srgbClr val="FFFFFF"/>
                    </a:solidFill>
                  </a:tcPr>
                </a:tc>
                <a:tc>
                  <a:txBody>
                    <a:bodyPr wrap="square"/>
                    <a:lstStyle/>
                    <a:p>
                      <a:r>
                        <a:rPr sz="1250" b="0">
                          <a:solidFill>
                            <a:srgbClr val="1F2937"/>
                          </a:solidFill>
                          <a:latin typeface="Calibri"/>
                        </a:rPr>
                        <a:t>reference</a:t>
                      </a:r>
                    </a:p>
                  </a:txBody>
                  <a:tcPr marL="73152" marR="73152" marT="27432" marB="27432" anchor="ctr">
                    <a:solidFill>
                      <a:srgbClr val="FFFFFF"/>
                    </a:solidFill>
                  </a:tcPr>
                </a:tc>
              </a:tr>
              <a:tr h="502920">
                <a:tc>
                  <a:txBody>
                    <a:bodyPr wrap="square"/>
                    <a:lstStyle/>
                    <a:p>
                      <a:r>
                        <a:rPr sz="1250" b="1">
                          <a:solidFill>
                            <a:srgbClr val="1F2937"/>
                          </a:solidFill>
                          <a:latin typeface="Calibri"/>
                        </a:rPr>
                        <a:t>√ratio weight (≈1.57)</a:t>
                      </a:r>
                    </a:p>
                  </a:txBody>
                  <a:tcPr marL="73152" marR="73152" marT="27432" marB="27432" anchor="ctr">
                    <a:solidFill>
                      <a:srgbClr val="F6F8FB"/>
                    </a:solidFill>
                  </a:tcPr>
                </a:tc>
                <a:tc>
                  <a:txBody>
                    <a:bodyPr wrap="square"/>
                    <a:lstStyle/>
                    <a:p>
                      <a:r>
                        <a:rPr sz="1250" b="0">
                          <a:solidFill>
                            <a:srgbClr val="1F2937"/>
                          </a:solidFill>
                          <a:latin typeface="Calibri"/>
                        </a:rPr>
                        <a:t>defaulters count 1.57×</a:t>
                      </a:r>
                    </a:p>
                  </a:txBody>
                  <a:tcPr marL="73152" marR="73152" marT="27432" marB="27432" anchor="ctr">
                    <a:solidFill>
                      <a:srgbClr val="F6F8FB"/>
                    </a:solidFill>
                  </a:tcPr>
                </a:tc>
                <a:tc>
                  <a:txBody>
                    <a:bodyPr wrap="square"/>
                    <a:lstStyle/>
                    <a:p>
                      <a:r>
                        <a:rPr sz="1250" b="0">
                          <a:solidFill>
                            <a:srgbClr val="1F2937"/>
                          </a:solidFill>
                          <a:latin typeface="Calibri"/>
                        </a:rPr>
                        <a:t>tested</a:t>
                      </a:r>
                    </a:p>
                  </a:txBody>
                  <a:tcPr marL="73152" marR="73152" marT="27432" marB="27432" anchor="ctr">
                    <a:solidFill>
                      <a:srgbClr val="F6F8FB"/>
                    </a:solidFill>
                  </a:tcPr>
                </a:tc>
              </a:tr>
              <a:tr h="502920">
                <a:tc>
                  <a:txBody>
                    <a:bodyPr wrap="square"/>
                    <a:lstStyle/>
                    <a:p>
                      <a:r>
                        <a:rPr sz="1250" b="1">
                          <a:solidFill>
                            <a:srgbClr val="1F2937"/>
                          </a:solidFill>
                          <a:latin typeface="Calibri"/>
                        </a:rPr>
                        <a:t>Balanced weight (≈2.46)</a:t>
                      </a:r>
                    </a:p>
                  </a:txBody>
                  <a:tcPr marL="73152" marR="73152" marT="27432" marB="27432" anchor="ctr">
                    <a:solidFill>
                      <a:srgbClr val="FFFFFF"/>
                    </a:solidFill>
                  </a:tcPr>
                </a:tc>
                <a:tc>
                  <a:txBody>
                    <a:bodyPr wrap="square"/>
                    <a:lstStyle/>
                    <a:p>
                      <a:r>
                        <a:rPr sz="1250" b="0">
                          <a:solidFill>
                            <a:srgbClr val="1F2937"/>
                          </a:solidFill>
                          <a:latin typeface="Calibri"/>
                        </a:rPr>
                        <a:t>both classes equal total weight</a:t>
                      </a:r>
                    </a:p>
                  </a:txBody>
                  <a:tcPr marL="73152" marR="73152" marT="27432" marB="27432" anchor="ctr">
                    <a:solidFill>
                      <a:srgbClr val="FFFFFF"/>
                    </a:solidFill>
                  </a:tcPr>
                </a:tc>
                <a:tc>
                  <a:txBody>
                    <a:bodyPr wrap="square"/>
                    <a:lstStyle/>
                    <a:p>
                      <a:r>
                        <a:rPr sz="1250" b="0">
                          <a:solidFill>
                            <a:srgbClr val="1F2937"/>
                          </a:solidFill>
                          <a:latin typeface="Calibri"/>
                        </a:rPr>
                        <a:t>tested</a:t>
                      </a:r>
                    </a:p>
                  </a:txBody>
                  <a:tcPr marL="73152" marR="73152" marT="27432" marB="27432" anchor="ctr">
                    <a:solidFill>
                      <a:srgbClr val="FFFFFF"/>
                    </a:solidFill>
                  </a:tcPr>
                </a:tc>
              </a:tr>
              <a:tr h="502920">
                <a:tc>
                  <a:txBody>
                    <a:bodyPr wrap="square"/>
                    <a:lstStyle/>
                    <a:p>
                      <a:r>
                        <a:rPr sz="1250" b="1">
                          <a:solidFill>
                            <a:srgbClr val="1F2937"/>
                          </a:solidFill>
                          <a:latin typeface="Calibri"/>
                        </a:rPr>
                        <a:t>Undersampling</a:t>
                      </a:r>
                    </a:p>
                  </a:txBody>
                  <a:tcPr marL="73152" marR="73152" marT="27432" marB="27432" anchor="ctr">
                    <a:solidFill>
                      <a:srgbClr val="F6F8FB"/>
                    </a:solidFill>
                  </a:tcPr>
                </a:tc>
                <a:tc>
                  <a:txBody>
                    <a:bodyPr wrap="square"/>
                    <a:lstStyle/>
                    <a:p>
                      <a:r>
                        <a:rPr sz="1250" b="0">
                          <a:solidFill>
                            <a:srgbClr val="1F2937"/>
                          </a:solidFill>
                          <a:latin typeface="Calibri"/>
                        </a:rPr>
                        <a:t>drop ~40% of non-defaulters</a:t>
                      </a:r>
                    </a:p>
                  </a:txBody>
                  <a:tcPr marL="73152" marR="73152" marT="27432" marB="27432" anchor="ctr">
                    <a:solidFill>
                      <a:srgbClr val="F6F8FB"/>
                    </a:solidFill>
                  </a:tcPr>
                </a:tc>
                <a:tc>
                  <a:txBody>
                    <a:bodyPr wrap="square"/>
                    <a:lstStyle/>
                    <a:p>
                      <a:r>
                        <a:rPr sz="1250" b="0">
                          <a:solidFill>
                            <a:srgbClr val="1F2937"/>
                          </a:solidFill>
                          <a:latin typeface="Calibri"/>
                        </a:rPr>
                        <a:t>not tested — data too small</a:t>
                      </a:r>
                    </a:p>
                  </a:txBody>
                  <a:tcPr marL="73152" marR="73152" marT="27432" marB="27432" anchor="ctr">
                    <a:solidFill>
                      <a:srgbClr val="F6F8FB"/>
                    </a:solidFill>
                  </a:tcPr>
                </a:tc>
              </a:tr>
              <a:tr h="502920">
                <a:tc>
                  <a:txBody>
                    <a:bodyPr wrap="square"/>
                    <a:lstStyle/>
                    <a:p>
                      <a:r>
                        <a:rPr sz="1250" b="1">
                          <a:solidFill>
                            <a:srgbClr val="1F2937"/>
                          </a:solidFill>
                          <a:latin typeface="Calibri"/>
                        </a:rPr>
                        <a:t>SMOTE / oversampling</a:t>
                      </a:r>
                    </a:p>
                  </a:txBody>
                  <a:tcPr marL="73152" marR="73152" marT="27432" marB="27432" anchor="ctr">
                    <a:solidFill>
                      <a:srgbClr val="FFFFFF"/>
                    </a:solidFill>
                  </a:tcPr>
                </a:tc>
                <a:tc>
                  <a:txBody>
                    <a:bodyPr wrap="square"/>
                    <a:lstStyle/>
                    <a:p>
                      <a:r>
                        <a:rPr sz="1250" b="0">
                          <a:solidFill>
                            <a:srgbClr val="1F2937"/>
                          </a:solidFill>
                          <a:latin typeface="Calibri"/>
                        </a:rPr>
                        <a:t>synthetic defaulters</a:t>
                      </a:r>
                    </a:p>
                  </a:txBody>
                  <a:tcPr marL="73152" marR="73152" marT="27432" marB="27432" anchor="ctr">
                    <a:solidFill>
                      <a:srgbClr val="FFFFFF"/>
                    </a:solidFill>
                  </a:tcPr>
                </a:tc>
                <a:tc>
                  <a:txBody>
                    <a:bodyPr wrap="square"/>
                    <a:lstStyle/>
                    <a:p>
                      <a:r>
                        <a:rPr sz="1250" b="0">
                          <a:solidFill>
                            <a:srgbClr val="1F2937"/>
                          </a:solidFill>
                          <a:latin typeface="Calibri"/>
                        </a:rPr>
                        <a:t>not tested — little benefit at 29%</a:t>
                      </a:r>
                    </a:p>
                  </a:txBody>
                  <a:tcPr marL="73152" marR="73152" marT="27432" marB="27432" anchor="ctr">
                    <a:solidFill>
                      <a:srgbClr val="FFFFFF"/>
                    </a:solidFill>
                  </a:tcPr>
                </a:tc>
              </a:tr>
            </a:tbl>
          </a:graphicData>
        </a:graphic>
      </p:graphicFrame>
      <p:sp>
        <p:nvSpPr>
          <p:cNvPr id="7" name="Rounded Rectangle 6"/>
          <p:cNvSpPr/>
          <p:nvPr/>
        </p:nvSpPr>
        <p:spPr>
          <a:xfrm>
            <a:off x="7863840" y="1325880"/>
            <a:ext cx="182880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417320"/>
            <a:ext cx="1554480" cy="640080"/>
          </a:xfrm>
          <a:prstGeom prst="rect">
            <a:avLst/>
          </a:prstGeom>
          <a:noFill/>
        </p:spPr>
        <p:txBody>
          <a:bodyPr wrap="square" anchor="t" lIns="36576" rIns="36576" tIns="18288" bIns="18288">
            <a:spAutoFit/>
          </a:bodyPr>
          <a:lstStyle/>
          <a:p>
            <a:pPr algn="l"/>
            <a:r>
              <a:rPr sz="3200" b="1" i="0">
                <a:solidFill>
                  <a:srgbClr val="EB6834"/>
                </a:solidFill>
                <a:latin typeface="Cambria"/>
              </a:rPr>
              <a:t>28.9%</a:t>
            </a:r>
          </a:p>
        </p:txBody>
      </p:sp>
      <p:sp>
        <p:nvSpPr>
          <p:cNvPr id="9" name="TextBox 8"/>
          <p:cNvSpPr txBox="1"/>
          <p:nvPr/>
        </p:nvSpPr>
        <p:spPr>
          <a:xfrm>
            <a:off x="8001000" y="2039112"/>
            <a:ext cx="1554480" cy="393192"/>
          </a:xfrm>
          <a:prstGeom prst="rect">
            <a:avLst/>
          </a:prstGeom>
          <a:noFill/>
        </p:spPr>
        <p:txBody>
          <a:bodyPr wrap="square" anchor="t" lIns="36576" rIns="36576" tIns="18288" bIns="18288">
            <a:spAutoFit/>
          </a:bodyPr>
          <a:lstStyle/>
          <a:p>
            <a:pPr algn="l"/>
            <a:r>
              <a:rPr sz="1200" b="0" i="0">
                <a:solidFill>
                  <a:srgbClr val="5B6472"/>
                </a:solidFill>
                <a:latin typeface="Calibri"/>
              </a:rPr>
              <a:t>training default rate (1,813 / 6,281)</a:t>
            </a:r>
          </a:p>
        </p:txBody>
      </p:sp>
      <p:sp>
        <p:nvSpPr>
          <p:cNvPr id="10" name="Rounded Rectangle 9"/>
          <p:cNvSpPr/>
          <p:nvPr/>
        </p:nvSpPr>
        <p:spPr>
          <a:xfrm>
            <a:off x="9829800" y="1325880"/>
            <a:ext cx="182880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0" y="1417320"/>
            <a:ext cx="1554480" cy="640080"/>
          </a:xfrm>
          <a:prstGeom prst="rect">
            <a:avLst/>
          </a:prstGeom>
          <a:noFill/>
        </p:spPr>
        <p:txBody>
          <a:bodyPr wrap="square" anchor="t" lIns="36576" rIns="36576" tIns="18288" bIns="18288">
            <a:spAutoFit/>
          </a:bodyPr>
          <a:lstStyle/>
          <a:p>
            <a:pPr algn="l"/>
            <a:r>
              <a:rPr sz="3200" b="1" i="0">
                <a:solidFill>
                  <a:srgbClr val="14213D"/>
                </a:solidFill>
                <a:latin typeface="Cambria"/>
              </a:rPr>
              <a:t>2.46</a:t>
            </a:r>
          </a:p>
        </p:txBody>
      </p:sp>
      <p:sp>
        <p:nvSpPr>
          <p:cNvPr id="12" name="TextBox 11"/>
          <p:cNvSpPr txBox="1"/>
          <p:nvPr/>
        </p:nvSpPr>
        <p:spPr>
          <a:xfrm>
            <a:off x="9966960" y="2039112"/>
            <a:ext cx="1554480" cy="393192"/>
          </a:xfrm>
          <a:prstGeom prst="rect">
            <a:avLst/>
          </a:prstGeom>
          <a:noFill/>
        </p:spPr>
        <p:txBody>
          <a:bodyPr wrap="square" anchor="t" lIns="36576" rIns="36576" tIns="18288" bIns="18288">
            <a:spAutoFit/>
          </a:bodyPr>
          <a:lstStyle/>
          <a:p>
            <a:pPr algn="l"/>
            <a:r>
              <a:rPr sz="1200" b="0" i="0">
                <a:solidFill>
                  <a:srgbClr val="5B6472"/>
                </a:solidFill>
                <a:latin typeface="Calibri"/>
              </a:rPr>
              <a:t>non-defaulters per defaulter</a:t>
            </a:r>
          </a:p>
        </p:txBody>
      </p:sp>
      <p:sp>
        <p:nvSpPr>
          <p:cNvPr id="13" name="Rounded Rectangle 12"/>
          <p:cNvSpPr/>
          <p:nvPr/>
        </p:nvSpPr>
        <p:spPr>
          <a:xfrm>
            <a:off x="7863840" y="2743200"/>
            <a:ext cx="3794760" cy="3429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0" y="2834640"/>
            <a:ext cx="3520440" cy="365760"/>
          </a:xfrm>
          <a:prstGeom prst="rect">
            <a:avLst/>
          </a:prstGeom>
          <a:noFill/>
        </p:spPr>
        <p:txBody>
          <a:bodyPr wrap="square" anchor="t" lIns="36576" rIns="36576" tIns="18288" bIns="18288">
            <a:spAutoFit/>
          </a:bodyPr>
          <a:lstStyle/>
          <a:p>
            <a:pPr algn="l"/>
            <a:r>
              <a:rPr sz="1400" b="1" i="0">
                <a:solidFill>
                  <a:srgbClr val="14213D"/>
                </a:solidFill>
                <a:latin typeface="Calibri"/>
              </a:rPr>
              <a:t>Test design</a:t>
            </a:r>
          </a:p>
        </p:txBody>
      </p:sp>
      <p:sp>
        <p:nvSpPr>
          <p:cNvPr id="15" name="TextBox 14"/>
          <p:cNvSpPr txBox="1"/>
          <p:nvPr/>
        </p:nvSpPr>
        <p:spPr>
          <a:xfrm>
            <a:off x="8001000" y="3200400"/>
            <a:ext cx="3520440" cy="2926080"/>
          </a:xfrm>
          <a:prstGeom prst="rect">
            <a:avLst/>
          </a:prstGeom>
          <a:noFill/>
        </p:spPr>
        <p:txBody>
          <a:bodyPr wrap="square" anchor="t" lIns="36576" rIns="36576" tIns="18288" bIns="18288">
            <a:spAutoFit/>
          </a:bodyPr>
          <a:lstStyle/>
          <a:p>
            <a:pPr algn="l"/>
            <a:r>
              <a:rPr sz="1200" b="0" i="0">
                <a:solidFill>
                  <a:srgbClr val="1F2937"/>
                </a:solidFill>
                <a:latin typeface="Calibri"/>
              </a:rPr>
              <a:t>Weights computed inside each training fold, applied as sample_weight. Same 5 folds, same metric. Adopt only if CV PR-AUC improves by ≥ 0.02. Brier score and mean predicted probability reported, because weighting inflates probabilities.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Weighting: no better ranking, worse probabilities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26</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13</a:t>
            </a:r>
          </a:p>
        </p:txBody>
      </p:sp>
      <p:pic>
        <p:nvPicPr>
          <p:cNvPr id="6" name="26_1_weighting_effect.png" descr="26_1_weighting_effect.png"/>
          <p:cNvPicPr>
            <a:picLocks noChangeAspect="1"/>
          </p:cNvPicPr>
          <p:nvPr/>
        </p:nvPicPr>
        <p:blipFill>
          <a:blip r:embed="rId2"/>
          <a:stretch>
            <a:fillRect/>
          </a:stretch>
        </p:blipFill>
        <p:spPr>
          <a:xfrm>
            <a:off x="457200" y="1303491"/>
            <a:ext cx="7315200" cy="2559377"/>
          </a:xfrm>
          <a:prstGeom prst="rect">
            <a:avLst/>
          </a:prstGeom>
        </p:spPr>
      </p:pic>
      <p:pic>
        <p:nvPicPr>
          <p:cNvPr id="7" name="26_2_calibration_by_weighting.png" descr="26_2_calibration_by_weighting.png"/>
          <p:cNvPicPr>
            <a:picLocks noChangeAspect="1"/>
          </p:cNvPicPr>
          <p:nvPr/>
        </p:nvPicPr>
        <p:blipFill>
          <a:blip r:embed="rId3"/>
          <a:stretch>
            <a:fillRect/>
          </a:stretch>
        </p:blipFill>
        <p:spPr>
          <a:xfrm>
            <a:off x="7955279" y="1235475"/>
            <a:ext cx="3749039" cy="3381209"/>
          </a:xfrm>
          <a:prstGeom prst="rect">
            <a:avLst/>
          </a:prstGeom>
        </p:spPr>
      </p:pic>
      <p:graphicFrame>
        <p:nvGraphicFramePr>
          <p:cNvPr id="8" name="Table"/>
          <p:cNvGraphicFramePr>
            <a:graphicFrameLocks noGrp="1"/>
          </p:cNvGraphicFramePr>
          <p:nvPr/>
        </p:nvGraphicFramePr>
        <p:xfrm>
          <a:off x="548640" y="3977639"/>
          <a:ext cx="7315200" cy="2286000"/>
        </p:xfrm>
        <a:graphic>
          <a:graphicData uri="http://schemas.openxmlformats.org/drawingml/2006/table">
            <a:tbl>
              <a:tblPr firstRow="0" bandRow="0">
                <a:tableStyleId>{5940675A-B579-460E-94D1-54222C63F5DA}</a:tableStyleId>
              </a:tblPr>
              <a:tblGrid>
                <a:gridCol w="1463040"/>
                <a:gridCol w="1005840"/>
                <a:gridCol w="1188720"/>
                <a:gridCol w="1005840"/>
                <a:gridCol w="1188720"/>
                <a:gridCol w="1463040"/>
              </a:tblGrid>
              <a:tr h="228600">
                <a:tc>
                  <a:txBody>
                    <a:bodyPr wrap="square"/>
                    <a:lstStyle/>
                    <a:p>
                      <a:r>
                        <a:rPr sz="1000" b="1">
                          <a:solidFill>
                            <a:srgbClr val="FFFFFF"/>
                          </a:solidFill>
                          <a:latin typeface="Calibri"/>
                        </a:rPr>
                        <a:t>Model</a:t>
                      </a:r>
                    </a:p>
                  </a:txBody>
                  <a:tcPr marL="73152" marR="73152" marT="27432" marB="27432" anchor="ctr">
                    <a:solidFill>
                      <a:srgbClr val="14213D"/>
                    </a:solidFill>
                  </a:tcPr>
                </a:tc>
                <a:tc>
                  <a:txBody>
                    <a:bodyPr wrap="square"/>
                    <a:lstStyle/>
                    <a:p>
                      <a:r>
                        <a:rPr sz="1000" b="1">
                          <a:solidFill>
                            <a:srgbClr val="FFFFFF"/>
                          </a:solidFill>
                          <a:latin typeface="Calibri"/>
                        </a:rPr>
                        <a:t>Weight</a:t>
                      </a:r>
                    </a:p>
                  </a:txBody>
                  <a:tcPr marL="73152" marR="73152" marT="27432" marB="27432" anchor="ctr">
                    <a:solidFill>
                      <a:srgbClr val="14213D"/>
                    </a:solidFill>
                  </a:tcPr>
                </a:tc>
                <a:tc>
                  <a:txBody>
                    <a:bodyPr wrap="square"/>
                    <a:lstStyle/>
                    <a:p>
                      <a:r>
                        <a:rPr sz="1000" b="1">
                          <a:solidFill>
                            <a:srgbClr val="FFFFFF"/>
                          </a:solidFill>
                          <a:latin typeface="Calibri"/>
                        </a:rPr>
                        <a:t>CV PR-AUC</a:t>
                      </a:r>
                    </a:p>
                  </a:txBody>
                  <a:tcPr marL="73152" marR="73152" marT="27432" marB="27432" anchor="ctr">
                    <a:solidFill>
                      <a:srgbClr val="14213D"/>
                    </a:solidFill>
                  </a:tcPr>
                </a:tc>
                <a:tc>
                  <a:txBody>
                    <a:bodyPr wrap="square"/>
                    <a:lstStyle/>
                    <a:p>
                      <a:r>
                        <a:rPr sz="1000" b="1">
                          <a:solidFill>
                            <a:srgbClr val="FFFFFF"/>
                          </a:solidFill>
                          <a:latin typeface="Calibri"/>
                        </a:rPr>
                        <a:t>Δ</a:t>
                      </a:r>
                    </a:p>
                  </a:txBody>
                  <a:tcPr marL="73152" marR="73152" marT="27432" marB="27432" anchor="ctr">
                    <a:solidFill>
                      <a:srgbClr val="14213D"/>
                    </a:solidFill>
                  </a:tcPr>
                </a:tc>
                <a:tc>
                  <a:txBody>
                    <a:bodyPr wrap="square"/>
                    <a:lstStyle/>
                    <a:p>
                      <a:r>
                        <a:rPr sz="1000" b="1">
                          <a:solidFill>
                            <a:srgbClr val="FFFFFF"/>
                          </a:solidFill>
                          <a:latin typeface="Calibri"/>
                        </a:rPr>
                        <a:t>CV Brier</a:t>
                      </a:r>
                    </a:p>
                  </a:txBody>
                  <a:tcPr marL="73152" marR="73152" marT="27432" marB="27432" anchor="ctr">
                    <a:solidFill>
                      <a:srgbClr val="14213D"/>
                    </a:solidFill>
                  </a:tcPr>
                </a:tc>
                <a:tc>
                  <a:txBody>
                    <a:bodyPr wrap="square"/>
                    <a:lstStyle/>
                    <a:p>
                      <a:r>
                        <a:rPr sz="1000" b="1">
                          <a:solidFill>
                            <a:srgbClr val="FFFFFF"/>
                          </a:solidFill>
                          <a:latin typeface="Calibri"/>
                        </a:rPr>
                        <a:t>Mean predicted</a:t>
                      </a:r>
                    </a:p>
                  </a:txBody>
                  <a:tcPr marL="73152" marR="73152" marT="27432" marB="27432" anchor="ctr">
                    <a:solidFill>
                      <a:srgbClr val="14213D"/>
                    </a:solidFill>
                  </a:tcPr>
                </a:tc>
              </a:tr>
              <a:tr h="228600">
                <a:tc>
                  <a:txBody>
                    <a:bodyPr wrap="square"/>
                    <a:lstStyle/>
                    <a:p>
                      <a:r>
                        <a:rPr sz="1000" b="1">
                          <a:solidFill>
                            <a:srgbClr val="1F2937"/>
                          </a:solidFill>
                          <a:latin typeface="Calibri"/>
                        </a:rPr>
                        <a:t>XGB__A_fe</a:t>
                      </a:r>
                    </a:p>
                  </a:txBody>
                  <a:tcPr marL="73152" marR="73152" marT="27432" marB="27432" anchor="ctr">
                    <a:solidFill>
                      <a:srgbClr val="FFFFFF"/>
                    </a:solidFill>
                  </a:tcPr>
                </a:tc>
                <a:tc>
                  <a:txBody>
                    <a:bodyPr wrap="square"/>
                    <a:lstStyle/>
                    <a:p>
                      <a:r>
                        <a:rPr sz="1000" b="0">
                          <a:solidFill>
                            <a:srgbClr val="1F2937"/>
                          </a:solidFill>
                          <a:latin typeface="Calibri"/>
                        </a:rPr>
                        <a:t>none</a:t>
                      </a:r>
                    </a:p>
                  </a:txBody>
                  <a:tcPr marL="73152" marR="73152" marT="27432" marB="27432" anchor="ctr">
                    <a:solidFill>
                      <a:srgbClr val="FFFFFF"/>
                    </a:solidFill>
                  </a:tcPr>
                </a:tc>
                <a:tc>
                  <a:txBody>
                    <a:bodyPr wrap="square"/>
                    <a:lstStyle/>
                    <a:p>
                      <a:r>
                        <a:rPr sz="1000" b="0">
                          <a:solidFill>
                            <a:srgbClr val="1F2937"/>
                          </a:solidFill>
                          <a:latin typeface="Calibri"/>
                        </a:rPr>
                        <a:t>0.633</a:t>
                      </a:r>
                    </a:p>
                  </a:txBody>
                  <a:tcPr marL="73152" marR="73152" marT="27432" marB="27432" anchor="ctr">
                    <a:solidFill>
                      <a:srgbClr val="FFFFFF"/>
                    </a:solidFill>
                  </a:tcPr>
                </a:tc>
                <a:tc>
                  <a:txBody>
                    <a:bodyPr wrap="square"/>
                    <a:lstStyle/>
                    <a:p>
                      <a:r>
                        <a:rPr sz="1000" b="0">
                          <a:solidFill>
                            <a:srgbClr val="1F2937"/>
                          </a:solidFill>
                          <a:latin typeface="Calibri"/>
                        </a:rPr>
                        <a:t>+0.000</a:t>
                      </a:r>
                    </a:p>
                  </a:txBody>
                  <a:tcPr marL="73152" marR="73152" marT="27432" marB="27432" anchor="ctr">
                    <a:solidFill>
                      <a:srgbClr val="FFFFFF"/>
                    </a:solidFill>
                  </a:tcPr>
                </a:tc>
                <a:tc>
                  <a:txBody>
                    <a:bodyPr wrap="square"/>
                    <a:lstStyle/>
                    <a:p>
                      <a:r>
                        <a:rPr sz="1000" b="0">
                          <a:solidFill>
                            <a:srgbClr val="1F2937"/>
                          </a:solidFill>
                          <a:latin typeface="Calibri"/>
                        </a:rPr>
                        <a:t>0.150</a:t>
                      </a:r>
                    </a:p>
                  </a:txBody>
                  <a:tcPr marL="73152" marR="73152" marT="27432" marB="27432" anchor="ctr">
                    <a:solidFill>
                      <a:srgbClr val="FFFFFF"/>
                    </a:solidFill>
                  </a:tcPr>
                </a:tc>
                <a:tc>
                  <a:txBody>
                    <a:bodyPr wrap="square"/>
                    <a:lstStyle/>
                    <a:p>
                      <a:r>
                        <a:rPr sz="1000" b="0">
                          <a:solidFill>
                            <a:srgbClr val="1F2937"/>
                          </a:solidFill>
                          <a:latin typeface="Calibri"/>
                        </a:rPr>
                        <a:t>0.28</a:t>
                      </a:r>
                    </a:p>
                  </a:txBody>
                  <a:tcPr marL="73152" marR="73152" marT="27432" marB="27432" anchor="ctr">
                    <a:solidFill>
                      <a:srgbClr val="FFFFFF"/>
                    </a:solidFill>
                  </a:tcPr>
                </a:tc>
              </a:tr>
              <a:tr h="228600">
                <a:tc>
                  <a:txBody>
                    <a:bodyPr wrap="square"/>
                    <a:lstStyle/>
                    <a:p>
                      <a:r>
                        <a:rPr sz="1000" b="1">
                          <a:solidFill>
                            <a:srgbClr val="1F2937"/>
                          </a:solidFill>
                          <a:latin typeface="Calibri"/>
                        </a:rPr>
                        <a:t>XGB__A_fe</a:t>
                      </a:r>
                    </a:p>
                  </a:txBody>
                  <a:tcPr marL="73152" marR="73152" marT="27432" marB="27432" anchor="ctr">
                    <a:solidFill>
                      <a:srgbClr val="F6F8FB"/>
                    </a:solidFill>
                  </a:tcPr>
                </a:tc>
                <a:tc>
                  <a:txBody>
                    <a:bodyPr wrap="square"/>
                    <a:lstStyle/>
                    <a:p>
                      <a:r>
                        <a:rPr sz="1000" b="0">
                          <a:solidFill>
                            <a:srgbClr val="1F2937"/>
                          </a:solidFill>
                          <a:latin typeface="Calibri"/>
                        </a:rPr>
                        <a:t>sqrt</a:t>
                      </a:r>
                    </a:p>
                  </a:txBody>
                  <a:tcPr marL="73152" marR="73152" marT="27432" marB="27432" anchor="ctr">
                    <a:solidFill>
                      <a:srgbClr val="F6F8FB"/>
                    </a:solidFill>
                  </a:tcPr>
                </a:tc>
                <a:tc>
                  <a:txBody>
                    <a:bodyPr wrap="square"/>
                    <a:lstStyle/>
                    <a:p>
                      <a:r>
                        <a:rPr sz="1000" b="0">
                          <a:solidFill>
                            <a:srgbClr val="1F2937"/>
                          </a:solidFill>
                          <a:latin typeface="Calibri"/>
                        </a:rPr>
                        <a:t>0.635</a:t>
                      </a:r>
                    </a:p>
                  </a:txBody>
                  <a:tcPr marL="73152" marR="73152" marT="27432" marB="27432" anchor="ctr">
                    <a:solidFill>
                      <a:srgbClr val="F6F8FB"/>
                    </a:solidFill>
                  </a:tcPr>
                </a:tc>
                <a:tc>
                  <a:txBody>
                    <a:bodyPr wrap="square"/>
                    <a:lstStyle/>
                    <a:p>
                      <a:r>
                        <a:rPr sz="1000" b="0">
                          <a:solidFill>
                            <a:srgbClr val="1F2937"/>
                          </a:solidFill>
                          <a:latin typeface="Calibri"/>
                        </a:rPr>
                        <a:t>+0.002</a:t>
                      </a:r>
                    </a:p>
                  </a:txBody>
                  <a:tcPr marL="73152" marR="73152" marT="27432" marB="27432" anchor="ctr">
                    <a:solidFill>
                      <a:srgbClr val="F6F8FB"/>
                    </a:solidFill>
                  </a:tcPr>
                </a:tc>
                <a:tc>
                  <a:txBody>
                    <a:bodyPr wrap="square"/>
                    <a:lstStyle/>
                    <a:p>
                      <a:r>
                        <a:rPr sz="1000" b="0">
                          <a:solidFill>
                            <a:srgbClr val="1F2937"/>
                          </a:solidFill>
                          <a:latin typeface="Calibri"/>
                        </a:rPr>
                        <a:t>0.153</a:t>
                      </a:r>
                    </a:p>
                  </a:txBody>
                  <a:tcPr marL="73152" marR="73152" marT="27432" marB="27432" anchor="ctr">
                    <a:solidFill>
                      <a:srgbClr val="F6F8FB"/>
                    </a:solidFill>
                  </a:tcPr>
                </a:tc>
                <a:tc>
                  <a:txBody>
                    <a:bodyPr wrap="square"/>
                    <a:lstStyle/>
                    <a:p>
                      <a:r>
                        <a:rPr sz="1000" b="0">
                          <a:solidFill>
                            <a:srgbClr val="1F2937"/>
                          </a:solidFill>
                          <a:latin typeface="Calibri"/>
                        </a:rPr>
                        <a:t>0.33</a:t>
                      </a:r>
                    </a:p>
                  </a:txBody>
                  <a:tcPr marL="73152" marR="73152" marT="27432" marB="27432" anchor="ctr">
                    <a:solidFill>
                      <a:srgbClr val="F6F8FB"/>
                    </a:solidFill>
                  </a:tcPr>
                </a:tc>
              </a:tr>
              <a:tr h="228600">
                <a:tc>
                  <a:txBody>
                    <a:bodyPr wrap="square"/>
                    <a:lstStyle/>
                    <a:p>
                      <a:r>
                        <a:rPr sz="1000" b="1">
                          <a:solidFill>
                            <a:srgbClr val="1F2937"/>
                          </a:solidFill>
                          <a:latin typeface="Calibri"/>
                        </a:rPr>
                        <a:t>XGB__A_fe</a:t>
                      </a:r>
                    </a:p>
                  </a:txBody>
                  <a:tcPr marL="73152" marR="73152" marT="27432" marB="27432" anchor="ctr">
                    <a:solidFill>
                      <a:srgbClr val="FFFFFF"/>
                    </a:solidFill>
                  </a:tcPr>
                </a:tc>
                <a:tc>
                  <a:txBody>
                    <a:bodyPr wrap="square"/>
                    <a:lstStyle/>
                    <a:p>
                      <a:r>
                        <a:rPr sz="1000" b="0">
                          <a:solidFill>
                            <a:srgbClr val="1F2937"/>
                          </a:solidFill>
                          <a:latin typeface="Calibri"/>
                        </a:rPr>
                        <a:t>balanced</a:t>
                      </a:r>
                    </a:p>
                  </a:txBody>
                  <a:tcPr marL="73152" marR="73152" marT="27432" marB="27432" anchor="ctr">
                    <a:solidFill>
                      <a:srgbClr val="FFFFFF"/>
                    </a:solidFill>
                  </a:tcPr>
                </a:tc>
                <a:tc>
                  <a:txBody>
                    <a:bodyPr wrap="square"/>
                    <a:lstStyle/>
                    <a:p>
                      <a:r>
                        <a:rPr sz="1000" b="0">
                          <a:solidFill>
                            <a:srgbClr val="1F2937"/>
                          </a:solidFill>
                          <a:latin typeface="Calibri"/>
                        </a:rPr>
                        <a:t>0.638</a:t>
                      </a:r>
                    </a:p>
                  </a:txBody>
                  <a:tcPr marL="73152" marR="73152" marT="27432" marB="27432" anchor="ctr">
                    <a:solidFill>
                      <a:srgbClr val="FFFFFF"/>
                    </a:solidFill>
                  </a:tcPr>
                </a:tc>
                <a:tc>
                  <a:txBody>
                    <a:bodyPr wrap="square"/>
                    <a:lstStyle/>
                    <a:p>
                      <a:r>
                        <a:rPr sz="1000" b="0">
                          <a:solidFill>
                            <a:srgbClr val="1F2937"/>
                          </a:solidFill>
                          <a:latin typeface="Calibri"/>
                        </a:rPr>
                        <a:t>+0.004</a:t>
                      </a:r>
                    </a:p>
                  </a:txBody>
                  <a:tcPr marL="73152" marR="73152" marT="27432" marB="27432" anchor="ctr">
                    <a:solidFill>
                      <a:srgbClr val="FFFFFF"/>
                    </a:solidFill>
                  </a:tcPr>
                </a:tc>
                <a:tc>
                  <a:txBody>
                    <a:bodyPr wrap="square"/>
                    <a:lstStyle/>
                    <a:p>
                      <a:r>
                        <a:rPr sz="1000" b="0">
                          <a:solidFill>
                            <a:srgbClr val="1F2937"/>
                          </a:solidFill>
                          <a:latin typeface="Calibri"/>
                        </a:rPr>
                        <a:t>0.162</a:t>
                      </a:r>
                    </a:p>
                  </a:txBody>
                  <a:tcPr marL="73152" marR="73152" marT="27432" marB="27432" anchor="ctr">
                    <a:solidFill>
                      <a:srgbClr val="FFFFFF"/>
                    </a:solidFill>
                  </a:tcPr>
                </a:tc>
                <a:tc>
                  <a:txBody>
                    <a:bodyPr wrap="square"/>
                    <a:lstStyle/>
                    <a:p>
                      <a:r>
                        <a:rPr sz="1000" b="0">
                          <a:solidFill>
                            <a:srgbClr val="1F2937"/>
                          </a:solidFill>
                          <a:latin typeface="Calibri"/>
                        </a:rPr>
                        <a:t>0.39</a:t>
                      </a:r>
                    </a:p>
                  </a:txBody>
                  <a:tcPr marL="73152" marR="73152" marT="27432" marB="27432" anchor="ctr">
                    <a:solidFill>
                      <a:srgbClr val="FFFFFF"/>
                    </a:solidFill>
                  </a:tcPr>
                </a:tc>
              </a:tr>
              <a:tr h="228600">
                <a:tc>
                  <a:txBody>
                    <a:bodyPr wrap="square"/>
                    <a:lstStyle/>
                    <a:p>
                      <a:r>
                        <a:rPr sz="1000" b="1">
                          <a:solidFill>
                            <a:srgbClr val="1F2937"/>
                          </a:solidFill>
                          <a:latin typeface="Calibri"/>
                        </a:rPr>
                        <a:t>XGB__B_fe</a:t>
                      </a:r>
                    </a:p>
                  </a:txBody>
                  <a:tcPr marL="73152" marR="73152" marT="27432" marB="27432" anchor="ctr">
                    <a:solidFill>
                      <a:srgbClr val="F6F8FB"/>
                    </a:solidFill>
                  </a:tcPr>
                </a:tc>
                <a:tc>
                  <a:txBody>
                    <a:bodyPr wrap="square"/>
                    <a:lstStyle/>
                    <a:p>
                      <a:r>
                        <a:rPr sz="1000" b="0">
                          <a:solidFill>
                            <a:srgbClr val="1F2937"/>
                          </a:solidFill>
                          <a:latin typeface="Calibri"/>
                        </a:rPr>
                        <a:t>none</a:t>
                      </a:r>
                    </a:p>
                  </a:txBody>
                  <a:tcPr marL="73152" marR="73152" marT="27432" marB="27432" anchor="ctr">
                    <a:solidFill>
                      <a:srgbClr val="F6F8FB"/>
                    </a:solidFill>
                  </a:tcPr>
                </a:tc>
                <a:tc>
                  <a:txBody>
                    <a:bodyPr wrap="square"/>
                    <a:lstStyle/>
                    <a:p>
                      <a:r>
                        <a:rPr sz="1000" b="0">
                          <a:solidFill>
                            <a:srgbClr val="1F2937"/>
                          </a:solidFill>
                          <a:latin typeface="Calibri"/>
                        </a:rPr>
                        <a:t>0.667</a:t>
                      </a:r>
                    </a:p>
                  </a:txBody>
                  <a:tcPr marL="73152" marR="73152" marT="27432" marB="27432" anchor="ctr">
                    <a:solidFill>
                      <a:srgbClr val="F6F8FB"/>
                    </a:solidFill>
                  </a:tcPr>
                </a:tc>
                <a:tc>
                  <a:txBody>
                    <a:bodyPr wrap="square"/>
                    <a:lstStyle/>
                    <a:p>
                      <a:r>
                        <a:rPr sz="1000" b="0">
                          <a:solidFill>
                            <a:srgbClr val="1F2937"/>
                          </a:solidFill>
                          <a:latin typeface="Calibri"/>
                        </a:rPr>
                        <a:t>+0.000</a:t>
                      </a:r>
                    </a:p>
                  </a:txBody>
                  <a:tcPr marL="73152" marR="73152" marT="27432" marB="27432" anchor="ctr">
                    <a:solidFill>
                      <a:srgbClr val="F6F8FB"/>
                    </a:solidFill>
                  </a:tcPr>
                </a:tc>
                <a:tc>
                  <a:txBody>
                    <a:bodyPr wrap="square"/>
                    <a:lstStyle/>
                    <a:p>
                      <a:r>
                        <a:rPr sz="1000" b="0">
                          <a:solidFill>
                            <a:srgbClr val="1F2937"/>
                          </a:solidFill>
                          <a:latin typeface="Calibri"/>
                        </a:rPr>
                        <a:t>0.145</a:t>
                      </a:r>
                    </a:p>
                  </a:txBody>
                  <a:tcPr marL="73152" marR="73152" marT="27432" marB="27432" anchor="ctr">
                    <a:solidFill>
                      <a:srgbClr val="F6F8FB"/>
                    </a:solidFill>
                  </a:tcPr>
                </a:tc>
                <a:tc>
                  <a:txBody>
                    <a:bodyPr wrap="square"/>
                    <a:lstStyle/>
                    <a:p>
                      <a:r>
                        <a:rPr sz="1000" b="0">
                          <a:solidFill>
                            <a:srgbClr val="1F2937"/>
                          </a:solidFill>
                          <a:latin typeface="Calibri"/>
                        </a:rPr>
                        <a:t>0.28</a:t>
                      </a:r>
                    </a:p>
                  </a:txBody>
                  <a:tcPr marL="73152" marR="73152" marT="27432" marB="27432" anchor="ctr">
                    <a:solidFill>
                      <a:srgbClr val="F6F8FB"/>
                    </a:solidFill>
                  </a:tcPr>
                </a:tc>
              </a:tr>
              <a:tr h="228600">
                <a:tc>
                  <a:txBody>
                    <a:bodyPr wrap="square"/>
                    <a:lstStyle/>
                    <a:p>
                      <a:r>
                        <a:rPr sz="1000" b="1">
                          <a:solidFill>
                            <a:srgbClr val="1F2937"/>
                          </a:solidFill>
                          <a:latin typeface="Calibri"/>
                        </a:rPr>
                        <a:t>XGB__B_fe</a:t>
                      </a:r>
                    </a:p>
                  </a:txBody>
                  <a:tcPr marL="73152" marR="73152" marT="27432" marB="27432" anchor="ctr">
                    <a:solidFill>
                      <a:srgbClr val="FFFFFF"/>
                    </a:solidFill>
                  </a:tcPr>
                </a:tc>
                <a:tc>
                  <a:txBody>
                    <a:bodyPr wrap="square"/>
                    <a:lstStyle/>
                    <a:p>
                      <a:r>
                        <a:rPr sz="1000" b="0">
                          <a:solidFill>
                            <a:srgbClr val="1F2937"/>
                          </a:solidFill>
                          <a:latin typeface="Calibri"/>
                        </a:rPr>
                        <a:t>sqrt</a:t>
                      </a:r>
                    </a:p>
                  </a:txBody>
                  <a:tcPr marL="73152" marR="73152" marT="27432" marB="27432" anchor="ctr">
                    <a:solidFill>
                      <a:srgbClr val="FFFFFF"/>
                    </a:solidFill>
                  </a:tcPr>
                </a:tc>
                <a:tc>
                  <a:txBody>
                    <a:bodyPr wrap="square"/>
                    <a:lstStyle/>
                    <a:p>
                      <a:r>
                        <a:rPr sz="1000" b="0">
                          <a:solidFill>
                            <a:srgbClr val="1F2937"/>
                          </a:solidFill>
                          <a:latin typeface="Calibri"/>
                        </a:rPr>
                        <a:t>0.671</a:t>
                      </a:r>
                    </a:p>
                  </a:txBody>
                  <a:tcPr marL="73152" marR="73152" marT="27432" marB="27432" anchor="ctr">
                    <a:solidFill>
                      <a:srgbClr val="FFFFFF"/>
                    </a:solidFill>
                  </a:tcPr>
                </a:tc>
                <a:tc>
                  <a:txBody>
                    <a:bodyPr wrap="square"/>
                    <a:lstStyle/>
                    <a:p>
                      <a:r>
                        <a:rPr sz="1000" b="0">
                          <a:solidFill>
                            <a:srgbClr val="1F2937"/>
                          </a:solidFill>
                          <a:latin typeface="Calibri"/>
                        </a:rPr>
                        <a:t>+0.005</a:t>
                      </a:r>
                    </a:p>
                  </a:txBody>
                  <a:tcPr marL="73152" marR="73152" marT="27432" marB="27432" anchor="ctr">
                    <a:solidFill>
                      <a:srgbClr val="FFFFFF"/>
                    </a:solidFill>
                  </a:tcPr>
                </a:tc>
                <a:tc>
                  <a:txBody>
                    <a:bodyPr wrap="square"/>
                    <a:lstStyle/>
                    <a:p>
                      <a:r>
                        <a:rPr sz="1000" b="0">
                          <a:solidFill>
                            <a:srgbClr val="1F2937"/>
                          </a:solidFill>
                          <a:latin typeface="Calibri"/>
                        </a:rPr>
                        <a:t>0.146</a:t>
                      </a:r>
                    </a:p>
                  </a:txBody>
                  <a:tcPr marL="73152" marR="73152" marT="27432" marB="27432" anchor="ctr">
                    <a:solidFill>
                      <a:srgbClr val="FFFFFF"/>
                    </a:solidFill>
                  </a:tcPr>
                </a:tc>
                <a:tc>
                  <a:txBody>
                    <a:bodyPr wrap="square"/>
                    <a:lstStyle/>
                    <a:p>
                      <a:r>
                        <a:rPr sz="1000" b="0">
                          <a:solidFill>
                            <a:srgbClr val="1F2937"/>
                          </a:solidFill>
                          <a:latin typeface="Calibri"/>
                        </a:rPr>
                        <a:t>0.33</a:t>
                      </a:r>
                    </a:p>
                  </a:txBody>
                  <a:tcPr marL="73152" marR="73152" marT="27432" marB="27432" anchor="ctr">
                    <a:solidFill>
                      <a:srgbClr val="FFFFFF"/>
                    </a:solidFill>
                  </a:tcPr>
                </a:tc>
              </a:tr>
              <a:tr h="228600">
                <a:tc>
                  <a:txBody>
                    <a:bodyPr wrap="square"/>
                    <a:lstStyle/>
                    <a:p>
                      <a:r>
                        <a:rPr sz="1000" b="1">
                          <a:solidFill>
                            <a:srgbClr val="1F2937"/>
                          </a:solidFill>
                          <a:latin typeface="Calibri"/>
                        </a:rPr>
                        <a:t>XGB__B_fe</a:t>
                      </a:r>
                    </a:p>
                  </a:txBody>
                  <a:tcPr marL="73152" marR="73152" marT="27432" marB="27432" anchor="ctr">
                    <a:solidFill>
                      <a:srgbClr val="F6F8FB"/>
                    </a:solidFill>
                  </a:tcPr>
                </a:tc>
                <a:tc>
                  <a:txBody>
                    <a:bodyPr wrap="square"/>
                    <a:lstStyle/>
                    <a:p>
                      <a:r>
                        <a:rPr sz="1000" b="0">
                          <a:solidFill>
                            <a:srgbClr val="1F2937"/>
                          </a:solidFill>
                          <a:latin typeface="Calibri"/>
                        </a:rPr>
                        <a:t>balanced</a:t>
                      </a:r>
                    </a:p>
                  </a:txBody>
                  <a:tcPr marL="73152" marR="73152" marT="27432" marB="27432" anchor="ctr">
                    <a:solidFill>
                      <a:srgbClr val="F6F8FB"/>
                    </a:solidFill>
                  </a:tcPr>
                </a:tc>
                <a:tc>
                  <a:txBody>
                    <a:bodyPr wrap="square"/>
                    <a:lstStyle/>
                    <a:p>
                      <a:r>
                        <a:rPr sz="1000" b="0">
                          <a:solidFill>
                            <a:srgbClr val="1F2937"/>
                          </a:solidFill>
                          <a:latin typeface="Calibri"/>
                        </a:rPr>
                        <a:t>0.667</a:t>
                      </a:r>
                    </a:p>
                  </a:txBody>
                  <a:tcPr marL="73152" marR="73152" marT="27432" marB="27432" anchor="ctr">
                    <a:solidFill>
                      <a:srgbClr val="F6F8FB"/>
                    </a:solidFill>
                  </a:tcPr>
                </a:tc>
                <a:tc>
                  <a:txBody>
                    <a:bodyPr wrap="square"/>
                    <a:lstStyle/>
                    <a:p>
                      <a:r>
                        <a:rPr sz="1000" b="0">
                          <a:solidFill>
                            <a:srgbClr val="1F2937"/>
                          </a:solidFill>
                          <a:latin typeface="Calibri"/>
                        </a:rPr>
                        <a:t>+0.000</a:t>
                      </a:r>
                    </a:p>
                  </a:txBody>
                  <a:tcPr marL="73152" marR="73152" marT="27432" marB="27432" anchor="ctr">
                    <a:solidFill>
                      <a:srgbClr val="F6F8FB"/>
                    </a:solidFill>
                  </a:tcPr>
                </a:tc>
                <a:tc>
                  <a:txBody>
                    <a:bodyPr wrap="square"/>
                    <a:lstStyle/>
                    <a:p>
                      <a:r>
                        <a:rPr sz="1000" b="0">
                          <a:solidFill>
                            <a:srgbClr val="1F2937"/>
                          </a:solidFill>
                          <a:latin typeface="Calibri"/>
                        </a:rPr>
                        <a:t>0.155</a:t>
                      </a:r>
                    </a:p>
                  </a:txBody>
                  <a:tcPr marL="73152" marR="73152" marT="27432" marB="27432" anchor="ctr">
                    <a:solidFill>
                      <a:srgbClr val="F6F8FB"/>
                    </a:solidFill>
                  </a:tcPr>
                </a:tc>
                <a:tc>
                  <a:txBody>
                    <a:bodyPr wrap="square"/>
                    <a:lstStyle/>
                    <a:p>
                      <a:r>
                        <a:rPr sz="1000" b="0">
                          <a:solidFill>
                            <a:srgbClr val="1F2937"/>
                          </a:solidFill>
                          <a:latin typeface="Calibri"/>
                        </a:rPr>
                        <a:t>0.37</a:t>
                      </a:r>
                    </a:p>
                  </a:txBody>
                  <a:tcPr marL="73152" marR="73152" marT="27432" marB="27432" anchor="ctr">
                    <a:solidFill>
                      <a:srgbClr val="F6F8FB"/>
                    </a:solidFill>
                  </a:tcPr>
                </a:tc>
              </a:tr>
              <a:tr h="228600">
                <a:tc>
                  <a:txBody>
                    <a:bodyPr wrap="square"/>
                    <a:lstStyle/>
                    <a:p>
                      <a:r>
                        <a:rPr sz="1000" b="1">
                          <a:solidFill>
                            <a:srgbClr val="1F2937"/>
                          </a:solidFill>
                          <a:latin typeface="Calibri"/>
                        </a:rPr>
                        <a:t>LR__A_raw</a:t>
                      </a:r>
                    </a:p>
                  </a:txBody>
                  <a:tcPr marL="73152" marR="73152" marT="27432" marB="27432" anchor="ctr">
                    <a:solidFill>
                      <a:srgbClr val="FFFFFF"/>
                    </a:solidFill>
                  </a:tcPr>
                </a:tc>
                <a:tc>
                  <a:txBody>
                    <a:bodyPr wrap="square"/>
                    <a:lstStyle/>
                    <a:p>
                      <a:r>
                        <a:rPr sz="1000" b="0">
                          <a:solidFill>
                            <a:srgbClr val="1F2937"/>
                          </a:solidFill>
                          <a:latin typeface="Calibri"/>
                        </a:rPr>
                        <a:t>none</a:t>
                      </a:r>
                    </a:p>
                  </a:txBody>
                  <a:tcPr marL="73152" marR="73152" marT="27432" marB="27432" anchor="ctr">
                    <a:solidFill>
                      <a:srgbClr val="FFFFFF"/>
                    </a:solidFill>
                  </a:tcPr>
                </a:tc>
                <a:tc>
                  <a:txBody>
                    <a:bodyPr wrap="square"/>
                    <a:lstStyle/>
                    <a:p>
                      <a:r>
                        <a:rPr sz="1000" b="0">
                          <a:solidFill>
                            <a:srgbClr val="1F2937"/>
                          </a:solidFill>
                          <a:latin typeface="Calibri"/>
                        </a:rPr>
                        <a:t>0.564</a:t>
                      </a:r>
                    </a:p>
                  </a:txBody>
                  <a:tcPr marL="73152" marR="73152" marT="27432" marB="27432" anchor="ctr">
                    <a:solidFill>
                      <a:srgbClr val="FFFFFF"/>
                    </a:solidFill>
                  </a:tcPr>
                </a:tc>
                <a:tc>
                  <a:txBody>
                    <a:bodyPr wrap="square"/>
                    <a:lstStyle/>
                    <a:p>
                      <a:r>
                        <a:rPr sz="1000" b="0">
                          <a:solidFill>
                            <a:srgbClr val="1F2937"/>
                          </a:solidFill>
                          <a:latin typeface="Calibri"/>
                        </a:rPr>
                        <a:t>+0.000</a:t>
                      </a:r>
                    </a:p>
                  </a:txBody>
                  <a:tcPr marL="73152" marR="73152" marT="27432" marB="27432" anchor="ctr">
                    <a:solidFill>
                      <a:srgbClr val="FFFFFF"/>
                    </a:solidFill>
                  </a:tcPr>
                </a:tc>
                <a:tc>
                  <a:txBody>
                    <a:bodyPr wrap="square"/>
                    <a:lstStyle/>
                    <a:p>
                      <a:r>
                        <a:rPr sz="1000" b="0">
                          <a:solidFill>
                            <a:srgbClr val="1F2937"/>
                          </a:solidFill>
                          <a:latin typeface="Calibri"/>
                        </a:rPr>
                        <a:t>0.167</a:t>
                      </a:r>
                    </a:p>
                  </a:txBody>
                  <a:tcPr marL="73152" marR="73152" marT="27432" marB="27432" anchor="ctr">
                    <a:solidFill>
                      <a:srgbClr val="FFFFFF"/>
                    </a:solidFill>
                  </a:tcPr>
                </a:tc>
                <a:tc>
                  <a:txBody>
                    <a:bodyPr wrap="square"/>
                    <a:lstStyle/>
                    <a:p>
                      <a:r>
                        <a:rPr sz="1000" b="0">
                          <a:solidFill>
                            <a:srgbClr val="1F2937"/>
                          </a:solidFill>
                          <a:latin typeface="Calibri"/>
                        </a:rPr>
                        <a:t>0.29</a:t>
                      </a:r>
                    </a:p>
                  </a:txBody>
                  <a:tcPr marL="73152" marR="73152" marT="27432" marB="27432" anchor="ctr">
                    <a:solidFill>
                      <a:srgbClr val="FFFFFF"/>
                    </a:solidFill>
                  </a:tcPr>
                </a:tc>
              </a:tr>
              <a:tr h="228600">
                <a:tc>
                  <a:txBody>
                    <a:bodyPr wrap="square"/>
                    <a:lstStyle/>
                    <a:p>
                      <a:r>
                        <a:rPr sz="1000" b="1">
                          <a:solidFill>
                            <a:srgbClr val="1F2937"/>
                          </a:solidFill>
                          <a:latin typeface="Calibri"/>
                        </a:rPr>
                        <a:t>LR__A_raw</a:t>
                      </a:r>
                    </a:p>
                  </a:txBody>
                  <a:tcPr marL="73152" marR="73152" marT="27432" marB="27432" anchor="ctr">
                    <a:solidFill>
                      <a:srgbClr val="F6F8FB"/>
                    </a:solidFill>
                  </a:tcPr>
                </a:tc>
                <a:tc>
                  <a:txBody>
                    <a:bodyPr wrap="square"/>
                    <a:lstStyle/>
                    <a:p>
                      <a:r>
                        <a:rPr sz="1000" b="0">
                          <a:solidFill>
                            <a:srgbClr val="1F2937"/>
                          </a:solidFill>
                          <a:latin typeface="Calibri"/>
                        </a:rPr>
                        <a:t>sqrt</a:t>
                      </a:r>
                    </a:p>
                  </a:txBody>
                  <a:tcPr marL="73152" marR="73152" marT="27432" marB="27432" anchor="ctr">
                    <a:solidFill>
                      <a:srgbClr val="F6F8FB"/>
                    </a:solidFill>
                  </a:tcPr>
                </a:tc>
                <a:tc>
                  <a:txBody>
                    <a:bodyPr wrap="square"/>
                    <a:lstStyle/>
                    <a:p>
                      <a:r>
                        <a:rPr sz="1000" b="0">
                          <a:solidFill>
                            <a:srgbClr val="1F2937"/>
                          </a:solidFill>
                          <a:latin typeface="Calibri"/>
                        </a:rPr>
                        <a:t>0.561</a:t>
                      </a:r>
                    </a:p>
                  </a:txBody>
                  <a:tcPr marL="73152" marR="73152" marT="27432" marB="27432" anchor="ctr">
                    <a:solidFill>
                      <a:srgbClr val="F6F8FB"/>
                    </a:solidFill>
                  </a:tcPr>
                </a:tc>
                <a:tc>
                  <a:txBody>
                    <a:bodyPr wrap="square"/>
                    <a:lstStyle/>
                    <a:p>
                      <a:r>
                        <a:rPr sz="1000" b="0">
                          <a:solidFill>
                            <a:srgbClr val="1F2937"/>
                          </a:solidFill>
                          <a:latin typeface="Calibri"/>
                        </a:rPr>
                        <a:t>-0.003</a:t>
                      </a:r>
                    </a:p>
                  </a:txBody>
                  <a:tcPr marL="73152" marR="73152" marT="27432" marB="27432" anchor="ctr">
                    <a:solidFill>
                      <a:srgbClr val="F6F8FB"/>
                    </a:solidFill>
                  </a:tcPr>
                </a:tc>
                <a:tc>
                  <a:txBody>
                    <a:bodyPr wrap="square"/>
                    <a:lstStyle/>
                    <a:p>
                      <a:r>
                        <a:rPr sz="1000" b="0">
                          <a:solidFill>
                            <a:srgbClr val="1F2937"/>
                          </a:solidFill>
                          <a:latin typeface="Calibri"/>
                        </a:rPr>
                        <a:t>0.174</a:t>
                      </a:r>
                    </a:p>
                  </a:txBody>
                  <a:tcPr marL="73152" marR="73152" marT="27432" marB="27432" anchor="ctr">
                    <a:solidFill>
                      <a:srgbClr val="F6F8FB"/>
                    </a:solidFill>
                  </a:tcPr>
                </a:tc>
                <a:tc>
                  <a:txBody>
                    <a:bodyPr wrap="square"/>
                    <a:lstStyle/>
                    <a:p>
                      <a:r>
                        <a:rPr sz="1000" b="0">
                          <a:solidFill>
                            <a:srgbClr val="1F2937"/>
                          </a:solidFill>
                          <a:latin typeface="Calibri"/>
                        </a:rPr>
                        <a:t>0.36</a:t>
                      </a:r>
                    </a:p>
                  </a:txBody>
                  <a:tcPr marL="73152" marR="73152" marT="27432" marB="27432" anchor="ctr">
                    <a:solidFill>
                      <a:srgbClr val="F6F8FB"/>
                    </a:solidFill>
                  </a:tcPr>
                </a:tc>
              </a:tr>
              <a:tr h="228600">
                <a:tc>
                  <a:txBody>
                    <a:bodyPr wrap="square"/>
                    <a:lstStyle/>
                    <a:p>
                      <a:r>
                        <a:rPr sz="1000" b="1">
                          <a:solidFill>
                            <a:srgbClr val="1F2937"/>
                          </a:solidFill>
                          <a:latin typeface="Calibri"/>
                        </a:rPr>
                        <a:t>LR__A_raw</a:t>
                      </a:r>
                    </a:p>
                  </a:txBody>
                  <a:tcPr marL="73152" marR="73152" marT="27432" marB="27432" anchor="ctr">
                    <a:solidFill>
                      <a:srgbClr val="FFFFFF"/>
                    </a:solidFill>
                  </a:tcPr>
                </a:tc>
                <a:tc>
                  <a:txBody>
                    <a:bodyPr wrap="square"/>
                    <a:lstStyle/>
                    <a:p>
                      <a:r>
                        <a:rPr sz="1000" b="0">
                          <a:solidFill>
                            <a:srgbClr val="1F2937"/>
                          </a:solidFill>
                          <a:latin typeface="Calibri"/>
                        </a:rPr>
                        <a:t>balanced</a:t>
                      </a:r>
                    </a:p>
                  </a:txBody>
                  <a:tcPr marL="73152" marR="73152" marT="27432" marB="27432" anchor="ctr">
                    <a:solidFill>
                      <a:srgbClr val="FFFFFF"/>
                    </a:solidFill>
                  </a:tcPr>
                </a:tc>
                <a:tc>
                  <a:txBody>
                    <a:bodyPr wrap="square"/>
                    <a:lstStyle/>
                    <a:p>
                      <a:r>
                        <a:rPr sz="1000" b="0">
                          <a:solidFill>
                            <a:srgbClr val="1F2937"/>
                          </a:solidFill>
                          <a:latin typeface="Calibri"/>
                        </a:rPr>
                        <a:t>0.556</a:t>
                      </a:r>
                    </a:p>
                  </a:txBody>
                  <a:tcPr marL="73152" marR="73152" marT="27432" marB="27432" anchor="ctr">
                    <a:solidFill>
                      <a:srgbClr val="FFFFFF"/>
                    </a:solidFill>
                  </a:tcPr>
                </a:tc>
                <a:tc>
                  <a:txBody>
                    <a:bodyPr wrap="square"/>
                    <a:lstStyle/>
                    <a:p>
                      <a:r>
                        <a:rPr sz="1000" b="0">
                          <a:solidFill>
                            <a:srgbClr val="1F2937"/>
                          </a:solidFill>
                          <a:latin typeface="Calibri"/>
                        </a:rPr>
                        <a:t>-0.008</a:t>
                      </a:r>
                    </a:p>
                  </a:txBody>
                  <a:tcPr marL="73152" marR="73152" marT="27432" marB="27432" anchor="ctr">
                    <a:solidFill>
                      <a:srgbClr val="FFFFFF"/>
                    </a:solidFill>
                  </a:tcPr>
                </a:tc>
                <a:tc>
                  <a:txBody>
                    <a:bodyPr wrap="square"/>
                    <a:lstStyle/>
                    <a:p>
                      <a:r>
                        <a:rPr sz="1000" b="0">
                          <a:solidFill>
                            <a:srgbClr val="1F2937"/>
                          </a:solidFill>
                          <a:latin typeface="Calibri"/>
                        </a:rPr>
                        <a:t>0.196</a:t>
                      </a:r>
                    </a:p>
                  </a:txBody>
                  <a:tcPr marL="73152" marR="73152" marT="27432" marB="27432" anchor="ctr">
                    <a:solidFill>
                      <a:srgbClr val="FFFFFF"/>
                    </a:solidFill>
                  </a:tcPr>
                </a:tc>
                <a:tc>
                  <a:txBody>
                    <a:bodyPr wrap="square"/>
                    <a:lstStyle/>
                    <a:p>
                      <a:r>
                        <a:rPr sz="1000" b="0">
                          <a:solidFill>
                            <a:srgbClr val="1F2937"/>
                          </a:solidFill>
                          <a:latin typeface="Calibri"/>
                        </a:rPr>
                        <a:t>0.45</a:t>
                      </a:r>
                    </a:p>
                  </a:txBody>
                  <a:tcPr marL="73152" marR="73152" marT="27432" marB="27432" anchor="ctr">
                    <a:solidFill>
                      <a:srgbClr val="FFFFFF"/>
                    </a:solidFill>
                  </a:tcPr>
                </a:tc>
              </a:tr>
            </a:tbl>
          </a:graphicData>
        </a:graphic>
      </p:graphicFrame>
      <p:sp>
        <p:nvSpPr>
          <p:cNvPr id="9" name="Rounded Rectangle 8"/>
          <p:cNvSpPr/>
          <p:nvPr/>
        </p:nvSpPr>
        <p:spPr>
          <a:xfrm>
            <a:off x="7955279" y="4754880"/>
            <a:ext cx="3703320" cy="14630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4846320"/>
            <a:ext cx="3429000" cy="365760"/>
          </a:xfrm>
          <a:prstGeom prst="rect">
            <a:avLst/>
          </a:prstGeom>
          <a:noFill/>
        </p:spPr>
        <p:txBody>
          <a:bodyPr wrap="square" anchor="t" lIns="36576" rIns="36576" tIns="18288" bIns="18288">
            <a:spAutoFit/>
          </a:bodyPr>
          <a:lstStyle/>
          <a:p>
            <a:pPr algn="l"/>
            <a:r>
              <a:rPr sz="1400" b="1" i="0">
                <a:solidFill>
                  <a:srgbClr val="14213D"/>
                </a:solidFill>
                <a:latin typeface="Calibri"/>
              </a:rPr>
              <a:t>Decision: no weighting</a:t>
            </a:r>
          </a:p>
        </p:txBody>
      </p:sp>
      <p:sp>
        <p:nvSpPr>
          <p:cNvPr id="11" name="TextBox 10"/>
          <p:cNvSpPr txBox="1"/>
          <p:nvPr/>
        </p:nvSpPr>
        <p:spPr>
          <a:xfrm>
            <a:off x="8092440" y="5212080"/>
            <a:ext cx="3429000" cy="960120"/>
          </a:xfrm>
          <a:prstGeom prst="rect">
            <a:avLst/>
          </a:prstGeom>
          <a:noFill/>
        </p:spPr>
        <p:txBody>
          <a:bodyPr wrap="square" anchor="t" lIns="36576" rIns="36576" tIns="18288" bIns="18288">
            <a:spAutoFit/>
          </a:bodyPr>
          <a:lstStyle/>
          <a:p>
            <a:pPr algn="l"/>
            <a:r>
              <a:rPr sz="1150" b="0" i="0">
                <a:solidFill>
                  <a:srgbClr val="1F2937"/>
                </a:solidFill>
                <a:latin typeface="Calibri"/>
              </a:rPr>
              <a:t>Largest gain +0.005 (rule needs +0.02); Brier worse; the max-F1 threshold already balances precision and recall.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nchor="t" lIns="36576" rIns="36576" tIns="18288" bIns="18288">
            <a:spAutoFit/>
          </a:bodyPr>
          <a:lstStyle/>
          <a:p>
            <a:pPr algn="l"/>
            <a:r>
              <a:rPr sz="1600" b="1" i="0">
                <a:solidFill>
                  <a:srgbClr val="CADCFC"/>
                </a:solidFill>
                <a:latin typeface="Calibri"/>
              </a:rPr>
              <a:t>PART 3</a:t>
            </a:r>
          </a:p>
        </p:txBody>
      </p:sp>
      <p:sp>
        <p:nvSpPr>
          <p:cNvPr id="3" name="TextBox 2"/>
          <p:cNvSpPr txBox="1"/>
          <p:nvPr/>
        </p:nvSpPr>
        <p:spPr>
          <a:xfrm>
            <a:off x="822960" y="2377440"/>
            <a:ext cx="10515600" cy="1097280"/>
          </a:xfrm>
          <a:prstGeom prst="rect">
            <a:avLst/>
          </a:prstGeom>
          <a:noFill/>
        </p:spPr>
        <p:txBody>
          <a:bodyPr wrap="square" anchor="t" lIns="36576" rIns="36576" tIns="18288" bIns="18288">
            <a:spAutoFit/>
          </a:bodyPr>
          <a:lstStyle/>
          <a:p>
            <a:pPr algn="l"/>
            <a:r>
              <a:rPr sz="4400" b="1" i="0">
                <a:solidFill>
                  <a:srgbClr val="FFFFFF"/>
                </a:solidFill>
                <a:latin typeface="Cambria"/>
              </a:rPr>
              <a:t>Feature importance and selection</a:t>
            </a:r>
          </a:p>
        </p:txBody>
      </p:sp>
      <p:sp>
        <p:nvSpPr>
          <p:cNvPr id="4" name="TextBox 3"/>
          <p:cNvSpPr txBox="1"/>
          <p:nvPr/>
        </p:nvSpPr>
        <p:spPr>
          <a:xfrm>
            <a:off x="822960" y="3520440"/>
            <a:ext cx="10058400" cy="914400"/>
          </a:xfrm>
          <a:prstGeom prst="rect">
            <a:avLst/>
          </a:prstGeom>
          <a:noFill/>
        </p:spPr>
        <p:txBody>
          <a:bodyPr wrap="square" anchor="t" lIns="36576" rIns="36576" tIns="18288" bIns="18288">
            <a:spAutoFit/>
          </a:bodyPr>
          <a:lstStyle/>
          <a:p>
            <a:pPr algn="l"/>
            <a:r>
              <a:rPr sz="1800" b="0" i="0">
                <a:solidFill>
                  <a:srgbClr val="CADCFC"/>
                </a:solidFill>
                <a:latin typeface="Calibri"/>
              </a:rPr>
              <a:t>What does the model rely on, does it make sense, and how few features can it use without losing accuracy?</a:t>
            </a:r>
          </a:p>
        </p:txBody>
      </p:sp>
      <p:sp>
        <p:nvSpPr>
          <p:cNvPr id="5" name="Rounded Rectangle 4"/>
          <p:cNvSpPr/>
          <p:nvPr/>
        </p:nvSpPr>
        <p:spPr>
          <a:xfrm>
            <a:off x="822960" y="4572000"/>
            <a:ext cx="2377440" cy="457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Steps 27, 28</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What the champion relies on (SHAP, final model)</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STEPS 27, 30</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15</a:t>
            </a:r>
          </a:p>
        </p:txBody>
      </p:sp>
      <p:graphicFrame>
        <p:nvGraphicFramePr>
          <p:cNvPr id="6" name="Chart 5"/>
          <p:cNvGraphicFramePr>
            <a:graphicFrameLocks noGrp="1"/>
          </p:cNvGraphicFramePr>
          <p:nvPr/>
        </p:nvGraphicFramePr>
        <p:xfrm>
          <a:off x="548640" y="1325880"/>
          <a:ext cx="6949440" cy="4892040"/>
        </p:xfrm>
        <a:graphic>
          <a:graphicData uri="http://schemas.openxmlformats.org/drawingml/2006/chart">
            <c:chart xmlns:c="http://schemas.openxmlformats.org/drawingml/2006/chart" r:id="rId2"/>
          </a:graphicData>
        </a:graphic>
      </p:graphicFrame>
      <p:sp>
        <p:nvSpPr>
          <p:cNvPr id="7" name="Rounded Rectangle 6"/>
          <p:cNvSpPr/>
          <p:nvPr/>
        </p:nvSpPr>
        <p:spPr>
          <a:xfrm>
            <a:off x="7863840" y="1325880"/>
            <a:ext cx="3794760" cy="2286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417320"/>
            <a:ext cx="3520440" cy="365760"/>
          </a:xfrm>
          <a:prstGeom prst="rect">
            <a:avLst/>
          </a:prstGeom>
          <a:noFill/>
        </p:spPr>
        <p:txBody>
          <a:bodyPr wrap="square" anchor="t" lIns="36576" rIns="36576" tIns="18288" bIns="18288">
            <a:spAutoFit/>
          </a:bodyPr>
          <a:lstStyle/>
          <a:p>
            <a:pPr algn="l"/>
            <a:r>
              <a:rPr sz="1400" b="1" i="0">
                <a:solidFill>
                  <a:srgbClr val="14213D"/>
                </a:solidFill>
                <a:latin typeface="Calibri"/>
              </a:rPr>
              <a:t>Debt × stress signals dominate</a:t>
            </a:r>
          </a:p>
        </p:txBody>
      </p:sp>
      <p:sp>
        <p:nvSpPr>
          <p:cNvPr id="9" name="TextBox 8"/>
          <p:cNvSpPr txBox="1"/>
          <p:nvPr/>
        </p:nvSpPr>
        <p:spPr>
          <a:xfrm>
            <a:off x="8001000" y="1783080"/>
            <a:ext cx="3520440" cy="1783080"/>
          </a:xfrm>
          <a:prstGeom prst="rect">
            <a:avLst/>
          </a:prstGeom>
          <a:noFill/>
        </p:spPr>
        <p:txBody>
          <a:bodyPr wrap="square" anchor="t" lIns="36576" rIns="36576" tIns="18288" bIns="18288">
            <a:spAutoFit/>
          </a:bodyPr>
          <a:lstStyle/>
          <a:p>
            <a:pPr algn="l"/>
            <a:r>
              <a:rPr sz="1200" b="0" i="0">
                <a:solidFill>
                  <a:srgbClr val="1F2937"/>
                </a:solidFill>
                <a:latin typeface="Calibri"/>
              </a:rPr>
              <a:t>Most top features combine outstanding debt with interest rate, inquiries, delays or credit-history length; payment behaviour is the strongest single original field.</a:t>
            </a:r>
          </a:p>
        </p:txBody>
      </p:sp>
      <p:sp>
        <p:nvSpPr>
          <p:cNvPr id="10" name="Rounded Rectangle 9"/>
          <p:cNvSpPr/>
          <p:nvPr/>
        </p:nvSpPr>
        <p:spPr>
          <a:xfrm>
            <a:off x="7863840" y="3794760"/>
            <a:ext cx="3794760" cy="237744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3886200"/>
            <a:ext cx="3520440" cy="365760"/>
          </a:xfrm>
          <a:prstGeom prst="rect">
            <a:avLst/>
          </a:prstGeom>
          <a:noFill/>
        </p:spPr>
        <p:txBody>
          <a:bodyPr wrap="square" anchor="t" lIns="36576" rIns="36576" tIns="18288" bIns="18288">
            <a:spAutoFit/>
          </a:bodyPr>
          <a:lstStyle/>
          <a:p>
            <a:pPr algn="l"/>
            <a:r>
              <a:rPr sz="1400" b="1" i="0">
                <a:solidFill>
                  <a:srgbClr val="14213D"/>
                </a:solidFill>
                <a:latin typeface="Calibri"/>
              </a:rPr>
              <a:t>Checks passed</a:t>
            </a:r>
          </a:p>
        </p:txBody>
      </p:sp>
      <p:sp>
        <p:nvSpPr>
          <p:cNvPr id="12" name="TextBox 11"/>
          <p:cNvSpPr txBox="1"/>
          <p:nvPr/>
        </p:nvSpPr>
        <p:spPr>
          <a:xfrm>
            <a:off x="8001000" y="4251960"/>
            <a:ext cx="3520440" cy="1874519"/>
          </a:xfrm>
          <a:prstGeom prst="rect">
            <a:avLst/>
          </a:prstGeom>
          <a:noFill/>
        </p:spPr>
        <p:txBody>
          <a:bodyPr wrap="square" anchor="t" lIns="36576" rIns="36576" tIns="18288" bIns="18288">
            <a:spAutoFit/>
          </a:bodyPr>
          <a:lstStyle/>
          <a:p>
            <a:pPr algn="l"/>
            <a:r>
              <a:rPr sz="1200" b="0" i="0">
                <a:solidFill>
                  <a:srgbClr val="1F2937"/>
                </a:solidFill>
                <a:latin typeface="Calibri"/>
              </a:rPr>
              <a:t>Largest single feature ≈ 10% of importance (no leakage flag). Permutation and SHAP rankings agree (rank correlation 0.73). SHAP values add up exactly to each prediction.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Which way each feature pushes the risk</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27</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16</a:t>
            </a:r>
          </a:p>
        </p:txBody>
      </p:sp>
      <p:pic>
        <p:nvPicPr>
          <p:cNvPr id="6" name="27_3_shap_beeswarm_A.png" descr="27_3_shap_beeswarm_A.png"/>
          <p:cNvPicPr>
            <a:picLocks noChangeAspect="1"/>
          </p:cNvPicPr>
          <p:nvPr/>
        </p:nvPicPr>
        <p:blipFill>
          <a:blip r:embed="rId2"/>
          <a:stretch>
            <a:fillRect/>
          </a:stretch>
        </p:blipFill>
        <p:spPr>
          <a:xfrm>
            <a:off x="480723" y="1234440"/>
            <a:ext cx="6719512" cy="5029200"/>
          </a:xfrm>
          <a:prstGeom prst="rect">
            <a:avLst/>
          </a:prstGeom>
        </p:spPr>
      </p:pic>
      <p:sp>
        <p:nvSpPr>
          <p:cNvPr id="7" name="TextBox 6"/>
          <p:cNvSpPr txBox="1"/>
          <p:nvPr/>
        </p:nvSpPr>
        <p:spPr>
          <a:xfrm>
            <a:off x="7406640" y="1371600"/>
            <a:ext cx="4251960" cy="4846320"/>
          </a:xfrm>
          <a:prstGeom prst="rect">
            <a:avLst/>
          </a:prstGeom>
          <a:noFill/>
        </p:spPr>
        <p:txBody>
          <a:bodyPr wrap="square" lIns="36576" rIns="36576">
            <a:spAutoFit/>
          </a:bodyPr>
          <a:lstStyle/>
          <a:p>
            <a:pPr marL="201168" indent="-182880">
              <a:spcAft>
                <a:spcPts val="800"/>
              </a:spcAft>
              <a:buFont typeface="Arial"/>
              <a:buChar char="•"/>
            </a:pPr>
            <a:r>
              <a:rPr sz="1300" b="1">
                <a:solidFill>
                  <a:srgbClr val="1F2937"/>
                </a:solidFill>
                <a:latin typeface="Calibri"/>
              </a:rPr>
              <a:t>How to read: </a:t>
            </a:r>
            <a:r>
              <a:rPr sz="1300" b="0">
                <a:solidFill>
                  <a:srgbClr val="1F2937"/>
                </a:solidFill>
                <a:latin typeface="Calibri"/>
              </a:rPr>
              <a:t>one dot per training loan; colour = feature value (red high, blue low); right of zero = raises risk.</a:t>
            </a:r>
          </a:p>
          <a:p>
            <a:pPr marL="201168" indent="-182880">
              <a:spcAft>
                <a:spcPts val="800"/>
              </a:spcAft>
              <a:buFont typeface="Arial"/>
              <a:buChar char="•"/>
            </a:pPr>
            <a:r>
              <a:rPr sz="1300" b="1">
                <a:solidFill>
                  <a:srgbClr val="1F2937"/>
                </a:solidFill>
                <a:latin typeface="Calibri"/>
              </a:rPr>
              <a:t>High debt × interest rate </a:t>
            </a:r>
            <a:r>
              <a:rPr sz="1300" b="0">
                <a:solidFill>
                  <a:srgbClr val="1F2937"/>
                </a:solidFill>
                <a:latin typeface="Calibri"/>
              </a:rPr>
              <a:t>(red, right) raises risk; low values lower it.</a:t>
            </a:r>
          </a:p>
          <a:p>
            <a:pPr marL="201168" indent="-182880">
              <a:spcAft>
                <a:spcPts val="800"/>
              </a:spcAft>
              <a:buFont typeface="Arial"/>
              <a:buChar char="•"/>
            </a:pPr>
            <a:r>
              <a:rPr sz="1300" b="1">
                <a:solidFill>
                  <a:srgbClr val="1F2937"/>
                </a:solidFill>
                <a:latin typeface="Calibri"/>
              </a:rPr>
              <a:t>1–2 credit cards </a:t>
            </a:r>
            <a:r>
              <a:rPr sz="1300" b="0">
                <a:solidFill>
                  <a:srgbClr val="1F2937"/>
                </a:solidFill>
                <a:latin typeface="Calibri"/>
              </a:rPr>
              <a:t>(blue dots far left) push risk down strongly — about −2 log-odds: a watch item.</a:t>
            </a:r>
          </a:p>
          <a:p>
            <a:pPr marL="201168" indent="-182880">
              <a:spcAft>
                <a:spcPts val="800"/>
              </a:spcAft>
              <a:buFont typeface="Arial"/>
              <a:buChar char="•"/>
            </a:pPr>
            <a:r>
              <a:rPr sz="1300" b="1">
                <a:solidFill>
                  <a:srgbClr val="1F2937"/>
                </a:solidFill>
                <a:latin typeface="Calibri"/>
              </a:rPr>
              <a:t>6 direction flips vs simple EDA </a:t>
            </a:r>
            <a:r>
              <a:rPr sz="1300" b="0">
                <a:solidFill>
                  <a:srgbClr val="1F2937"/>
                </a:solidFill>
                <a:latin typeface="Calibri"/>
              </a:rPr>
              <a:t>(e.g. Monthly_Balance) are conditional effects: the model sees each feature together with income and debt.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Shape of the effects: thresholds, not straight lines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27</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17</a:t>
            </a:r>
          </a:p>
        </p:txBody>
      </p:sp>
      <p:pic>
        <p:nvPicPr>
          <p:cNvPr id="6" name="27_4_shap_dependence_A.png" descr="27_4_shap_dependence_A.png"/>
          <p:cNvPicPr>
            <a:picLocks noChangeAspect="1"/>
          </p:cNvPicPr>
          <p:nvPr/>
        </p:nvPicPr>
        <p:blipFill>
          <a:blip r:embed="rId2"/>
          <a:stretch>
            <a:fillRect/>
          </a:stretch>
        </p:blipFill>
        <p:spPr>
          <a:xfrm>
            <a:off x="457200" y="1356498"/>
            <a:ext cx="11247120" cy="2773402"/>
          </a:xfrm>
          <a:prstGeom prst="rect">
            <a:avLst/>
          </a:prstGeom>
        </p:spPr>
      </p:pic>
      <p:sp>
        <p:nvSpPr>
          <p:cNvPr id="7" name="TextBox 6"/>
          <p:cNvSpPr txBox="1"/>
          <p:nvPr/>
        </p:nvSpPr>
        <p:spPr>
          <a:xfrm>
            <a:off x="548640" y="4434840"/>
            <a:ext cx="11064240" cy="182880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Sharp steps: </a:t>
            </a:r>
            <a:r>
              <a:rPr sz="1400" b="0">
                <a:solidFill>
                  <a:srgbClr val="1F2937"/>
                </a:solidFill>
                <a:latin typeface="Calibri"/>
              </a:rPr>
              <a:t>e.g. debt × interest rate below ≈ 25,000 lowers risk, above it raises risk; debt ÷ credit-history months jumps at ≈ 8.</a:t>
            </a:r>
          </a:p>
          <a:p>
            <a:pPr marL="201168" indent="-182880">
              <a:spcAft>
                <a:spcPts val="800"/>
              </a:spcAft>
              <a:buFont typeface="Arial"/>
              <a:buChar char="•"/>
            </a:pPr>
            <a:r>
              <a:rPr sz="1400" b="1">
                <a:solidFill>
                  <a:srgbClr val="1F2937"/>
                </a:solidFill>
                <a:latin typeface="Calibri"/>
              </a:rPr>
              <a:t>Why trees win: </a:t>
            </a:r>
            <a:r>
              <a:rPr sz="1400" b="0">
                <a:solidFill>
                  <a:srgbClr val="1F2937"/>
                </a:solidFill>
                <a:latin typeface="Calibri"/>
              </a:rPr>
              <a:t>step-shaped effects are captured exactly by tree splits but not by one linear coefficient — the ~0.06 PR-AUC gap over logistic regression.</a:t>
            </a:r>
          </a:p>
          <a:p>
            <a:pPr marL="201168" indent="-182880">
              <a:spcAft>
                <a:spcPts val="800"/>
              </a:spcAft>
              <a:buFont typeface="Arial"/>
              <a:buChar char="•"/>
            </a:pPr>
            <a:r>
              <a:rPr sz="1400" b="1">
                <a:solidFill>
                  <a:srgbClr val="1F2937"/>
                </a:solidFill>
                <a:latin typeface="Calibri"/>
              </a:rPr>
              <a:t>Data note: </a:t>
            </a:r>
            <a:r>
              <a:rPr sz="1400" b="0">
                <a:solidFill>
                  <a:srgbClr val="1F2937"/>
                </a:solidFill>
                <a:latin typeface="Calibri"/>
              </a:rPr>
              <a:t>such clean thresholds suggest the dataset was generated with rules.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Explaining single decisions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27</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18</a:t>
            </a:r>
          </a:p>
        </p:txBody>
      </p:sp>
      <p:pic>
        <p:nvPicPr>
          <p:cNvPr id="6" name="27_5_single_loan_explanations_A.png" descr="27_5_single_loan_explanations_A.png"/>
          <p:cNvPicPr>
            <a:picLocks noChangeAspect="1"/>
          </p:cNvPicPr>
          <p:nvPr/>
        </p:nvPicPr>
        <p:blipFill>
          <a:blip r:embed="rId2"/>
          <a:stretch>
            <a:fillRect/>
          </a:stretch>
        </p:blipFill>
        <p:spPr>
          <a:xfrm>
            <a:off x="457200" y="1390734"/>
            <a:ext cx="11247120" cy="3070691"/>
          </a:xfrm>
          <a:prstGeom prst="rect">
            <a:avLst/>
          </a:prstGeom>
        </p:spPr>
      </p:pic>
      <p:sp>
        <p:nvSpPr>
          <p:cNvPr id="7" name="TextBox 6"/>
          <p:cNvSpPr txBox="1"/>
          <p:nvPr/>
        </p:nvSpPr>
        <p:spPr>
          <a:xfrm>
            <a:off x="548640" y="4800600"/>
            <a:ext cx="11064240" cy="146304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Every score can be explained: </a:t>
            </a:r>
            <a:r>
              <a:rPr sz="1400" b="0">
                <a:solidFill>
                  <a:srgbClr val="1F2937"/>
                </a:solidFill>
                <a:latin typeface="Calibri"/>
              </a:rPr>
              <a:t>starting from the average risk (0.29), each bar shows how one feature moved this loan's score up (red) or down (blue).</a:t>
            </a:r>
          </a:p>
          <a:p>
            <a:pPr marL="201168" indent="-182880">
              <a:spcAft>
                <a:spcPts val="800"/>
              </a:spcAft>
              <a:buFont typeface="Arial"/>
              <a:buChar char="•"/>
            </a:pPr>
            <a:r>
              <a:rPr sz="1400" b="1">
                <a:solidFill>
                  <a:srgbClr val="1F2937"/>
                </a:solidFill>
                <a:latin typeface="Calibri"/>
              </a:rPr>
              <a:t>Use: </a:t>
            </a:r>
            <a:r>
              <a:rPr sz="1400" b="0">
                <a:solidFill>
                  <a:srgbClr val="1F2937"/>
                </a:solidFill>
                <a:latin typeface="Calibri"/>
              </a:rPr>
              <a:t>reason codes for credit officers and customers; the same computation runs at inference.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Feature reduction with the one-standard-error rule</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28</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19</a:t>
            </a:r>
          </a:p>
        </p:txBody>
      </p:sp>
      <p:pic>
        <p:nvPicPr>
          <p:cNvPr id="6" name="28_1_reduction_curve.png" descr="28_1_reduction_curve.png"/>
          <p:cNvPicPr>
            <a:picLocks noChangeAspect="1"/>
          </p:cNvPicPr>
          <p:nvPr/>
        </p:nvPicPr>
        <p:blipFill>
          <a:blip r:embed="rId2"/>
          <a:stretch>
            <a:fillRect/>
          </a:stretch>
        </p:blipFill>
        <p:spPr>
          <a:xfrm>
            <a:off x="457200" y="1347805"/>
            <a:ext cx="7680960" cy="2516469"/>
          </a:xfrm>
          <a:prstGeom prst="rect">
            <a:avLst/>
          </a:prstGeom>
        </p:spPr>
      </p:pic>
      <p:graphicFrame>
        <p:nvGraphicFramePr>
          <p:cNvPr id="7" name="Table"/>
          <p:cNvGraphicFramePr>
            <a:graphicFrameLocks noGrp="1"/>
          </p:cNvGraphicFramePr>
          <p:nvPr/>
        </p:nvGraphicFramePr>
        <p:xfrm>
          <a:off x="8321040" y="1325880"/>
          <a:ext cx="3337560" cy="1920240"/>
        </p:xfrm>
        <a:graphic>
          <a:graphicData uri="http://schemas.openxmlformats.org/drawingml/2006/table">
            <a:tbl>
              <a:tblPr firstRow="0" bandRow="0">
                <a:tableStyleId>{5940675A-B579-460E-94D1-54222C63F5DA}</a:tableStyleId>
              </a:tblPr>
              <a:tblGrid>
                <a:gridCol w="1143000"/>
                <a:gridCol w="1097280"/>
                <a:gridCol w="1097280"/>
              </a:tblGrid>
              <a:tr h="384048">
                <a:tc>
                  <a:txBody>
                    <a:bodyPr wrap="square"/>
                    <a:lstStyle/>
                    <a:p>
                      <a:r>
                        <a:rPr sz="1100" b="1">
                          <a:solidFill>
                            <a:srgbClr val="FFFFFF"/>
                          </a:solidFill>
                          <a:latin typeface="Calibri"/>
                        </a:rPr>
                        <a:t/>
                      </a:r>
                    </a:p>
                  </a:txBody>
                  <a:tcPr marL="73152" marR="73152" marT="27432" marB="27432" anchor="ctr">
                    <a:solidFill>
                      <a:srgbClr val="14213D"/>
                    </a:solidFill>
                  </a:tcPr>
                </a:tc>
                <a:tc>
                  <a:txBody>
                    <a:bodyPr wrap="square"/>
                    <a:lstStyle/>
                    <a:p>
                      <a:r>
                        <a:rPr sz="1100" b="1">
                          <a:solidFill>
                            <a:srgbClr val="FFFFFF"/>
                          </a:solidFill>
                          <a:latin typeface="Calibri"/>
                        </a:rPr>
                        <a:t>Model A</a:t>
                      </a:r>
                    </a:p>
                  </a:txBody>
                  <a:tcPr marL="73152" marR="73152" marT="27432" marB="27432" anchor="ctr">
                    <a:solidFill>
                      <a:srgbClr val="14213D"/>
                    </a:solidFill>
                  </a:tcPr>
                </a:tc>
                <a:tc>
                  <a:txBody>
                    <a:bodyPr wrap="square"/>
                    <a:lstStyle/>
                    <a:p>
                      <a:r>
                        <a:rPr sz="1100" b="1">
                          <a:solidFill>
                            <a:srgbClr val="FFFFFF"/>
                          </a:solidFill>
                          <a:latin typeface="Calibri"/>
                        </a:rPr>
                        <a:t>Model B</a:t>
                      </a:r>
                    </a:p>
                  </a:txBody>
                  <a:tcPr marL="73152" marR="73152" marT="27432" marB="27432" anchor="ctr">
                    <a:solidFill>
                      <a:srgbClr val="14213D"/>
                    </a:solidFill>
                  </a:tcPr>
                </a:tc>
              </a:tr>
              <a:tr h="384048">
                <a:tc>
                  <a:txBody>
                    <a:bodyPr wrap="square"/>
                    <a:lstStyle/>
                    <a:p>
                      <a:r>
                        <a:rPr sz="1100" b="1">
                          <a:solidFill>
                            <a:srgbClr val="1F2937"/>
                          </a:solidFill>
                          <a:latin typeface="Calibri"/>
                        </a:rPr>
                        <a:t>Best set (CV)</a:t>
                      </a:r>
                    </a:p>
                  </a:txBody>
                  <a:tcPr marL="73152" marR="73152" marT="27432" marB="27432" anchor="ctr">
                    <a:solidFill>
                      <a:srgbClr val="FFFFFF"/>
                    </a:solidFill>
                  </a:tcPr>
                </a:tc>
                <a:tc>
                  <a:txBody>
                    <a:bodyPr wrap="square"/>
                    <a:lstStyle/>
                    <a:p>
                      <a:r>
                        <a:rPr sz="1100" b="0">
                          <a:solidFill>
                            <a:srgbClr val="1F2937"/>
                          </a:solidFill>
                          <a:latin typeface="Calibri"/>
                        </a:rPr>
                        <a:t>top30 0.640</a:t>
                      </a:r>
                    </a:p>
                  </a:txBody>
                  <a:tcPr marL="73152" marR="73152" marT="27432" marB="27432" anchor="ctr">
                    <a:solidFill>
                      <a:srgbClr val="FFFFFF"/>
                    </a:solidFill>
                  </a:tcPr>
                </a:tc>
                <a:tc>
                  <a:txBody>
                    <a:bodyPr wrap="square"/>
                    <a:lstStyle/>
                    <a:p>
                      <a:r>
                        <a:rPr sz="1100" b="0">
                          <a:solidFill>
                            <a:srgbClr val="1F2937"/>
                          </a:solidFill>
                          <a:latin typeface="Calibri"/>
                        </a:rPr>
                        <a:t>top66 0.668</a:t>
                      </a:r>
                    </a:p>
                  </a:txBody>
                  <a:tcPr marL="73152" marR="73152" marT="27432" marB="27432" anchor="ctr">
                    <a:solidFill>
                      <a:srgbClr val="FFFFFF"/>
                    </a:solidFill>
                  </a:tcPr>
                </a:tc>
              </a:tr>
              <a:tr h="384048">
                <a:tc>
                  <a:txBody>
                    <a:bodyPr wrap="square"/>
                    <a:lstStyle/>
                    <a:p>
                      <a:r>
                        <a:rPr sz="1100" b="1">
                          <a:solidFill>
                            <a:srgbClr val="1F2937"/>
                          </a:solidFill>
                          <a:latin typeface="Calibri"/>
                        </a:rPr>
                        <a:t>1-SE bar</a:t>
                      </a:r>
                    </a:p>
                  </a:txBody>
                  <a:tcPr marL="73152" marR="73152" marT="27432" marB="27432" anchor="ctr">
                    <a:solidFill>
                      <a:srgbClr val="F6F8FB"/>
                    </a:solidFill>
                  </a:tcPr>
                </a:tc>
                <a:tc>
                  <a:txBody>
                    <a:bodyPr wrap="square"/>
                    <a:lstStyle/>
                    <a:p>
                      <a:r>
                        <a:rPr sz="1100" b="0">
                          <a:solidFill>
                            <a:srgbClr val="1F2937"/>
                          </a:solidFill>
                          <a:latin typeface="Calibri"/>
                        </a:rPr>
                        <a:t>0.631</a:t>
                      </a:r>
                    </a:p>
                  </a:txBody>
                  <a:tcPr marL="73152" marR="73152" marT="27432" marB="27432" anchor="ctr">
                    <a:solidFill>
                      <a:srgbClr val="F6F8FB"/>
                    </a:solidFill>
                  </a:tcPr>
                </a:tc>
                <a:tc>
                  <a:txBody>
                    <a:bodyPr wrap="square"/>
                    <a:lstStyle/>
                    <a:p>
                      <a:r>
                        <a:rPr sz="1100" b="0">
                          <a:solidFill>
                            <a:srgbClr val="1F2937"/>
                          </a:solidFill>
                          <a:latin typeface="Calibri"/>
                        </a:rPr>
                        <a:t>0.657</a:t>
                      </a:r>
                    </a:p>
                  </a:txBody>
                  <a:tcPr marL="73152" marR="73152" marT="27432" marB="27432" anchor="ctr">
                    <a:solidFill>
                      <a:srgbClr val="F6F8FB"/>
                    </a:solidFill>
                  </a:tcPr>
                </a:tc>
              </a:tr>
              <a:tr h="384048">
                <a:tc>
                  <a:txBody>
                    <a:bodyPr wrap="square"/>
                    <a:lstStyle/>
                    <a:p>
                      <a:r>
                        <a:rPr sz="1100" b="1">
                          <a:solidFill>
                            <a:srgbClr val="1F2937"/>
                          </a:solidFill>
                          <a:latin typeface="Calibri"/>
                        </a:rPr>
                        <a:t>Rule picks</a:t>
                      </a:r>
                    </a:p>
                  </a:txBody>
                  <a:tcPr marL="73152" marR="73152" marT="27432" marB="27432" anchor="ctr">
                    <a:solidFill>
                      <a:srgbClr val="FFFFFF"/>
                    </a:solidFill>
                  </a:tcPr>
                </a:tc>
                <a:tc>
                  <a:txBody>
                    <a:bodyPr wrap="square"/>
                    <a:lstStyle/>
                    <a:p>
                      <a:r>
                        <a:rPr sz="1100" b="0">
                          <a:solidFill>
                            <a:srgbClr val="1F2937"/>
                          </a:solidFill>
                          <a:latin typeface="Calibri"/>
                        </a:rPr>
                        <a:t>top25</a:t>
                      </a:r>
                    </a:p>
                  </a:txBody>
                  <a:tcPr marL="73152" marR="73152" marT="27432" marB="27432" anchor="ctr">
                    <a:solidFill>
                      <a:srgbClr val="FFFFFF"/>
                    </a:solidFill>
                  </a:tcPr>
                </a:tc>
                <a:tc>
                  <a:txBody>
                    <a:bodyPr wrap="square"/>
                    <a:lstStyle/>
                    <a:p>
                      <a:r>
                        <a:rPr sz="1100" b="0">
                          <a:solidFill>
                            <a:srgbClr val="1F2937"/>
                          </a:solidFill>
                          <a:latin typeface="Calibri"/>
                        </a:rPr>
                        <a:t>top25</a:t>
                      </a:r>
                    </a:p>
                  </a:txBody>
                  <a:tcPr marL="73152" marR="73152" marT="27432" marB="27432" anchor="ctr">
                    <a:solidFill>
                      <a:srgbClr val="FFFFFF"/>
                    </a:solidFill>
                  </a:tcPr>
                </a:tc>
              </a:tr>
              <a:tr h="384048">
                <a:tc>
                  <a:txBody>
                    <a:bodyPr wrap="square"/>
                    <a:lstStyle/>
                    <a:p>
                      <a:r>
                        <a:rPr sz="1100" b="1">
                          <a:solidFill>
                            <a:srgbClr val="1F2937"/>
                          </a:solidFill>
                          <a:latin typeface="Calibri"/>
                        </a:rPr>
                        <a:t>Final</a:t>
                      </a:r>
                    </a:p>
                  </a:txBody>
                  <a:tcPr marL="73152" marR="73152" marT="27432" marB="27432" anchor="ctr">
                    <a:solidFill>
                      <a:srgbClr val="F6F8FB"/>
                    </a:solidFill>
                  </a:tcPr>
                </a:tc>
                <a:tc>
                  <a:txBody>
                    <a:bodyPr wrap="square"/>
                    <a:lstStyle/>
                    <a:p>
                      <a:r>
                        <a:rPr sz="1100" b="0">
                          <a:solidFill>
                            <a:srgbClr val="1F2937"/>
                          </a:solidFill>
                          <a:latin typeface="Calibri"/>
                        </a:rPr>
                        <a:t>top30 (user)</a:t>
                      </a:r>
                    </a:p>
                  </a:txBody>
                  <a:tcPr marL="73152" marR="73152" marT="27432" marB="27432" anchor="ctr">
                    <a:solidFill>
                      <a:srgbClr val="F6F8FB"/>
                    </a:solidFill>
                  </a:tcPr>
                </a:tc>
                <a:tc>
                  <a:txBody>
                    <a:bodyPr wrap="square"/>
                    <a:lstStyle/>
                    <a:p>
                      <a:r>
                        <a:rPr sz="1100" b="0">
                          <a:solidFill>
                            <a:srgbClr val="1F2937"/>
                          </a:solidFill>
                          <a:latin typeface="Calibri"/>
                        </a:rPr>
                        <a:t>top25</a:t>
                      </a:r>
                    </a:p>
                  </a:txBody>
                  <a:tcPr marL="73152" marR="73152" marT="27432" marB="27432" anchor="ctr">
                    <a:solidFill>
                      <a:srgbClr val="F6F8FB"/>
                    </a:solidFill>
                  </a:tcPr>
                </a:tc>
              </a:tr>
            </a:tbl>
          </a:graphicData>
        </a:graphic>
      </p:graphicFrame>
      <p:sp>
        <p:nvSpPr>
          <p:cNvPr id="8" name="TextBox 7"/>
          <p:cNvSpPr txBox="1"/>
          <p:nvPr/>
        </p:nvSpPr>
        <p:spPr>
          <a:xfrm>
            <a:off x="548640" y="4114800"/>
            <a:ext cx="11064240" cy="2194560"/>
          </a:xfrm>
          <a:prstGeom prst="rect">
            <a:avLst/>
          </a:prstGeom>
          <a:noFill/>
        </p:spPr>
        <p:txBody>
          <a:bodyPr wrap="square" lIns="36576" rIns="36576">
            <a:spAutoFit/>
          </a:bodyPr>
          <a:lstStyle/>
          <a:p>
            <a:pPr marL="201168" indent="-182880">
              <a:spcAft>
                <a:spcPts val="800"/>
              </a:spcAft>
              <a:buFont typeface="Arial"/>
              <a:buChar char="•"/>
            </a:pPr>
            <a:r>
              <a:rPr sz="1300" b="1">
                <a:solidFill>
                  <a:srgbClr val="1F2937"/>
                </a:solidFill>
                <a:latin typeface="Calibri"/>
              </a:rPr>
              <a:t>Rule: </a:t>
            </a:r>
            <a:r>
              <a:rPr sz="1300" b="0">
                <a:solidFill>
                  <a:srgbClr val="1F2937"/>
                </a:solidFill>
                <a:latin typeface="Calibri"/>
              </a:rPr>
              <a:t>among sets whose CV PR-AUC is within one standard error of the best, keep the one with the fewest features (Hastie, Tibshirani &amp; Friedman).</a:t>
            </a:r>
          </a:p>
          <a:p>
            <a:pPr marL="201168" indent="-182880">
              <a:spcAft>
                <a:spcPts val="800"/>
              </a:spcAft>
              <a:buFont typeface="Arial"/>
              <a:buChar char="•"/>
            </a:pPr>
            <a:r>
              <a:rPr sz="1300" b="1">
                <a:solidFill>
                  <a:srgbClr val="1F2937"/>
                </a:solidFill>
                <a:latin typeface="Calibri"/>
              </a:rPr>
              <a:t>No selection leakage: </a:t>
            </a:r>
            <a:r>
              <a:rPr sz="1300" b="0">
                <a:solidFill>
                  <a:srgbClr val="1F2937"/>
                </a:solidFill>
                <a:latin typeface="Calibri"/>
              </a:rPr>
              <a:t>within each fold, features were ranked by a model trained on that fold's training part only.</a:t>
            </a:r>
          </a:p>
          <a:p>
            <a:pPr marL="201168" indent="-182880">
              <a:spcAft>
                <a:spcPts val="800"/>
              </a:spcAft>
              <a:buFont typeface="Arial"/>
              <a:buChar char="•"/>
            </a:pPr>
            <a:r>
              <a:rPr sz="1300" b="1">
                <a:solidFill>
                  <a:srgbClr val="1F2937"/>
                </a:solidFill>
                <a:latin typeface="Calibri"/>
              </a:rPr>
              <a:t>Generated features earn their place: </a:t>
            </a:r>
            <a:r>
              <a:rPr sz="1300" b="0">
                <a:solidFill>
                  <a:srgbClr val="1F2937"/>
                </a:solidFill>
                <a:latin typeface="Calibri"/>
              </a:rPr>
              <a:t>A without OpenFE features (0.628) falls below the bar.</a:t>
            </a:r>
          </a:p>
          <a:p>
            <a:pPr marL="201168" indent="-182880">
              <a:spcAft>
                <a:spcPts val="800"/>
              </a:spcAft>
              <a:buFont typeface="Arial"/>
              <a:buChar char="•"/>
            </a:pPr>
            <a:r>
              <a:rPr sz="1300" b="1">
                <a:solidFill>
                  <a:srgbClr val="1F2937"/>
                </a:solidFill>
                <a:latin typeface="Calibri"/>
              </a:rPr>
              <a:t>Override, recorded: </a:t>
            </a:r>
            <a:r>
              <a:rPr sz="1300" b="0">
                <a:solidFill>
                  <a:srgbClr val="1F2937"/>
                </a:solidFill>
                <a:latin typeface="Calibri"/>
              </a:rPr>
              <a:t>A's rule pick (25) lost 0.026 on validation; the user chose the CV-best 30 instead. Test / OOT then confirmed it independently.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Full vs reduced feature sets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28</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20</a:t>
            </a:r>
          </a:p>
        </p:txBody>
      </p:sp>
      <p:pic>
        <p:nvPicPr>
          <p:cNvPr id="6" name="28_2_full_vs_reduced.png" descr="28_2_full_vs_reduced.png"/>
          <p:cNvPicPr>
            <a:picLocks noChangeAspect="1"/>
          </p:cNvPicPr>
          <p:nvPr/>
        </p:nvPicPr>
        <p:blipFill>
          <a:blip r:embed="rId2"/>
          <a:stretch>
            <a:fillRect/>
          </a:stretch>
        </p:blipFill>
        <p:spPr>
          <a:xfrm>
            <a:off x="457200" y="1286032"/>
            <a:ext cx="6949440" cy="3280094"/>
          </a:xfrm>
          <a:prstGeom prst="rect">
            <a:avLst/>
          </a:prstGeom>
        </p:spPr>
      </p:pic>
      <p:graphicFrame>
        <p:nvGraphicFramePr>
          <p:cNvPr id="7" name="Table"/>
          <p:cNvGraphicFramePr>
            <a:graphicFrameLocks noGrp="1"/>
          </p:cNvGraphicFramePr>
          <p:nvPr/>
        </p:nvGraphicFramePr>
        <p:xfrm>
          <a:off x="7589520" y="1325880"/>
          <a:ext cx="4069080" cy="2084832"/>
        </p:xfrm>
        <a:graphic>
          <a:graphicData uri="http://schemas.openxmlformats.org/drawingml/2006/table">
            <a:tbl>
              <a:tblPr firstRow="0" bandRow="0">
                <a:tableStyleId>{5940675A-B579-460E-94D1-54222C63F5DA}</a:tableStyleId>
              </a:tblPr>
              <a:tblGrid>
                <a:gridCol w="502920"/>
                <a:gridCol w="1051560"/>
                <a:gridCol w="594360"/>
                <a:gridCol w="548640"/>
                <a:gridCol w="457200"/>
                <a:gridCol w="457200"/>
                <a:gridCol w="457200"/>
              </a:tblGrid>
              <a:tr h="347472">
                <a:tc>
                  <a:txBody>
                    <a:bodyPr wrap="square"/>
                    <a:lstStyle/>
                    <a:p>
                      <a:r>
                        <a:rPr sz="950" b="1">
                          <a:solidFill>
                            <a:srgbClr val="FFFFFF"/>
                          </a:solidFill>
                          <a:latin typeface="Calibri"/>
                        </a:rPr>
                        <a:t>Model</a:t>
                      </a:r>
                    </a:p>
                  </a:txBody>
                  <a:tcPr marL="73152" marR="73152" marT="27432" marB="27432" anchor="ctr">
                    <a:solidFill>
                      <a:srgbClr val="14213D"/>
                    </a:solidFill>
                  </a:tcPr>
                </a:tc>
                <a:tc>
                  <a:txBody>
                    <a:bodyPr wrap="square"/>
                    <a:lstStyle/>
                    <a:p>
                      <a:r>
                        <a:rPr sz="950" b="1">
                          <a:solidFill>
                            <a:srgbClr val="FFFFFF"/>
                          </a:solidFill>
                          <a:latin typeface="Calibri"/>
                        </a:rPr>
                        <a:t>Version</a:t>
                      </a:r>
                    </a:p>
                  </a:txBody>
                  <a:tcPr marL="73152" marR="73152" marT="27432" marB="27432" anchor="ctr">
                    <a:solidFill>
                      <a:srgbClr val="14213D"/>
                    </a:solidFill>
                  </a:tcPr>
                </a:tc>
                <a:tc>
                  <a:txBody>
                    <a:bodyPr wrap="square"/>
                    <a:lstStyle/>
                    <a:p>
                      <a:r>
                        <a:rPr sz="950" b="1">
                          <a:solidFill>
                            <a:srgbClr val="FFFFFF"/>
                          </a:solidFill>
                          <a:latin typeface="Calibri"/>
                        </a:rPr>
                        <a:t>Features</a:t>
                      </a:r>
                    </a:p>
                  </a:txBody>
                  <a:tcPr marL="73152" marR="73152" marT="27432" marB="27432" anchor="ctr">
                    <a:solidFill>
                      <a:srgbClr val="14213D"/>
                    </a:solidFill>
                  </a:tcPr>
                </a:tc>
                <a:tc>
                  <a:txBody>
                    <a:bodyPr wrap="square"/>
                    <a:lstStyle/>
                    <a:p>
                      <a:r>
                        <a:rPr sz="950" b="1">
                          <a:solidFill>
                            <a:srgbClr val="FFFFFF"/>
                          </a:solidFill>
                          <a:latin typeface="Calibri"/>
                        </a:rPr>
                        <a:t>OpenFE</a:t>
                      </a:r>
                    </a:p>
                  </a:txBody>
                  <a:tcPr marL="73152" marR="73152" marT="27432" marB="27432" anchor="ctr">
                    <a:solidFill>
                      <a:srgbClr val="14213D"/>
                    </a:solidFill>
                  </a:tcPr>
                </a:tc>
                <a:tc>
                  <a:txBody>
                    <a:bodyPr wrap="square"/>
                    <a:lstStyle/>
                    <a:p>
                      <a:r>
                        <a:rPr sz="950" b="1">
                          <a:solidFill>
                            <a:srgbClr val="FFFFFF"/>
                          </a:solidFill>
                          <a:latin typeface="Calibri"/>
                        </a:rPr>
                        <a:t>Click</a:t>
                      </a:r>
                    </a:p>
                  </a:txBody>
                  <a:tcPr marL="73152" marR="73152" marT="27432" marB="27432" anchor="ctr">
                    <a:solidFill>
                      <a:srgbClr val="14213D"/>
                    </a:solidFill>
                  </a:tcPr>
                </a:tc>
                <a:tc>
                  <a:txBody>
                    <a:bodyPr wrap="square"/>
                    <a:lstStyle/>
                    <a:p>
                      <a:r>
                        <a:rPr sz="950" b="1">
                          <a:solidFill>
                            <a:srgbClr val="FFFFFF"/>
                          </a:solidFill>
                          <a:latin typeface="Calibri"/>
                        </a:rPr>
                        <a:t>CV</a:t>
                      </a:r>
                    </a:p>
                  </a:txBody>
                  <a:tcPr marL="73152" marR="73152" marT="27432" marB="27432" anchor="ctr">
                    <a:solidFill>
                      <a:srgbClr val="14213D"/>
                    </a:solidFill>
                  </a:tcPr>
                </a:tc>
                <a:tc>
                  <a:txBody>
                    <a:bodyPr wrap="square"/>
                    <a:lstStyle/>
                    <a:p>
                      <a:r>
                        <a:rPr sz="950" b="1">
                          <a:solidFill>
                            <a:srgbClr val="FFFFFF"/>
                          </a:solidFill>
                          <a:latin typeface="Calibri"/>
                        </a:rPr>
                        <a:t>Val</a:t>
                      </a:r>
                    </a:p>
                  </a:txBody>
                  <a:tcPr marL="73152" marR="73152" marT="27432" marB="27432" anchor="ctr">
                    <a:solidFill>
                      <a:srgbClr val="14213D"/>
                    </a:solidFill>
                  </a:tcPr>
                </a:tc>
              </a:tr>
              <a:tr h="347472">
                <a:tc>
                  <a:txBody>
                    <a:bodyPr wrap="square"/>
                    <a:lstStyle/>
                    <a:p>
                      <a:r>
                        <a:rPr sz="950" b="0">
                          <a:solidFill>
                            <a:srgbClr val="1F2937"/>
                          </a:solidFill>
                          <a:latin typeface="Calibri"/>
                        </a:rPr>
                        <a:t>A</a:t>
                      </a:r>
                    </a:p>
                  </a:txBody>
                  <a:tcPr marL="73152" marR="73152" marT="27432" marB="27432" anchor="ctr">
                    <a:solidFill>
                      <a:srgbClr val="FFFFFF"/>
                    </a:solidFill>
                  </a:tcPr>
                </a:tc>
                <a:tc>
                  <a:txBody>
                    <a:bodyPr wrap="square"/>
                    <a:lstStyle/>
                    <a:p>
                      <a:r>
                        <a:rPr sz="950" b="0">
                          <a:solidFill>
                            <a:srgbClr val="1F2937"/>
                          </a:solidFill>
                          <a:latin typeface="Calibri"/>
                        </a:rPr>
                        <a:t>full</a:t>
                      </a:r>
                    </a:p>
                  </a:txBody>
                  <a:tcPr marL="73152" marR="73152" marT="27432" marB="27432" anchor="ctr">
                    <a:solidFill>
                      <a:srgbClr val="FFFFFF"/>
                    </a:solidFill>
                  </a:tcPr>
                </a:tc>
                <a:tc>
                  <a:txBody>
                    <a:bodyPr wrap="square"/>
                    <a:lstStyle/>
                    <a:p>
                      <a:r>
                        <a:rPr sz="950" b="0">
                          <a:solidFill>
                            <a:srgbClr val="1F2937"/>
                          </a:solidFill>
                          <a:latin typeface="Calibri"/>
                        </a:rPr>
                        <a:t>66</a:t>
                      </a:r>
                    </a:p>
                  </a:txBody>
                  <a:tcPr marL="73152" marR="73152" marT="27432" marB="27432" anchor="ctr">
                    <a:solidFill>
                      <a:srgbClr val="FFFFFF"/>
                    </a:solidFill>
                  </a:tcPr>
                </a:tc>
                <a:tc>
                  <a:txBody>
                    <a:bodyPr wrap="square"/>
                    <a:lstStyle/>
                    <a:p>
                      <a:r>
                        <a:rPr sz="950" b="0">
                          <a:solidFill>
                            <a:srgbClr val="1F2937"/>
                          </a:solidFill>
                          <a:latin typeface="Calibri"/>
                        </a:rPr>
                        <a:t>20</a:t>
                      </a:r>
                    </a:p>
                  </a:txBody>
                  <a:tcPr marL="73152" marR="73152" marT="27432" marB="27432" anchor="ctr">
                    <a:solidFill>
                      <a:srgbClr val="FFFFFF"/>
                    </a:solidFill>
                  </a:tcPr>
                </a:tc>
                <a:tc>
                  <a:txBody>
                    <a:bodyPr wrap="square"/>
                    <a:lstStyle/>
                    <a:p>
                      <a:r>
                        <a:rPr sz="950" b="0">
                          <a:solidFill>
                            <a:srgbClr val="1F2937"/>
                          </a:solidFill>
                          <a:latin typeface="Calibri"/>
                        </a:rPr>
                        <a:t>0</a:t>
                      </a:r>
                    </a:p>
                  </a:txBody>
                  <a:tcPr marL="73152" marR="73152" marT="27432" marB="27432" anchor="ctr">
                    <a:solidFill>
                      <a:srgbClr val="FFFFFF"/>
                    </a:solidFill>
                  </a:tcPr>
                </a:tc>
                <a:tc>
                  <a:txBody>
                    <a:bodyPr wrap="square"/>
                    <a:lstStyle/>
                    <a:p>
                      <a:r>
                        <a:rPr sz="950" b="0">
                          <a:solidFill>
                            <a:srgbClr val="1F2937"/>
                          </a:solidFill>
                          <a:latin typeface="Calibri"/>
                        </a:rPr>
                        <a:t>0.633</a:t>
                      </a:r>
                    </a:p>
                  </a:txBody>
                  <a:tcPr marL="73152" marR="73152" marT="27432" marB="27432" anchor="ctr">
                    <a:solidFill>
                      <a:srgbClr val="FFFFFF"/>
                    </a:solidFill>
                  </a:tcPr>
                </a:tc>
                <a:tc>
                  <a:txBody>
                    <a:bodyPr wrap="square"/>
                    <a:lstStyle/>
                    <a:p>
                      <a:r>
                        <a:rPr sz="950" b="0">
                          <a:solidFill>
                            <a:srgbClr val="1F2937"/>
                          </a:solidFill>
                          <a:latin typeface="Calibri"/>
                        </a:rPr>
                        <a:t>0.616</a:t>
                      </a:r>
                    </a:p>
                  </a:txBody>
                  <a:tcPr marL="73152" marR="73152" marT="27432" marB="27432" anchor="ctr">
                    <a:solidFill>
                      <a:srgbClr val="FFFFFF"/>
                    </a:solidFill>
                  </a:tcPr>
                </a:tc>
              </a:tr>
              <a:tr h="347472">
                <a:tc>
                  <a:txBody>
                    <a:bodyPr wrap="square"/>
                    <a:lstStyle/>
                    <a:p>
                      <a:r>
                        <a:rPr sz="950" b="0">
                          <a:solidFill>
                            <a:srgbClr val="1F2937"/>
                          </a:solidFill>
                          <a:latin typeface="Calibri"/>
                        </a:rPr>
                        <a:t>A</a:t>
                      </a:r>
                    </a:p>
                  </a:txBody>
                  <a:tcPr marL="73152" marR="73152" marT="27432" marB="27432" anchor="ctr">
                    <a:solidFill>
                      <a:srgbClr val="F6F8FB"/>
                    </a:solidFill>
                  </a:tcPr>
                </a:tc>
                <a:tc>
                  <a:txBody>
                    <a:bodyPr wrap="square"/>
                    <a:lstStyle/>
                    <a:p>
                      <a:r>
                        <a:rPr sz="950" b="0">
                          <a:solidFill>
                            <a:srgbClr val="1F2937"/>
                          </a:solidFill>
                          <a:latin typeface="Calibri"/>
                        </a:rPr>
                        <a:t>1-SE rule</a:t>
                      </a:r>
                    </a:p>
                  </a:txBody>
                  <a:tcPr marL="73152" marR="73152" marT="27432" marB="27432" anchor="ctr">
                    <a:solidFill>
                      <a:srgbClr val="F6F8FB"/>
                    </a:solidFill>
                  </a:tcPr>
                </a:tc>
                <a:tc>
                  <a:txBody>
                    <a:bodyPr wrap="square"/>
                    <a:lstStyle/>
                    <a:p>
                      <a:r>
                        <a:rPr sz="950" b="0">
                          <a:solidFill>
                            <a:srgbClr val="1F2937"/>
                          </a:solidFill>
                          <a:latin typeface="Calibri"/>
                        </a:rPr>
                        <a:t>25</a:t>
                      </a:r>
                    </a:p>
                  </a:txBody>
                  <a:tcPr marL="73152" marR="73152" marT="27432" marB="27432" anchor="ctr">
                    <a:solidFill>
                      <a:srgbClr val="F6F8FB"/>
                    </a:solidFill>
                  </a:tcPr>
                </a:tc>
                <a:tc>
                  <a:txBody>
                    <a:bodyPr wrap="square"/>
                    <a:lstStyle/>
                    <a:p>
                      <a:r>
                        <a:rPr sz="950" b="0">
                          <a:solidFill>
                            <a:srgbClr val="1F2937"/>
                          </a:solidFill>
                          <a:latin typeface="Calibri"/>
                        </a:rPr>
                        <a:t>16</a:t>
                      </a:r>
                    </a:p>
                  </a:txBody>
                  <a:tcPr marL="73152" marR="73152" marT="27432" marB="27432" anchor="ctr">
                    <a:solidFill>
                      <a:srgbClr val="F6F8FB"/>
                    </a:solidFill>
                  </a:tcPr>
                </a:tc>
                <a:tc>
                  <a:txBody>
                    <a:bodyPr wrap="square"/>
                    <a:lstStyle/>
                    <a:p>
                      <a:r>
                        <a:rPr sz="950" b="0">
                          <a:solidFill>
                            <a:srgbClr val="1F2937"/>
                          </a:solidFill>
                          <a:latin typeface="Calibri"/>
                        </a:rPr>
                        <a:t>0</a:t>
                      </a:r>
                    </a:p>
                  </a:txBody>
                  <a:tcPr marL="73152" marR="73152" marT="27432" marB="27432" anchor="ctr">
                    <a:solidFill>
                      <a:srgbClr val="F6F8FB"/>
                    </a:solidFill>
                  </a:tcPr>
                </a:tc>
                <a:tc>
                  <a:txBody>
                    <a:bodyPr wrap="square"/>
                    <a:lstStyle/>
                    <a:p>
                      <a:r>
                        <a:rPr sz="950" b="0">
                          <a:solidFill>
                            <a:srgbClr val="1F2937"/>
                          </a:solidFill>
                          <a:latin typeface="Calibri"/>
                        </a:rPr>
                        <a:t>0.633</a:t>
                      </a:r>
                    </a:p>
                  </a:txBody>
                  <a:tcPr marL="73152" marR="73152" marT="27432" marB="27432" anchor="ctr">
                    <a:solidFill>
                      <a:srgbClr val="F6F8FB"/>
                    </a:solidFill>
                  </a:tcPr>
                </a:tc>
                <a:tc>
                  <a:txBody>
                    <a:bodyPr wrap="square"/>
                    <a:lstStyle/>
                    <a:p>
                      <a:r>
                        <a:rPr sz="950" b="0">
                          <a:solidFill>
                            <a:srgbClr val="1F2937"/>
                          </a:solidFill>
                          <a:latin typeface="Calibri"/>
                        </a:rPr>
                        <a:t>0.590</a:t>
                      </a:r>
                    </a:p>
                  </a:txBody>
                  <a:tcPr marL="73152" marR="73152" marT="27432" marB="27432" anchor="ctr">
                    <a:solidFill>
                      <a:srgbClr val="F6F8FB"/>
                    </a:solidFill>
                  </a:tcPr>
                </a:tc>
              </a:tr>
              <a:tr h="347472">
                <a:tc>
                  <a:txBody>
                    <a:bodyPr wrap="square"/>
                    <a:lstStyle/>
                    <a:p>
                      <a:r>
                        <a:rPr sz="950" b="0">
                          <a:solidFill>
                            <a:srgbClr val="1F2937"/>
                          </a:solidFill>
                          <a:latin typeface="Calibri"/>
                        </a:rPr>
                        <a:t>A</a:t>
                      </a:r>
                    </a:p>
                  </a:txBody>
                  <a:tcPr marL="73152" marR="73152" marT="27432" marB="27432" anchor="ctr">
                    <a:solidFill>
                      <a:srgbClr val="FFFFFF"/>
                    </a:solidFill>
                  </a:tcPr>
                </a:tc>
                <a:tc>
                  <a:txBody>
                    <a:bodyPr wrap="square"/>
                    <a:lstStyle/>
                    <a:p>
                      <a:r>
                        <a:rPr sz="950" b="0">
                          <a:solidFill>
                            <a:srgbClr val="1F2937"/>
                          </a:solidFill>
                          <a:latin typeface="Calibri"/>
                        </a:rPr>
                        <a:t>final (user)</a:t>
                      </a:r>
                    </a:p>
                  </a:txBody>
                  <a:tcPr marL="73152" marR="73152" marT="27432" marB="27432" anchor="ctr">
                    <a:solidFill>
                      <a:srgbClr val="FFFFFF"/>
                    </a:solidFill>
                  </a:tcPr>
                </a:tc>
                <a:tc>
                  <a:txBody>
                    <a:bodyPr wrap="square"/>
                    <a:lstStyle/>
                    <a:p>
                      <a:r>
                        <a:rPr sz="950" b="0">
                          <a:solidFill>
                            <a:srgbClr val="1F2937"/>
                          </a:solidFill>
                          <a:latin typeface="Calibri"/>
                        </a:rPr>
                        <a:t>30</a:t>
                      </a:r>
                    </a:p>
                  </a:txBody>
                  <a:tcPr marL="73152" marR="73152" marT="27432" marB="27432" anchor="ctr">
                    <a:solidFill>
                      <a:srgbClr val="FFFFFF"/>
                    </a:solidFill>
                  </a:tcPr>
                </a:tc>
                <a:tc>
                  <a:txBody>
                    <a:bodyPr wrap="square"/>
                    <a:lstStyle/>
                    <a:p>
                      <a:r>
                        <a:rPr sz="950" b="0">
                          <a:solidFill>
                            <a:srgbClr val="1F2937"/>
                          </a:solidFill>
                          <a:latin typeface="Calibri"/>
                        </a:rPr>
                        <a:t>18</a:t>
                      </a:r>
                    </a:p>
                  </a:txBody>
                  <a:tcPr marL="73152" marR="73152" marT="27432" marB="27432" anchor="ctr">
                    <a:solidFill>
                      <a:srgbClr val="FFFFFF"/>
                    </a:solidFill>
                  </a:tcPr>
                </a:tc>
                <a:tc>
                  <a:txBody>
                    <a:bodyPr wrap="square"/>
                    <a:lstStyle/>
                    <a:p>
                      <a:r>
                        <a:rPr sz="950" b="0">
                          <a:solidFill>
                            <a:srgbClr val="1F2937"/>
                          </a:solidFill>
                          <a:latin typeface="Calibri"/>
                        </a:rPr>
                        <a:t>0</a:t>
                      </a:r>
                    </a:p>
                  </a:txBody>
                  <a:tcPr marL="73152" marR="73152" marT="27432" marB="27432" anchor="ctr">
                    <a:solidFill>
                      <a:srgbClr val="FFFFFF"/>
                    </a:solidFill>
                  </a:tcPr>
                </a:tc>
                <a:tc>
                  <a:txBody>
                    <a:bodyPr wrap="square"/>
                    <a:lstStyle/>
                    <a:p>
                      <a:r>
                        <a:rPr sz="950" b="0">
                          <a:solidFill>
                            <a:srgbClr val="1F2937"/>
                          </a:solidFill>
                          <a:latin typeface="Calibri"/>
                        </a:rPr>
                        <a:t>0.640</a:t>
                      </a:r>
                    </a:p>
                  </a:txBody>
                  <a:tcPr marL="73152" marR="73152" marT="27432" marB="27432" anchor="ctr">
                    <a:solidFill>
                      <a:srgbClr val="FFFFFF"/>
                    </a:solidFill>
                  </a:tcPr>
                </a:tc>
                <a:tc>
                  <a:txBody>
                    <a:bodyPr wrap="square"/>
                    <a:lstStyle/>
                    <a:p>
                      <a:r>
                        <a:rPr sz="950" b="0">
                          <a:solidFill>
                            <a:srgbClr val="1F2937"/>
                          </a:solidFill>
                          <a:latin typeface="Calibri"/>
                        </a:rPr>
                        <a:t>0.601</a:t>
                      </a:r>
                    </a:p>
                  </a:txBody>
                  <a:tcPr marL="73152" marR="73152" marT="27432" marB="27432" anchor="ctr">
                    <a:solidFill>
                      <a:srgbClr val="FFFFFF"/>
                    </a:solidFill>
                  </a:tcPr>
                </a:tc>
              </a:tr>
              <a:tr h="347472">
                <a:tc>
                  <a:txBody>
                    <a:bodyPr wrap="square"/>
                    <a:lstStyle/>
                    <a:p>
                      <a:r>
                        <a:rPr sz="950" b="0">
                          <a:solidFill>
                            <a:srgbClr val="1F2937"/>
                          </a:solidFill>
                          <a:latin typeface="Calibri"/>
                        </a:rPr>
                        <a:t>B</a:t>
                      </a:r>
                    </a:p>
                  </a:txBody>
                  <a:tcPr marL="73152" marR="73152" marT="27432" marB="27432" anchor="ctr">
                    <a:solidFill>
                      <a:srgbClr val="F6F8FB"/>
                    </a:solidFill>
                  </a:tcPr>
                </a:tc>
                <a:tc>
                  <a:txBody>
                    <a:bodyPr wrap="square"/>
                    <a:lstStyle/>
                    <a:p>
                      <a:r>
                        <a:rPr sz="950" b="0">
                          <a:solidFill>
                            <a:srgbClr val="1F2937"/>
                          </a:solidFill>
                          <a:latin typeface="Calibri"/>
                        </a:rPr>
                        <a:t>full</a:t>
                      </a:r>
                    </a:p>
                  </a:txBody>
                  <a:tcPr marL="73152" marR="73152" marT="27432" marB="27432" anchor="ctr">
                    <a:solidFill>
                      <a:srgbClr val="F6F8FB"/>
                    </a:solidFill>
                  </a:tcPr>
                </a:tc>
                <a:tc>
                  <a:txBody>
                    <a:bodyPr wrap="square"/>
                    <a:lstStyle/>
                    <a:p>
                      <a:r>
                        <a:rPr sz="950" b="0">
                          <a:solidFill>
                            <a:srgbClr val="1F2937"/>
                          </a:solidFill>
                          <a:latin typeface="Calibri"/>
                        </a:rPr>
                        <a:t>86</a:t>
                      </a:r>
                    </a:p>
                  </a:txBody>
                  <a:tcPr marL="73152" marR="73152" marT="27432" marB="27432" anchor="ctr">
                    <a:solidFill>
                      <a:srgbClr val="F6F8FB"/>
                    </a:solidFill>
                  </a:tcPr>
                </a:tc>
                <a:tc>
                  <a:txBody>
                    <a:bodyPr wrap="square"/>
                    <a:lstStyle/>
                    <a:p>
                      <a:r>
                        <a:rPr sz="950" b="0">
                          <a:solidFill>
                            <a:srgbClr val="1F2937"/>
                          </a:solidFill>
                          <a:latin typeface="Calibri"/>
                        </a:rPr>
                        <a:t>20</a:t>
                      </a:r>
                    </a:p>
                  </a:txBody>
                  <a:tcPr marL="73152" marR="73152" marT="27432" marB="27432" anchor="ctr">
                    <a:solidFill>
                      <a:srgbClr val="F6F8FB"/>
                    </a:solidFill>
                  </a:tcPr>
                </a:tc>
                <a:tc>
                  <a:txBody>
                    <a:bodyPr wrap="square"/>
                    <a:lstStyle/>
                    <a:p>
                      <a:r>
                        <a:rPr sz="950" b="0">
                          <a:solidFill>
                            <a:srgbClr val="1F2937"/>
                          </a:solidFill>
                          <a:latin typeface="Calibri"/>
                        </a:rPr>
                        <a:t>20</a:t>
                      </a:r>
                    </a:p>
                  </a:txBody>
                  <a:tcPr marL="73152" marR="73152" marT="27432" marB="27432" anchor="ctr">
                    <a:solidFill>
                      <a:srgbClr val="F6F8FB"/>
                    </a:solidFill>
                  </a:tcPr>
                </a:tc>
                <a:tc>
                  <a:txBody>
                    <a:bodyPr wrap="square"/>
                    <a:lstStyle/>
                    <a:p>
                      <a:r>
                        <a:rPr sz="950" b="0">
                          <a:solidFill>
                            <a:srgbClr val="1F2937"/>
                          </a:solidFill>
                          <a:latin typeface="Calibri"/>
                        </a:rPr>
                        <a:t>0.667</a:t>
                      </a:r>
                    </a:p>
                  </a:txBody>
                  <a:tcPr marL="73152" marR="73152" marT="27432" marB="27432" anchor="ctr">
                    <a:solidFill>
                      <a:srgbClr val="F6F8FB"/>
                    </a:solidFill>
                  </a:tcPr>
                </a:tc>
                <a:tc>
                  <a:txBody>
                    <a:bodyPr wrap="square"/>
                    <a:lstStyle/>
                    <a:p>
                      <a:r>
                        <a:rPr sz="950" b="0">
                          <a:solidFill>
                            <a:srgbClr val="1F2937"/>
                          </a:solidFill>
                          <a:latin typeface="Calibri"/>
                        </a:rPr>
                        <a:t>0.633</a:t>
                      </a:r>
                    </a:p>
                  </a:txBody>
                  <a:tcPr marL="73152" marR="73152" marT="27432" marB="27432" anchor="ctr">
                    <a:solidFill>
                      <a:srgbClr val="F6F8FB"/>
                    </a:solidFill>
                  </a:tcPr>
                </a:tc>
              </a:tr>
              <a:tr h="347472">
                <a:tc>
                  <a:txBody>
                    <a:bodyPr wrap="square"/>
                    <a:lstStyle/>
                    <a:p>
                      <a:r>
                        <a:rPr sz="950" b="0">
                          <a:solidFill>
                            <a:srgbClr val="1F2937"/>
                          </a:solidFill>
                          <a:latin typeface="Calibri"/>
                        </a:rPr>
                        <a:t>B</a:t>
                      </a:r>
                    </a:p>
                  </a:txBody>
                  <a:tcPr marL="73152" marR="73152" marT="27432" marB="27432" anchor="ctr">
                    <a:solidFill>
                      <a:srgbClr val="FFFFFF"/>
                    </a:solidFill>
                  </a:tcPr>
                </a:tc>
                <a:tc>
                  <a:txBody>
                    <a:bodyPr wrap="square"/>
                    <a:lstStyle/>
                    <a:p>
                      <a:r>
                        <a:rPr sz="950" b="0">
                          <a:solidFill>
                            <a:srgbClr val="1F2937"/>
                          </a:solidFill>
                          <a:latin typeface="Calibri"/>
                        </a:rPr>
                        <a:t>1-SE rule</a:t>
                      </a:r>
                    </a:p>
                  </a:txBody>
                  <a:tcPr marL="73152" marR="73152" marT="27432" marB="27432" anchor="ctr">
                    <a:solidFill>
                      <a:srgbClr val="FFFFFF"/>
                    </a:solidFill>
                  </a:tcPr>
                </a:tc>
                <a:tc>
                  <a:txBody>
                    <a:bodyPr wrap="square"/>
                    <a:lstStyle/>
                    <a:p>
                      <a:r>
                        <a:rPr sz="950" b="0">
                          <a:solidFill>
                            <a:srgbClr val="1F2937"/>
                          </a:solidFill>
                          <a:latin typeface="Calibri"/>
                        </a:rPr>
                        <a:t>25</a:t>
                      </a:r>
                    </a:p>
                  </a:txBody>
                  <a:tcPr marL="73152" marR="73152" marT="27432" marB="27432" anchor="ctr">
                    <a:solidFill>
                      <a:srgbClr val="FFFFFF"/>
                    </a:solidFill>
                  </a:tcPr>
                </a:tc>
                <a:tc>
                  <a:txBody>
                    <a:bodyPr wrap="square"/>
                    <a:lstStyle/>
                    <a:p>
                      <a:r>
                        <a:rPr sz="950" b="0">
                          <a:solidFill>
                            <a:srgbClr val="1F2937"/>
                          </a:solidFill>
                          <a:latin typeface="Calibri"/>
                        </a:rPr>
                        <a:t>11</a:t>
                      </a:r>
                    </a:p>
                  </a:txBody>
                  <a:tcPr marL="73152" marR="73152" marT="27432" marB="27432" anchor="ctr">
                    <a:solidFill>
                      <a:srgbClr val="FFFFFF"/>
                    </a:solidFill>
                  </a:tcPr>
                </a:tc>
                <a:tc>
                  <a:txBody>
                    <a:bodyPr wrap="square"/>
                    <a:lstStyle/>
                    <a:p>
                      <a:r>
                        <a:rPr sz="950" b="0">
                          <a:solidFill>
                            <a:srgbClr val="1F2937"/>
                          </a:solidFill>
                          <a:latin typeface="Calibri"/>
                        </a:rPr>
                        <a:t>10</a:t>
                      </a:r>
                    </a:p>
                  </a:txBody>
                  <a:tcPr marL="73152" marR="73152" marT="27432" marB="27432" anchor="ctr">
                    <a:solidFill>
                      <a:srgbClr val="FFFFFF"/>
                    </a:solidFill>
                  </a:tcPr>
                </a:tc>
                <a:tc>
                  <a:txBody>
                    <a:bodyPr wrap="square"/>
                    <a:lstStyle/>
                    <a:p>
                      <a:r>
                        <a:rPr sz="950" b="0">
                          <a:solidFill>
                            <a:srgbClr val="1F2937"/>
                          </a:solidFill>
                          <a:latin typeface="Calibri"/>
                        </a:rPr>
                        <a:t>0.660</a:t>
                      </a:r>
                    </a:p>
                  </a:txBody>
                  <a:tcPr marL="73152" marR="73152" marT="27432" marB="27432" anchor="ctr">
                    <a:solidFill>
                      <a:srgbClr val="FFFFFF"/>
                    </a:solidFill>
                  </a:tcPr>
                </a:tc>
                <a:tc>
                  <a:txBody>
                    <a:bodyPr wrap="square"/>
                    <a:lstStyle/>
                    <a:p>
                      <a:r>
                        <a:rPr sz="950" b="0">
                          <a:solidFill>
                            <a:srgbClr val="1F2937"/>
                          </a:solidFill>
                          <a:latin typeface="Calibri"/>
                        </a:rPr>
                        <a:t>0.647</a:t>
                      </a:r>
                    </a:p>
                  </a:txBody>
                  <a:tcPr marL="73152" marR="73152" marT="27432" marB="27432" anchor="ctr">
                    <a:solidFill>
                      <a:srgbClr val="FFFFFF"/>
                    </a:solidFill>
                  </a:tcPr>
                </a:tc>
              </a:tr>
            </a:tbl>
          </a:graphicData>
        </a:graphic>
      </p:graphicFrame>
      <p:sp>
        <p:nvSpPr>
          <p:cNvPr id="8" name="TextBox 7"/>
          <p:cNvSpPr txBox="1"/>
          <p:nvPr/>
        </p:nvSpPr>
        <p:spPr>
          <a:xfrm>
            <a:off x="548640" y="4800600"/>
            <a:ext cx="11064240" cy="146304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Champion: 66 → 30 features </a:t>
            </a:r>
            <a:r>
              <a:rPr sz="1400" b="0">
                <a:solidFill>
                  <a:srgbClr val="1F2937"/>
                </a:solidFill>
                <a:latin typeface="Calibri"/>
              </a:rPr>
              <a:t>(18 OpenFE combinations + 12 original fields); B: 86 → 25.</a:t>
            </a:r>
          </a:p>
          <a:p>
            <a:pPr marL="201168" indent="-182880">
              <a:spcAft>
                <a:spcPts val="800"/>
              </a:spcAft>
              <a:buFont typeface="Arial"/>
              <a:buChar char="•"/>
            </a:pPr>
            <a:r>
              <a:rPr sz="1400" b="1">
                <a:solidFill>
                  <a:srgbClr val="1F2937"/>
                </a:solidFill>
                <a:latin typeface="Calibri"/>
              </a:rPr>
              <a:t>Dropped include </a:t>
            </a:r>
            <a:r>
              <a:rPr sz="1400" b="0">
                <a:solidFill>
                  <a:srgbClr val="1F2937"/>
                </a:solidFill>
                <a:latin typeface="Calibri"/>
              </a:rPr>
              <a:t>all _invalid flags, loan-type flags, Age, Occupation, Annual_Income — their information overlaps with kept features.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nchor="t" lIns="36576" rIns="36576" tIns="18288" bIns="18288">
            <a:spAutoFit/>
          </a:bodyPr>
          <a:lstStyle/>
          <a:p>
            <a:pPr algn="l"/>
            <a:r>
              <a:rPr sz="1600" b="1" i="0">
                <a:solidFill>
                  <a:srgbClr val="CADCFC"/>
                </a:solidFill>
                <a:latin typeface="Calibri"/>
              </a:rPr>
              <a:t>PART 4</a:t>
            </a:r>
          </a:p>
        </p:txBody>
      </p:sp>
      <p:sp>
        <p:nvSpPr>
          <p:cNvPr id="3" name="TextBox 2"/>
          <p:cNvSpPr txBox="1"/>
          <p:nvPr/>
        </p:nvSpPr>
        <p:spPr>
          <a:xfrm>
            <a:off x="822960" y="2377440"/>
            <a:ext cx="10515600" cy="1097280"/>
          </a:xfrm>
          <a:prstGeom prst="rect">
            <a:avLst/>
          </a:prstGeom>
          <a:noFill/>
        </p:spPr>
        <p:txBody>
          <a:bodyPr wrap="square" anchor="t" lIns="36576" rIns="36576" tIns="18288" bIns="18288">
            <a:spAutoFit/>
          </a:bodyPr>
          <a:lstStyle/>
          <a:p>
            <a:pPr algn="l"/>
            <a:r>
              <a:rPr sz="4400" b="1" i="0">
                <a:solidFill>
                  <a:srgbClr val="FFFFFF"/>
                </a:solidFill>
                <a:latin typeface="Cambria"/>
              </a:rPr>
              <a:t>Hyperparameter tuning</a:t>
            </a:r>
          </a:p>
        </p:txBody>
      </p:sp>
      <p:sp>
        <p:nvSpPr>
          <p:cNvPr id="4" name="TextBox 3"/>
          <p:cNvSpPr txBox="1"/>
          <p:nvPr/>
        </p:nvSpPr>
        <p:spPr>
          <a:xfrm>
            <a:off x="822960" y="3520440"/>
            <a:ext cx="10058400" cy="914400"/>
          </a:xfrm>
          <a:prstGeom prst="rect">
            <a:avLst/>
          </a:prstGeom>
          <a:noFill/>
        </p:spPr>
        <p:txBody>
          <a:bodyPr wrap="square" anchor="t" lIns="36576" rIns="36576" tIns="18288" bIns="18288">
            <a:spAutoFit/>
          </a:bodyPr>
          <a:lstStyle/>
          <a:p>
            <a:pPr algn="l"/>
            <a:r>
              <a:rPr sz="1800" b="0" i="0">
                <a:solidFill>
                  <a:srgbClr val="CADCFC"/>
                </a:solidFill>
                <a:latin typeface="Calibri"/>
              </a:rPr>
              <a:t>Optuna searched XGBoost settings on the chosen features. Tuning had to beat the defaults by the same rule as any other change.</a:t>
            </a:r>
          </a:p>
        </p:txBody>
      </p:sp>
      <p:sp>
        <p:nvSpPr>
          <p:cNvPr id="5" name="Rounded Rectangle 4"/>
          <p:cNvSpPr/>
          <p:nvPr/>
        </p:nvSpPr>
        <p:spPr>
          <a:xfrm>
            <a:off x="822960" y="4572000"/>
            <a:ext cx="2377440" cy="457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Step 29</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Search design</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29</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22</a:t>
            </a:r>
          </a:p>
        </p:txBody>
      </p:sp>
      <p:graphicFrame>
        <p:nvGraphicFramePr>
          <p:cNvPr id="6" name="Table"/>
          <p:cNvGraphicFramePr>
            <a:graphicFrameLocks noGrp="1"/>
          </p:cNvGraphicFramePr>
          <p:nvPr/>
        </p:nvGraphicFramePr>
        <p:xfrm>
          <a:off x="548640" y="1325880"/>
          <a:ext cx="6400800" cy="3511296"/>
        </p:xfrm>
        <a:graphic>
          <a:graphicData uri="http://schemas.openxmlformats.org/drawingml/2006/table">
            <a:tbl>
              <a:tblPr firstRow="0" bandRow="0">
                <a:tableStyleId>{5940675A-B579-460E-94D1-54222C63F5DA}</a:tableStyleId>
              </a:tblPr>
              <a:tblGrid>
                <a:gridCol w="2377440"/>
                <a:gridCol w="4023360"/>
              </a:tblGrid>
              <a:tr h="438912">
                <a:tc>
                  <a:txBody>
                    <a:bodyPr wrap="square"/>
                    <a:lstStyle/>
                    <a:p>
                      <a:r>
                        <a:rPr sz="1300" b="1">
                          <a:solidFill>
                            <a:srgbClr val="FFFFFF"/>
                          </a:solidFill>
                          <a:latin typeface="Calibri"/>
                        </a:rPr>
                        <a:t>Setting</a:t>
                      </a:r>
                    </a:p>
                  </a:txBody>
                  <a:tcPr marL="73152" marR="73152" marT="27432" marB="27432" anchor="ctr">
                    <a:solidFill>
                      <a:srgbClr val="14213D"/>
                    </a:solidFill>
                  </a:tcPr>
                </a:tc>
                <a:tc>
                  <a:txBody>
                    <a:bodyPr wrap="square"/>
                    <a:lstStyle/>
                    <a:p>
                      <a:r>
                        <a:rPr sz="1300" b="1">
                          <a:solidFill>
                            <a:srgbClr val="FFFFFF"/>
                          </a:solidFill>
                          <a:latin typeface="Calibri"/>
                        </a:rPr>
                        <a:t>Search range</a:t>
                      </a:r>
                    </a:p>
                  </a:txBody>
                  <a:tcPr marL="73152" marR="73152" marT="27432" marB="27432" anchor="ctr">
                    <a:solidFill>
                      <a:srgbClr val="14213D"/>
                    </a:solidFill>
                  </a:tcPr>
                </a:tc>
              </a:tr>
              <a:tr h="438912">
                <a:tc>
                  <a:txBody>
                    <a:bodyPr wrap="square"/>
                    <a:lstStyle/>
                    <a:p>
                      <a:r>
                        <a:rPr sz="1300" b="1">
                          <a:solidFill>
                            <a:srgbClr val="1F2937"/>
                          </a:solidFill>
                          <a:latin typeface="Calibri"/>
                        </a:rPr>
                        <a:t>Number of trees</a:t>
                      </a:r>
                    </a:p>
                  </a:txBody>
                  <a:tcPr marL="73152" marR="73152" marT="27432" marB="27432" anchor="ctr">
                    <a:solidFill>
                      <a:srgbClr val="FFFFFF"/>
                    </a:solidFill>
                  </a:tcPr>
                </a:tc>
                <a:tc>
                  <a:txBody>
                    <a:bodyPr wrap="square"/>
                    <a:lstStyle/>
                    <a:p>
                      <a:r>
                        <a:rPr sz="1300" b="0">
                          <a:solidFill>
                            <a:srgbClr val="1F2937"/>
                          </a:solidFill>
                          <a:latin typeface="Calibri"/>
                        </a:rPr>
                        <a:t>100 – 1,000</a:t>
                      </a:r>
                    </a:p>
                  </a:txBody>
                  <a:tcPr marL="73152" marR="73152" marT="27432" marB="27432" anchor="ctr">
                    <a:solidFill>
                      <a:srgbClr val="FFFFFF"/>
                    </a:solidFill>
                  </a:tcPr>
                </a:tc>
              </a:tr>
              <a:tr h="438912">
                <a:tc>
                  <a:txBody>
                    <a:bodyPr wrap="square"/>
                    <a:lstStyle/>
                    <a:p>
                      <a:r>
                        <a:rPr sz="1300" b="1">
                          <a:solidFill>
                            <a:srgbClr val="1F2937"/>
                          </a:solidFill>
                          <a:latin typeface="Calibri"/>
                        </a:rPr>
                        <a:t>Learning rate</a:t>
                      </a:r>
                    </a:p>
                  </a:txBody>
                  <a:tcPr marL="73152" marR="73152" marT="27432" marB="27432" anchor="ctr">
                    <a:solidFill>
                      <a:srgbClr val="F6F8FB"/>
                    </a:solidFill>
                  </a:tcPr>
                </a:tc>
                <a:tc>
                  <a:txBody>
                    <a:bodyPr wrap="square"/>
                    <a:lstStyle/>
                    <a:p>
                      <a:r>
                        <a:rPr sz="1300" b="0">
                          <a:solidFill>
                            <a:srgbClr val="1F2937"/>
                          </a:solidFill>
                          <a:latin typeface="Calibri"/>
                        </a:rPr>
                        <a:t>0.01 – 0.3 (log scale)</a:t>
                      </a:r>
                    </a:p>
                  </a:txBody>
                  <a:tcPr marL="73152" marR="73152" marT="27432" marB="27432" anchor="ctr">
                    <a:solidFill>
                      <a:srgbClr val="F6F8FB"/>
                    </a:solidFill>
                  </a:tcPr>
                </a:tc>
              </a:tr>
              <a:tr h="438912">
                <a:tc>
                  <a:txBody>
                    <a:bodyPr wrap="square"/>
                    <a:lstStyle/>
                    <a:p>
                      <a:r>
                        <a:rPr sz="1300" b="1">
                          <a:solidFill>
                            <a:srgbClr val="1F2937"/>
                          </a:solidFill>
                          <a:latin typeface="Calibri"/>
                        </a:rPr>
                        <a:t>Tree depth</a:t>
                      </a:r>
                    </a:p>
                  </a:txBody>
                  <a:tcPr marL="73152" marR="73152" marT="27432" marB="27432" anchor="ctr">
                    <a:solidFill>
                      <a:srgbClr val="FFFFFF"/>
                    </a:solidFill>
                  </a:tcPr>
                </a:tc>
                <a:tc>
                  <a:txBody>
                    <a:bodyPr wrap="square"/>
                    <a:lstStyle/>
                    <a:p>
                      <a:r>
                        <a:rPr sz="1300" b="0">
                          <a:solidFill>
                            <a:srgbClr val="1F2937"/>
                          </a:solidFill>
                          <a:latin typeface="Calibri"/>
                        </a:rPr>
                        <a:t>2 – 8</a:t>
                      </a:r>
                    </a:p>
                  </a:txBody>
                  <a:tcPr marL="73152" marR="73152" marT="27432" marB="27432" anchor="ctr">
                    <a:solidFill>
                      <a:srgbClr val="FFFFFF"/>
                    </a:solidFill>
                  </a:tcPr>
                </a:tc>
              </a:tr>
              <a:tr h="438912">
                <a:tc>
                  <a:txBody>
                    <a:bodyPr wrap="square"/>
                    <a:lstStyle/>
                    <a:p>
                      <a:r>
                        <a:rPr sz="1300" b="1">
                          <a:solidFill>
                            <a:srgbClr val="1F2937"/>
                          </a:solidFill>
                          <a:latin typeface="Calibri"/>
                        </a:rPr>
                        <a:t>Min child weight</a:t>
                      </a:r>
                    </a:p>
                  </a:txBody>
                  <a:tcPr marL="73152" marR="73152" marT="27432" marB="27432" anchor="ctr">
                    <a:solidFill>
                      <a:srgbClr val="F6F8FB"/>
                    </a:solidFill>
                  </a:tcPr>
                </a:tc>
                <a:tc>
                  <a:txBody>
                    <a:bodyPr wrap="square"/>
                    <a:lstStyle/>
                    <a:p>
                      <a:r>
                        <a:rPr sz="1300" b="0">
                          <a:solidFill>
                            <a:srgbClr val="1F2937"/>
                          </a:solidFill>
                          <a:latin typeface="Calibri"/>
                        </a:rPr>
                        <a:t>1 – 20 (log)</a:t>
                      </a:r>
                    </a:p>
                  </a:txBody>
                  <a:tcPr marL="73152" marR="73152" marT="27432" marB="27432" anchor="ctr">
                    <a:solidFill>
                      <a:srgbClr val="F6F8FB"/>
                    </a:solidFill>
                  </a:tcPr>
                </a:tc>
              </a:tr>
              <a:tr h="438912">
                <a:tc>
                  <a:txBody>
                    <a:bodyPr wrap="square"/>
                    <a:lstStyle/>
                    <a:p>
                      <a:r>
                        <a:rPr sz="1300" b="1">
                          <a:solidFill>
                            <a:srgbClr val="1F2937"/>
                          </a:solidFill>
                          <a:latin typeface="Calibri"/>
                        </a:rPr>
                        <a:t>Row / column sample</a:t>
                      </a:r>
                    </a:p>
                  </a:txBody>
                  <a:tcPr marL="73152" marR="73152" marT="27432" marB="27432" anchor="ctr">
                    <a:solidFill>
                      <a:srgbClr val="FFFFFF"/>
                    </a:solidFill>
                  </a:tcPr>
                </a:tc>
                <a:tc>
                  <a:txBody>
                    <a:bodyPr wrap="square"/>
                    <a:lstStyle/>
                    <a:p>
                      <a:r>
                        <a:rPr sz="1300" b="0">
                          <a:solidFill>
                            <a:srgbClr val="1F2937"/>
                          </a:solidFill>
                          <a:latin typeface="Calibri"/>
                        </a:rPr>
                        <a:t>0.5 – 1.0 / 0.4 – 1.0</a:t>
                      </a:r>
                    </a:p>
                  </a:txBody>
                  <a:tcPr marL="73152" marR="73152" marT="27432" marB="27432" anchor="ctr">
                    <a:solidFill>
                      <a:srgbClr val="FFFFFF"/>
                    </a:solidFill>
                  </a:tcPr>
                </a:tc>
              </a:tr>
              <a:tr h="438912">
                <a:tc>
                  <a:txBody>
                    <a:bodyPr wrap="square"/>
                    <a:lstStyle/>
                    <a:p>
                      <a:r>
                        <a:rPr sz="1300" b="1">
                          <a:solidFill>
                            <a:srgbClr val="1F2937"/>
                          </a:solidFill>
                          <a:latin typeface="Calibri"/>
                        </a:rPr>
                        <a:t>L2 / L1 regularisation</a:t>
                      </a:r>
                    </a:p>
                  </a:txBody>
                  <a:tcPr marL="73152" marR="73152" marT="27432" marB="27432" anchor="ctr">
                    <a:solidFill>
                      <a:srgbClr val="F6F8FB"/>
                    </a:solidFill>
                  </a:tcPr>
                </a:tc>
                <a:tc>
                  <a:txBody>
                    <a:bodyPr wrap="square"/>
                    <a:lstStyle/>
                    <a:p>
                      <a:r>
                        <a:rPr sz="1300" b="0">
                          <a:solidFill>
                            <a:srgbClr val="1F2937"/>
                          </a:solidFill>
                          <a:latin typeface="Calibri"/>
                        </a:rPr>
                        <a:t>0.001 – 10 / 1e-8 – 10 (log)</a:t>
                      </a:r>
                    </a:p>
                  </a:txBody>
                  <a:tcPr marL="73152" marR="73152" marT="27432" marB="27432" anchor="ctr">
                    <a:solidFill>
                      <a:srgbClr val="F6F8FB"/>
                    </a:solidFill>
                  </a:tcPr>
                </a:tc>
              </a:tr>
              <a:tr h="438912">
                <a:tc>
                  <a:txBody>
                    <a:bodyPr wrap="square"/>
                    <a:lstStyle/>
                    <a:p>
                      <a:r>
                        <a:rPr sz="1300" b="1">
                          <a:solidFill>
                            <a:srgbClr val="1F2937"/>
                          </a:solidFill>
                          <a:latin typeface="Calibri"/>
                        </a:rPr>
                        <a:t>Min split gain</a:t>
                      </a:r>
                    </a:p>
                  </a:txBody>
                  <a:tcPr marL="73152" marR="73152" marT="27432" marB="27432" anchor="ctr">
                    <a:solidFill>
                      <a:srgbClr val="FFFFFF"/>
                    </a:solidFill>
                  </a:tcPr>
                </a:tc>
                <a:tc>
                  <a:txBody>
                    <a:bodyPr wrap="square"/>
                    <a:lstStyle/>
                    <a:p>
                      <a:r>
                        <a:rPr sz="1300" b="0">
                          <a:solidFill>
                            <a:srgbClr val="1F2937"/>
                          </a:solidFill>
                          <a:latin typeface="Calibri"/>
                        </a:rPr>
                        <a:t>0 – 5</a:t>
                      </a:r>
                    </a:p>
                  </a:txBody>
                  <a:tcPr marL="73152" marR="73152" marT="27432" marB="27432" anchor="ctr">
                    <a:solidFill>
                      <a:srgbClr val="FFFFFF"/>
                    </a:solidFill>
                  </a:tcPr>
                </a:tc>
              </a:tr>
            </a:tbl>
          </a:graphicData>
        </a:graphic>
      </p:graphicFrame>
      <p:sp>
        <p:nvSpPr>
          <p:cNvPr id="7" name="Rounded Rectangle 6"/>
          <p:cNvSpPr/>
          <p:nvPr/>
        </p:nvSpPr>
        <p:spPr>
          <a:xfrm>
            <a:off x="7315200" y="1325880"/>
            <a:ext cx="4343400" cy="21945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417320"/>
            <a:ext cx="4069080" cy="365760"/>
          </a:xfrm>
          <a:prstGeom prst="rect">
            <a:avLst/>
          </a:prstGeom>
          <a:noFill/>
        </p:spPr>
        <p:txBody>
          <a:bodyPr wrap="square" anchor="t" lIns="36576" rIns="36576" tIns="18288" bIns="18288">
            <a:spAutoFit/>
          </a:bodyPr>
          <a:lstStyle/>
          <a:p>
            <a:pPr algn="l"/>
            <a:r>
              <a:rPr sz="1400" b="1" i="0">
                <a:solidFill>
                  <a:srgbClr val="14213D"/>
                </a:solidFill>
                <a:latin typeface="Calibri"/>
              </a:rPr>
              <a:t>How</a:t>
            </a:r>
          </a:p>
        </p:txBody>
      </p:sp>
      <p:sp>
        <p:nvSpPr>
          <p:cNvPr id="9" name="TextBox 8"/>
          <p:cNvSpPr txBox="1"/>
          <p:nvPr/>
        </p:nvSpPr>
        <p:spPr>
          <a:xfrm>
            <a:off x="7452360" y="1783080"/>
            <a:ext cx="4069080" cy="1691639"/>
          </a:xfrm>
          <a:prstGeom prst="rect">
            <a:avLst/>
          </a:prstGeom>
          <a:noFill/>
        </p:spPr>
        <p:txBody>
          <a:bodyPr wrap="square" anchor="t" lIns="36576" rIns="36576" tIns="18288" bIns="18288">
            <a:spAutoFit/>
          </a:bodyPr>
          <a:lstStyle/>
          <a:p>
            <a:pPr algn="l"/>
            <a:r>
              <a:rPr sz="1200" b="0" i="0">
                <a:solidFill>
                  <a:srgbClr val="1F2937"/>
                </a:solidFill>
                <a:latin typeface="Calibri"/>
              </a:rPr>
              <a:t>Optuna TPE sampler, seed 42, 60 trials per model. Trial 0 = current defaults. Each trial scored by mean PR-AUC on the same 5 fixed folds (preprocessing inside each fold).</a:t>
            </a:r>
          </a:p>
        </p:txBody>
      </p:sp>
      <p:sp>
        <p:nvSpPr>
          <p:cNvPr id="10" name="Rounded Rectangle 9"/>
          <p:cNvSpPr/>
          <p:nvPr/>
        </p:nvSpPr>
        <p:spPr>
          <a:xfrm>
            <a:off x="7315200" y="3703320"/>
            <a:ext cx="4343400" cy="246888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794759"/>
            <a:ext cx="4069080" cy="365760"/>
          </a:xfrm>
          <a:prstGeom prst="rect">
            <a:avLst/>
          </a:prstGeom>
          <a:noFill/>
        </p:spPr>
        <p:txBody>
          <a:bodyPr wrap="square" anchor="t" lIns="36576" rIns="36576" tIns="18288" bIns="18288">
            <a:spAutoFit/>
          </a:bodyPr>
          <a:lstStyle/>
          <a:p>
            <a:pPr algn="l"/>
            <a:r>
              <a:rPr sz="1400" b="1" i="0">
                <a:solidFill>
                  <a:srgbClr val="14213D"/>
                </a:solidFill>
                <a:latin typeface="Calibri"/>
              </a:rPr>
              <a:t>Adoption rule</a:t>
            </a:r>
          </a:p>
        </p:txBody>
      </p:sp>
      <p:sp>
        <p:nvSpPr>
          <p:cNvPr id="12" name="TextBox 11"/>
          <p:cNvSpPr txBox="1"/>
          <p:nvPr/>
        </p:nvSpPr>
        <p:spPr>
          <a:xfrm>
            <a:off x="7452360" y="4160520"/>
            <a:ext cx="4069080" cy="1965960"/>
          </a:xfrm>
          <a:prstGeom prst="rect">
            <a:avLst/>
          </a:prstGeom>
          <a:noFill/>
        </p:spPr>
        <p:txBody>
          <a:bodyPr wrap="square" anchor="t" lIns="36576" rIns="36576" tIns="18288" bIns="18288">
            <a:spAutoFit/>
          </a:bodyPr>
          <a:lstStyle/>
          <a:p>
            <a:pPr algn="l"/>
            <a:r>
              <a:rPr sz="1200" b="0" i="0">
                <a:solidFill>
                  <a:srgbClr val="1F2937"/>
                </a:solidFill>
                <a:latin typeface="Calibri"/>
              </a:rPr>
              <a:t>Tuned settings replace the defaults only if CV PR-AUC improves by ≥ 0.02 and by more than the default's fold std. The best of 60 trials is optimistic (chosen and scored on the same folds), so validation is checked too.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Tuning gains stay within noise: defaults kept</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29</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23</a:t>
            </a:r>
          </a:p>
        </p:txBody>
      </p:sp>
      <p:pic>
        <p:nvPicPr>
          <p:cNvPr id="6" name="29_1_tuning_history.png" descr="29_1_tuning_history.png"/>
          <p:cNvPicPr>
            <a:picLocks noChangeAspect="1"/>
          </p:cNvPicPr>
          <p:nvPr/>
        </p:nvPicPr>
        <p:blipFill>
          <a:blip r:embed="rId2"/>
          <a:stretch>
            <a:fillRect/>
          </a:stretch>
        </p:blipFill>
        <p:spPr>
          <a:xfrm>
            <a:off x="457200" y="1292385"/>
            <a:ext cx="7498079" cy="2352988"/>
          </a:xfrm>
          <a:prstGeom prst="rect">
            <a:avLst/>
          </a:prstGeom>
        </p:spPr>
      </p:pic>
      <p:pic>
        <p:nvPicPr>
          <p:cNvPr id="7" name="29_2_param_importance.png" descr="29_2_param_importance.png"/>
          <p:cNvPicPr>
            <a:picLocks noChangeAspect="1"/>
          </p:cNvPicPr>
          <p:nvPr/>
        </p:nvPicPr>
        <p:blipFill>
          <a:blip r:embed="rId3"/>
          <a:stretch>
            <a:fillRect/>
          </a:stretch>
        </p:blipFill>
        <p:spPr>
          <a:xfrm>
            <a:off x="8092440" y="1327199"/>
            <a:ext cx="3611880" cy="1826161"/>
          </a:xfrm>
          <a:prstGeom prst="rect">
            <a:avLst/>
          </a:prstGeom>
        </p:spPr>
      </p:pic>
      <p:graphicFrame>
        <p:nvGraphicFramePr>
          <p:cNvPr id="8" name="Table"/>
          <p:cNvGraphicFramePr>
            <a:graphicFrameLocks noGrp="1"/>
          </p:cNvGraphicFramePr>
          <p:nvPr/>
        </p:nvGraphicFramePr>
        <p:xfrm>
          <a:off x="548640" y="3886200"/>
          <a:ext cx="7406640" cy="1920240"/>
        </p:xfrm>
        <a:graphic>
          <a:graphicData uri="http://schemas.openxmlformats.org/drawingml/2006/table">
            <a:tbl>
              <a:tblPr firstRow="0" bandRow="0">
                <a:tableStyleId>{5940675A-B579-460E-94D1-54222C63F5DA}</a:tableStyleId>
              </a:tblPr>
              <a:tblGrid>
                <a:gridCol w="822960"/>
                <a:gridCol w="1828800"/>
                <a:gridCol w="1188720"/>
                <a:gridCol w="1005840"/>
                <a:gridCol w="1280160"/>
                <a:gridCol w="1280160"/>
              </a:tblGrid>
              <a:tr h="384048">
                <a:tc>
                  <a:txBody>
                    <a:bodyPr wrap="square"/>
                    <a:lstStyle/>
                    <a:p>
                      <a:r>
                        <a:rPr sz="1200" b="1">
                          <a:solidFill>
                            <a:srgbClr val="FFFFFF"/>
                          </a:solidFill>
                          <a:latin typeface="Calibri"/>
                        </a:rPr>
                        <a:t>Model</a:t>
                      </a:r>
                    </a:p>
                  </a:txBody>
                  <a:tcPr marL="73152" marR="73152" marT="27432" marB="27432" anchor="ctr">
                    <a:solidFill>
                      <a:srgbClr val="14213D"/>
                    </a:solidFill>
                  </a:tcPr>
                </a:tc>
                <a:tc>
                  <a:txBody>
                    <a:bodyPr wrap="square"/>
                    <a:lstStyle/>
                    <a:p>
                      <a:r>
                        <a:rPr sz="1200" b="1">
                          <a:solidFill>
                            <a:srgbClr val="FFFFFF"/>
                          </a:solidFill>
                          <a:latin typeface="Calibri"/>
                        </a:rPr>
                        <a:t>Version</a:t>
                      </a:r>
                    </a:p>
                  </a:txBody>
                  <a:tcPr marL="73152" marR="73152" marT="27432" marB="27432" anchor="ctr">
                    <a:solidFill>
                      <a:srgbClr val="14213D"/>
                    </a:solidFill>
                  </a:tcPr>
                </a:tc>
                <a:tc>
                  <a:txBody>
                    <a:bodyPr wrap="square"/>
                    <a:lstStyle/>
                    <a:p>
                      <a:r>
                        <a:rPr sz="1200" b="1">
                          <a:solidFill>
                            <a:srgbClr val="FFFFFF"/>
                          </a:solidFill>
                          <a:latin typeface="Calibri"/>
                        </a:rPr>
                        <a:t>CV PR-AUC</a:t>
                      </a:r>
                    </a:p>
                  </a:txBody>
                  <a:tcPr marL="73152" marR="73152" marT="27432" marB="27432" anchor="ctr">
                    <a:solidFill>
                      <a:srgbClr val="14213D"/>
                    </a:solidFill>
                  </a:tcPr>
                </a:tc>
                <a:tc>
                  <a:txBody>
                    <a:bodyPr wrap="square"/>
                    <a:lstStyle/>
                    <a:p>
                      <a:r>
                        <a:rPr sz="1200" b="1">
                          <a:solidFill>
                            <a:srgbClr val="FFFFFF"/>
                          </a:solidFill>
                          <a:latin typeface="Calibri"/>
                        </a:rPr>
                        <a:t>Gain</a:t>
                      </a:r>
                    </a:p>
                  </a:txBody>
                  <a:tcPr marL="73152" marR="73152" marT="27432" marB="27432" anchor="ctr">
                    <a:solidFill>
                      <a:srgbClr val="14213D"/>
                    </a:solidFill>
                  </a:tcPr>
                </a:tc>
                <a:tc>
                  <a:txBody>
                    <a:bodyPr wrap="square"/>
                    <a:lstStyle/>
                    <a:p>
                      <a:r>
                        <a:rPr sz="1200" b="1">
                          <a:solidFill>
                            <a:srgbClr val="FFFFFF"/>
                          </a:solidFill>
                          <a:latin typeface="Calibri"/>
                        </a:rPr>
                        <a:t>Val PR-AUC</a:t>
                      </a:r>
                    </a:p>
                  </a:txBody>
                  <a:tcPr marL="73152" marR="73152" marT="27432" marB="27432" anchor="ctr">
                    <a:solidFill>
                      <a:srgbClr val="14213D"/>
                    </a:solidFill>
                  </a:tcPr>
                </a:tc>
                <a:tc>
                  <a:txBody>
                    <a:bodyPr wrap="square"/>
                    <a:lstStyle/>
                    <a:p>
                      <a:r>
                        <a:rPr sz="1200" b="1">
                          <a:solidFill>
                            <a:srgbClr val="FFFFFF"/>
                          </a:solidFill>
                          <a:latin typeface="Calibri"/>
                        </a:rPr>
                        <a:t>Adopted</a:t>
                      </a:r>
                    </a:p>
                  </a:txBody>
                  <a:tcPr marL="73152" marR="73152" marT="27432" marB="27432" anchor="ctr">
                    <a:solidFill>
                      <a:srgbClr val="14213D"/>
                    </a:solidFill>
                  </a:tcPr>
                </a:tc>
              </a:tr>
              <a:tr h="384048">
                <a:tc>
                  <a:txBody>
                    <a:bodyPr wrap="square"/>
                    <a:lstStyle/>
                    <a:p>
                      <a:r>
                        <a:rPr sz="1200" b="0">
                          <a:solidFill>
                            <a:srgbClr val="1F2937"/>
                          </a:solidFill>
                          <a:latin typeface="Calibri"/>
                        </a:rPr>
                        <a:t>A</a:t>
                      </a:r>
                    </a:p>
                  </a:txBody>
                  <a:tcPr marL="73152" marR="73152" marT="27432" marB="27432" anchor="ctr">
                    <a:solidFill>
                      <a:srgbClr val="FFFFFF"/>
                    </a:solidFill>
                  </a:tcPr>
                </a:tc>
                <a:tc>
                  <a:txBody>
                    <a:bodyPr wrap="square"/>
                    <a:lstStyle/>
                    <a:p>
                      <a:r>
                        <a:rPr sz="1200" b="0">
                          <a:solidFill>
                            <a:srgbClr val="1F2937"/>
                          </a:solidFill>
                          <a:latin typeface="Calibri"/>
                        </a:rPr>
                        <a:t>default</a:t>
                      </a:r>
                    </a:p>
                  </a:txBody>
                  <a:tcPr marL="73152" marR="73152" marT="27432" marB="27432" anchor="ctr">
                    <a:solidFill>
                      <a:srgbClr val="FFFFFF"/>
                    </a:solidFill>
                  </a:tcPr>
                </a:tc>
                <a:tc>
                  <a:txBody>
                    <a:bodyPr wrap="square"/>
                    <a:lstStyle/>
                    <a:p>
                      <a:r>
                        <a:rPr sz="1200" b="0">
                          <a:solidFill>
                            <a:srgbClr val="1F2937"/>
                          </a:solidFill>
                          <a:latin typeface="Calibri"/>
                        </a:rPr>
                        <a:t>0.640</a:t>
                      </a:r>
                    </a:p>
                  </a:txBody>
                  <a:tcPr marL="73152" marR="73152" marT="27432" marB="27432" anchor="ctr">
                    <a:solidFill>
                      <a:srgbClr val="FFFFFF"/>
                    </a:solidFill>
                  </a:tcPr>
                </a:tc>
                <a:tc>
                  <a:txBody>
                    <a:bodyPr wrap="square"/>
                    <a:lstStyle/>
                    <a:p>
                      <a:r>
                        <a:rPr sz="1200" b="0">
                          <a:solidFill>
                            <a:srgbClr val="1F2937"/>
                          </a:solidFill>
                          <a:latin typeface="Calibri"/>
                        </a:rPr>
                        <a:t>+0.000</a:t>
                      </a:r>
                    </a:p>
                  </a:txBody>
                  <a:tcPr marL="73152" marR="73152" marT="27432" marB="27432" anchor="ctr">
                    <a:solidFill>
                      <a:srgbClr val="FFFFFF"/>
                    </a:solidFill>
                  </a:tcPr>
                </a:tc>
                <a:tc>
                  <a:txBody>
                    <a:bodyPr wrap="square"/>
                    <a:lstStyle/>
                    <a:p>
                      <a:r>
                        <a:rPr sz="1200" b="0">
                          <a:solidFill>
                            <a:srgbClr val="1F2937"/>
                          </a:solidFill>
                          <a:latin typeface="Calibri"/>
                        </a:rPr>
                        <a:t>0.601</a:t>
                      </a:r>
                    </a:p>
                  </a:txBody>
                  <a:tcPr marL="73152" marR="73152" marT="27432" marB="27432" anchor="ctr">
                    <a:solidFill>
                      <a:srgbClr val="FFFFFF"/>
                    </a:solidFill>
                  </a:tcPr>
                </a:tc>
                <a:tc>
                  <a:txBody>
                    <a:bodyPr wrap="square"/>
                    <a:lstStyle/>
                    <a:p>
                      <a:r>
                        <a:rPr sz="1200" b="0">
                          <a:solidFill>
                            <a:srgbClr val="1F2937"/>
                          </a:solidFill>
                          <a:latin typeface="Calibri"/>
                        </a:rPr>
                        <a:t>yes</a:t>
                      </a:r>
                    </a:p>
                  </a:txBody>
                  <a:tcPr marL="73152" marR="73152" marT="27432" marB="27432" anchor="ctr">
                    <a:solidFill>
                      <a:srgbClr val="FFFFFF"/>
                    </a:solidFill>
                  </a:tcPr>
                </a:tc>
              </a:tr>
              <a:tr h="384048">
                <a:tc>
                  <a:txBody>
                    <a:bodyPr wrap="square"/>
                    <a:lstStyle/>
                    <a:p>
                      <a:r>
                        <a:rPr sz="1200" b="0">
                          <a:solidFill>
                            <a:srgbClr val="1F2937"/>
                          </a:solidFill>
                          <a:latin typeface="Calibri"/>
                        </a:rPr>
                        <a:t>A</a:t>
                      </a:r>
                    </a:p>
                  </a:txBody>
                  <a:tcPr marL="73152" marR="73152" marT="27432" marB="27432" anchor="ctr">
                    <a:solidFill>
                      <a:srgbClr val="F6F8FB"/>
                    </a:solidFill>
                  </a:tcPr>
                </a:tc>
                <a:tc>
                  <a:txBody>
                    <a:bodyPr wrap="square"/>
                    <a:lstStyle/>
                    <a:p>
                      <a:r>
                        <a:rPr sz="1200" b="0">
                          <a:solidFill>
                            <a:srgbClr val="1F2937"/>
                          </a:solidFill>
                          <a:latin typeface="Calibri"/>
                        </a:rPr>
                        <a:t>tuned (best trial)</a:t>
                      </a:r>
                    </a:p>
                  </a:txBody>
                  <a:tcPr marL="73152" marR="73152" marT="27432" marB="27432" anchor="ctr">
                    <a:solidFill>
                      <a:srgbClr val="F6F8FB"/>
                    </a:solidFill>
                  </a:tcPr>
                </a:tc>
                <a:tc>
                  <a:txBody>
                    <a:bodyPr wrap="square"/>
                    <a:lstStyle/>
                    <a:p>
                      <a:r>
                        <a:rPr sz="1200" b="0">
                          <a:solidFill>
                            <a:srgbClr val="1F2937"/>
                          </a:solidFill>
                          <a:latin typeface="Calibri"/>
                        </a:rPr>
                        <a:t>0.648</a:t>
                      </a:r>
                    </a:p>
                  </a:txBody>
                  <a:tcPr marL="73152" marR="73152" marT="27432" marB="27432" anchor="ctr">
                    <a:solidFill>
                      <a:srgbClr val="F6F8FB"/>
                    </a:solidFill>
                  </a:tcPr>
                </a:tc>
                <a:tc>
                  <a:txBody>
                    <a:bodyPr wrap="square"/>
                    <a:lstStyle/>
                    <a:p>
                      <a:r>
                        <a:rPr sz="1200" b="0">
                          <a:solidFill>
                            <a:srgbClr val="1F2937"/>
                          </a:solidFill>
                          <a:latin typeface="Calibri"/>
                        </a:rPr>
                        <a:t>+0.008</a:t>
                      </a:r>
                    </a:p>
                  </a:txBody>
                  <a:tcPr marL="73152" marR="73152" marT="27432" marB="27432" anchor="ctr">
                    <a:solidFill>
                      <a:srgbClr val="F6F8FB"/>
                    </a:solidFill>
                  </a:tcPr>
                </a:tc>
                <a:tc>
                  <a:txBody>
                    <a:bodyPr wrap="square"/>
                    <a:lstStyle/>
                    <a:p>
                      <a:r>
                        <a:rPr sz="1200" b="0">
                          <a:solidFill>
                            <a:srgbClr val="1F2937"/>
                          </a:solidFill>
                          <a:latin typeface="Calibri"/>
                        </a:rPr>
                        <a:t>0.595</a:t>
                      </a:r>
                    </a:p>
                  </a:txBody>
                  <a:tcPr marL="73152" marR="73152" marT="27432" marB="27432" anchor="ctr">
                    <a:solidFill>
                      <a:srgbClr val="F6F8FB"/>
                    </a:solidFill>
                  </a:tcPr>
                </a:tc>
                <a:tc>
                  <a:txBody>
                    <a:bodyPr wrap="square"/>
                    <a:lstStyle/>
                    <a:p>
                      <a:r>
                        <a:rPr sz="1200" b="0">
                          <a:solidFill>
                            <a:srgbClr val="1F2937"/>
                          </a:solidFill>
                          <a:latin typeface="Calibri"/>
                        </a:rPr>
                        <a:t>no</a:t>
                      </a:r>
                    </a:p>
                  </a:txBody>
                  <a:tcPr marL="73152" marR="73152" marT="27432" marB="27432" anchor="ctr">
                    <a:solidFill>
                      <a:srgbClr val="F6F8FB"/>
                    </a:solidFill>
                  </a:tcPr>
                </a:tc>
              </a:tr>
              <a:tr h="384048">
                <a:tc>
                  <a:txBody>
                    <a:bodyPr wrap="square"/>
                    <a:lstStyle/>
                    <a:p>
                      <a:r>
                        <a:rPr sz="1200" b="0">
                          <a:solidFill>
                            <a:srgbClr val="1F2937"/>
                          </a:solidFill>
                          <a:latin typeface="Calibri"/>
                        </a:rPr>
                        <a:t>B</a:t>
                      </a:r>
                    </a:p>
                  </a:txBody>
                  <a:tcPr marL="73152" marR="73152" marT="27432" marB="27432" anchor="ctr">
                    <a:solidFill>
                      <a:srgbClr val="FFFFFF"/>
                    </a:solidFill>
                  </a:tcPr>
                </a:tc>
                <a:tc>
                  <a:txBody>
                    <a:bodyPr wrap="square"/>
                    <a:lstStyle/>
                    <a:p>
                      <a:r>
                        <a:rPr sz="1200" b="0">
                          <a:solidFill>
                            <a:srgbClr val="1F2937"/>
                          </a:solidFill>
                          <a:latin typeface="Calibri"/>
                        </a:rPr>
                        <a:t>default</a:t>
                      </a:r>
                    </a:p>
                  </a:txBody>
                  <a:tcPr marL="73152" marR="73152" marT="27432" marB="27432" anchor="ctr">
                    <a:solidFill>
                      <a:srgbClr val="FFFFFF"/>
                    </a:solidFill>
                  </a:tcPr>
                </a:tc>
                <a:tc>
                  <a:txBody>
                    <a:bodyPr wrap="square"/>
                    <a:lstStyle/>
                    <a:p>
                      <a:r>
                        <a:rPr sz="1200" b="0">
                          <a:solidFill>
                            <a:srgbClr val="1F2937"/>
                          </a:solidFill>
                          <a:latin typeface="Calibri"/>
                        </a:rPr>
                        <a:t>0.666</a:t>
                      </a:r>
                    </a:p>
                  </a:txBody>
                  <a:tcPr marL="73152" marR="73152" marT="27432" marB="27432" anchor="ctr">
                    <a:solidFill>
                      <a:srgbClr val="FFFFFF"/>
                    </a:solidFill>
                  </a:tcPr>
                </a:tc>
                <a:tc>
                  <a:txBody>
                    <a:bodyPr wrap="square"/>
                    <a:lstStyle/>
                    <a:p>
                      <a:r>
                        <a:rPr sz="1200" b="0">
                          <a:solidFill>
                            <a:srgbClr val="1F2937"/>
                          </a:solidFill>
                          <a:latin typeface="Calibri"/>
                        </a:rPr>
                        <a:t>+0.000</a:t>
                      </a:r>
                    </a:p>
                  </a:txBody>
                  <a:tcPr marL="73152" marR="73152" marT="27432" marB="27432" anchor="ctr">
                    <a:solidFill>
                      <a:srgbClr val="FFFFFF"/>
                    </a:solidFill>
                  </a:tcPr>
                </a:tc>
                <a:tc>
                  <a:txBody>
                    <a:bodyPr wrap="square"/>
                    <a:lstStyle/>
                    <a:p>
                      <a:r>
                        <a:rPr sz="1200" b="0">
                          <a:solidFill>
                            <a:srgbClr val="1F2937"/>
                          </a:solidFill>
                          <a:latin typeface="Calibri"/>
                        </a:rPr>
                        <a:t>0.647</a:t>
                      </a:r>
                    </a:p>
                  </a:txBody>
                  <a:tcPr marL="73152" marR="73152" marT="27432" marB="27432" anchor="ctr">
                    <a:solidFill>
                      <a:srgbClr val="FFFFFF"/>
                    </a:solidFill>
                  </a:tcPr>
                </a:tc>
                <a:tc>
                  <a:txBody>
                    <a:bodyPr wrap="square"/>
                    <a:lstStyle/>
                    <a:p>
                      <a:r>
                        <a:rPr sz="1200" b="0">
                          <a:solidFill>
                            <a:srgbClr val="1F2937"/>
                          </a:solidFill>
                          <a:latin typeface="Calibri"/>
                        </a:rPr>
                        <a:t>yes</a:t>
                      </a:r>
                    </a:p>
                  </a:txBody>
                  <a:tcPr marL="73152" marR="73152" marT="27432" marB="27432" anchor="ctr">
                    <a:solidFill>
                      <a:srgbClr val="FFFFFF"/>
                    </a:solidFill>
                  </a:tcPr>
                </a:tc>
              </a:tr>
              <a:tr h="384048">
                <a:tc>
                  <a:txBody>
                    <a:bodyPr wrap="square"/>
                    <a:lstStyle/>
                    <a:p>
                      <a:r>
                        <a:rPr sz="1200" b="0">
                          <a:solidFill>
                            <a:srgbClr val="1F2937"/>
                          </a:solidFill>
                          <a:latin typeface="Calibri"/>
                        </a:rPr>
                        <a:t>B</a:t>
                      </a:r>
                    </a:p>
                  </a:txBody>
                  <a:tcPr marL="73152" marR="73152" marT="27432" marB="27432" anchor="ctr">
                    <a:solidFill>
                      <a:srgbClr val="F6F8FB"/>
                    </a:solidFill>
                  </a:tcPr>
                </a:tc>
                <a:tc>
                  <a:txBody>
                    <a:bodyPr wrap="square"/>
                    <a:lstStyle/>
                    <a:p>
                      <a:r>
                        <a:rPr sz="1200" b="0">
                          <a:solidFill>
                            <a:srgbClr val="1F2937"/>
                          </a:solidFill>
                          <a:latin typeface="Calibri"/>
                        </a:rPr>
                        <a:t>tuned (best trial)</a:t>
                      </a:r>
                    </a:p>
                  </a:txBody>
                  <a:tcPr marL="73152" marR="73152" marT="27432" marB="27432" anchor="ctr">
                    <a:solidFill>
                      <a:srgbClr val="F6F8FB"/>
                    </a:solidFill>
                  </a:tcPr>
                </a:tc>
                <a:tc>
                  <a:txBody>
                    <a:bodyPr wrap="square"/>
                    <a:lstStyle/>
                    <a:p>
                      <a:r>
                        <a:rPr sz="1200" b="0">
                          <a:solidFill>
                            <a:srgbClr val="1F2937"/>
                          </a:solidFill>
                          <a:latin typeface="Calibri"/>
                        </a:rPr>
                        <a:t>0.674</a:t>
                      </a:r>
                    </a:p>
                  </a:txBody>
                  <a:tcPr marL="73152" marR="73152" marT="27432" marB="27432" anchor="ctr">
                    <a:solidFill>
                      <a:srgbClr val="F6F8FB"/>
                    </a:solidFill>
                  </a:tcPr>
                </a:tc>
                <a:tc>
                  <a:txBody>
                    <a:bodyPr wrap="square"/>
                    <a:lstStyle/>
                    <a:p>
                      <a:r>
                        <a:rPr sz="1200" b="0">
                          <a:solidFill>
                            <a:srgbClr val="1F2937"/>
                          </a:solidFill>
                          <a:latin typeface="Calibri"/>
                        </a:rPr>
                        <a:t>+0.009</a:t>
                      </a:r>
                    </a:p>
                  </a:txBody>
                  <a:tcPr marL="73152" marR="73152" marT="27432" marB="27432" anchor="ctr">
                    <a:solidFill>
                      <a:srgbClr val="F6F8FB"/>
                    </a:solidFill>
                  </a:tcPr>
                </a:tc>
                <a:tc>
                  <a:txBody>
                    <a:bodyPr wrap="square"/>
                    <a:lstStyle/>
                    <a:p>
                      <a:r>
                        <a:rPr sz="1200" b="0">
                          <a:solidFill>
                            <a:srgbClr val="1F2937"/>
                          </a:solidFill>
                          <a:latin typeface="Calibri"/>
                        </a:rPr>
                        <a:t>0.655</a:t>
                      </a:r>
                    </a:p>
                  </a:txBody>
                  <a:tcPr marL="73152" marR="73152" marT="27432" marB="27432" anchor="ctr">
                    <a:solidFill>
                      <a:srgbClr val="F6F8FB"/>
                    </a:solidFill>
                  </a:tcPr>
                </a:tc>
                <a:tc>
                  <a:txBody>
                    <a:bodyPr wrap="square"/>
                    <a:lstStyle/>
                    <a:p>
                      <a:r>
                        <a:rPr sz="1200" b="0">
                          <a:solidFill>
                            <a:srgbClr val="1F2937"/>
                          </a:solidFill>
                          <a:latin typeface="Calibri"/>
                        </a:rPr>
                        <a:t>no</a:t>
                      </a:r>
                    </a:p>
                  </a:txBody>
                  <a:tcPr marL="73152" marR="73152" marT="27432" marB="27432" anchor="ctr">
                    <a:solidFill>
                      <a:srgbClr val="F6F8FB"/>
                    </a:solidFill>
                  </a:tcPr>
                </a:tc>
              </a:tr>
            </a:tbl>
          </a:graphicData>
        </a:graphic>
      </p:graphicFrame>
      <p:sp>
        <p:nvSpPr>
          <p:cNvPr id="9" name="Rounded Rectangle 8"/>
          <p:cNvSpPr/>
          <p:nvPr/>
        </p:nvSpPr>
        <p:spPr>
          <a:xfrm>
            <a:off x="8092440" y="3383280"/>
            <a:ext cx="3566160" cy="27889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474720"/>
            <a:ext cx="3291840" cy="365760"/>
          </a:xfrm>
          <a:prstGeom prst="rect">
            <a:avLst/>
          </a:prstGeom>
          <a:noFill/>
        </p:spPr>
        <p:txBody>
          <a:bodyPr wrap="square" anchor="t" lIns="36576" rIns="36576" tIns="18288" bIns="18288">
            <a:spAutoFit/>
          </a:bodyPr>
          <a:lstStyle/>
          <a:p>
            <a:pPr algn="l"/>
            <a:r>
              <a:rPr sz="1400" b="1" i="0">
                <a:solidFill>
                  <a:srgbClr val="14213D"/>
                </a:solidFill>
                <a:latin typeface="Calibri"/>
              </a:rPr>
              <a:t>Result</a:t>
            </a:r>
          </a:p>
        </p:txBody>
      </p:sp>
      <p:sp>
        <p:nvSpPr>
          <p:cNvPr id="11" name="TextBox 10"/>
          <p:cNvSpPr txBox="1"/>
          <p:nvPr/>
        </p:nvSpPr>
        <p:spPr>
          <a:xfrm>
            <a:off x="8229600" y="3840480"/>
            <a:ext cx="3291840" cy="2286000"/>
          </a:xfrm>
          <a:prstGeom prst="rect">
            <a:avLst/>
          </a:prstGeom>
          <a:noFill/>
        </p:spPr>
        <p:txBody>
          <a:bodyPr wrap="square" anchor="t" lIns="36576" rIns="36576" tIns="18288" bIns="18288">
            <a:spAutoFit/>
          </a:bodyPr>
          <a:lstStyle/>
          <a:p>
            <a:pPr algn="l"/>
            <a:r>
              <a:rPr sz="1150" b="0" i="0">
                <a:solidFill>
                  <a:srgbClr val="1F2937"/>
                </a:solidFill>
                <a:latin typeface="Calibri"/>
              </a:rPr>
              <a:t>Best trials: A +0.008, B +0.009 (rule needs +0.02). On validation A's tuned model is worse. Learning rate explains most of the variation; the defaults were already near the optimum.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nchor="t" lIns="36576" rIns="36576" tIns="18288" bIns="18288">
            <a:spAutoFit/>
          </a:bodyPr>
          <a:lstStyle/>
          <a:p>
            <a:pPr algn="l"/>
            <a:r>
              <a:rPr sz="1600" b="1" i="0">
                <a:solidFill>
                  <a:srgbClr val="CADCFC"/>
                </a:solidFill>
                <a:latin typeface="Calibri"/>
              </a:rPr>
              <a:t>PART 5</a:t>
            </a:r>
          </a:p>
        </p:txBody>
      </p:sp>
      <p:sp>
        <p:nvSpPr>
          <p:cNvPr id="3" name="TextBox 2"/>
          <p:cNvSpPr txBox="1"/>
          <p:nvPr/>
        </p:nvSpPr>
        <p:spPr>
          <a:xfrm>
            <a:off x="822960" y="2377440"/>
            <a:ext cx="10515600" cy="1097280"/>
          </a:xfrm>
          <a:prstGeom prst="rect">
            <a:avLst/>
          </a:prstGeom>
          <a:noFill/>
        </p:spPr>
        <p:txBody>
          <a:bodyPr wrap="square" anchor="t" lIns="36576" rIns="36576" tIns="18288" bIns="18288">
            <a:spAutoFit/>
          </a:bodyPr>
          <a:lstStyle/>
          <a:p>
            <a:pPr algn="l"/>
            <a:r>
              <a:rPr sz="4400" b="1" i="0">
                <a:solidFill>
                  <a:srgbClr val="FFFFFF"/>
                </a:solidFill>
                <a:latin typeface="Cambria"/>
              </a:rPr>
              <a:t>Error and robustness analysis</a:t>
            </a:r>
          </a:p>
        </p:txBody>
      </p:sp>
      <p:sp>
        <p:nvSpPr>
          <p:cNvPr id="4" name="TextBox 3"/>
          <p:cNvSpPr txBox="1"/>
          <p:nvPr/>
        </p:nvSpPr>
        <p:spPr>
          <a:xfrm>
            <a:off x="822960" y="3520440"/>
            <a:ext cx="10058400" cy="914400"/>
          </a:xfrm>
          <a:prstGeom prst="rect">
            <a:avLst/>
          </a:prstGeom>
          <a:noFill/>
        </p:spPr>
        <p:txBody>
          <a:bodyPr wrap="square" anchor="t" lIns="36576" rIns="36576" tIns="18288" bIns="18288">
            <a:spAutoFit/>
          </a:bodyPr>
          <a:lstStyle/>
          <a:p>
            <a:pPr algn="l"/>
            <a:r>
              <a:rPr sz="1800" b="0" i="0">
                <a:solidFill>
                  <a:srgbClr val="CADCFC"/>
                </a:solidFill>
                <a:latin typeface="Calibri"/>
              </a:rPr>
              <a:t>Where does the champion make mistakes, for whom, and how much bad input can it take before it breaks?</a:t>
            </a:r>
          </a:p>
        </p:txBody>
      </p:sp>
      <p:sp>
        <p:nvSpPr>
          <p:cNvPr id="5" name="Rounded Rectangle 4"/>
          <p:cNvSpPr/>
          <p:nvPr/>
        </p:nvSpPr>
        <p:spPr>
          <a:xfrm>
            <a:off x="822960" y="4572000"/>
            <a:ext cx="2377440" cy="457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Step 32</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Where the errors are</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32</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25</a:t>
            </a:r>
          </a:p>
        </p:txBody>
      </p:sp>
      <p:graphicFrame>
        <p:nvGraphicFramePr>
          <p:cNvPr id="6" name="Chart 5"/>
          <p:cNvGraphicFramePr>
            <a:graphicFrameLocks noGrp="1"/>
          </p:cNvGraphicFramePr>
          <p:nvPr/>
        </p:nvGraphicFramePr>
        <p:xfrm>
          <a:off x="548640" y="1325880"/>
          <a:ext cx="4572000" cy="3291840"/>
        </p:xfrm>
        <a:graphic>
          <a:graphicData uri="http://schemas.openxmlformats.org/drawingml/2006/chart">
            <c:chart xmlns:c="http://schemas.openxmlformats.org/drawingml/2006/chart" r:id="rId2"/>
          </a:graphicData>
        </a:graphic>
      </p:graphicFrame>
      <p:pic>
        <p:nvPicPr>
          <p:cNvPr id="7" name="32_2_error_profiles.png" descr="32_2_error_profiles.png"/>
          <p:cNvPicPr>
            <a:picLocks noChangeAspect="1"/>
          </p:cNvPicPr>
          <p:nvPr/>
        </p:nvPicPr>
        <p:blipFill>
          <a:blip r:embed="rId3"/>
          <a:stretch>
            <a:fillRect/>
          </a:stretch>
        </p:blipFill>
        <p:spPr>
          <a:xfrm>
            <a:off x="5303520" y="1508181"/>
            <a:ext cx="6400800" cy="2835797"/>
          </a:xfrm>
          <a:prstGeom prst="rect">
            <a:avLst/>
          </a:prstGeom>
        </p:spPr>
      </p:pic>
      <p:sp>
        <p:nvSpPr>
          <p:cNvPr id="8" name="TextBox 7"/>
          <p:cNvSpPr txBox="1"/>
          <p:nvPr/>
        </p:nvSpPr>
        <p:spPr>
          <a:xfrm>
            <a:off x="548640" y="4846320"/>
            <a:ext cx="11064240" cy="146304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Missed defaulters look like good loans: </a:t>
            </a:r>
            <a:r>
              <a:rPr sz="1400" b="0">
                <a:solidFill>
                  <a:srgbClr val="1F2937"/>
                </a:solidFill>
                <a:latin typeface="Calibri"/>
              </a:rPr>
              <a:t>on the debt features they sit near the 40th–45th percentile, while caught defaulters sit near the 78th — hard cases, not a bug.</a:t>
            </a:r>
          </a:p>
          <a:p>
            <a:pPr marL="201168" indent="-182880">
              <a:spcAft>
                <a:spcPts val="800"/>
              </a:spcAft>
              <a:buFont typeface="Arial"/>
              <a:buChar char="•"/>
            </a:pPr>
            <a:r>
              <a:rPr sz="1400" b="1">
                <a:solidFill>
                  <a:srgbClr val="1F2937"/>
                </a:solidFill>
                <a:latin typeface="Calibri"/>
              </a:rPr>
              <a:t>False alarms look like defaulters </a:t>
            </a:r>
            <a:r>
              <a:rPr sz="1400" b="0">
                <a:solidFill>
                  <a:srgbClr val="1F2937"/>
                </a:solidFill>
                <a:latin typeface="Calibri"/>
              </a:rPr>
              <a:t>on the same features — the price of catching 70% of defaults.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Segments: few real weaknesses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32</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26</a:t>
            </a:r>
          </a:p>
        </p:txBody>
      </p:sp>
      <p:pic>
        <p:nvPicPr>
          <p:cNvPr id="6" name="32_1_segment_performance.png" descr="32_1_segment_performance.png"/>
          <p:cNvPicPr>
            <a:picLocks noChangeAspect="1"/>
          </p:cNvPicPr>
          <p:nvPr/>
        </p:nvPicPr>
        <p:blipFill>
          <a:blip r:embed="rId2"/>
          <a:stretch>
            <a:fillRect/>
          </a:stretch>
        </p:blipFill>
        <p:spPr>
          <a:xfrm>
            <a:off x="457200" y="1653220"/>
            <a:ext cx="5760720" cy="4191639"/>
          </a:xfrm>
          <a:prstGeom prst="rect">
            <a:avLst/>
          </a:prstGeom>
        </p:spPr>
      </p:pic>
      <p:graphicFrame>
        <p:nvGraphicFramePr>
          <p:cNvPr id="7" name="Table"/>
          <p:cNvGraphicFramePr>
            <a:graphicFrameLocks noGrp="1"/>
          </p:cNvGraphicFramePr>
          <p:nvPr/>
        </p:nvGraphicFramePr>
        <p:xfrm>
          <a:off x="6400800" y="1325880"/>
          <a:ext cx="5257800" cy="1737360"/>
        </p:xfrm>
        <a:graphic>
          <a:graphicData uri="http://schemas.openxmlformats.org/drawingml/2006/table">
            <a:tbl>
              <a:tblPr firstRow="0" bandRow="0">
                <a:tableStyleId>{5940675A-B579-460E-94D1-54222C63F5DA}</a:tableStyleId>
              </a:tblPr>
              <a:tblGrid>
                <a:gridCol w="548640"/>
                <a:gridCol w="2514600"/>
                <a:gridCol w="548640"/>
                <a:gridCol w="822960"/>
                <a:gridCol w="822960"/>
              </a:tblGrid>
              <a:tr h="347472">
                <a:tc>
                  <a:txBody>
                    <a:bodyPr wrap="square"/>
                    <a:lstStyle/>
                    <a:p>
                      <a:r>
                        <a:rPr sz="1050" b="1">
                          <a:solidFill>
                            <a:srgbClr val="FFFFFF"/>
                          </a:solidFill>
                          <a:latin typeface="Calibri"/>
                        </a:rPr>
                        <a:t>Set</a:t>
                      </a:r>
                    </a:p>
                  </a:txBody>
                  <a:tcPr marL="73152" marR="73152" marT="27432" marB="27432" anchor="ctr">
                    <a:solidFill>
                      <a:srgbClr val="14213D"/>
                    </a:solidFill>
                  </a:tcPr>
                </a:tc>
                <a:tc>
                  <a:txBody>
                    <a:bodyPr wrap="square"/>
                    <a:lstStyle/>
                    <a:p>
                      <a:r>
                        <a:rPr sz="1050" b="1">
                          <a:solidFill>
                            <a:srgbClr val="FFFFFF"/>
                          </a:solidFill>
                          <a:latin typeface="Calibri"/>
                        </a:rPr>
                        <a:t>Segment</a:t>
                      </a:r>
                    </a:p>
                  </a:txBody>
                  <a:tcPr marL="73152" marR="73152" marT="27432" marB="27432" anchor="ctr">
                    <a:solidFill>
                      <a:srgbClr val="14213D"/>
                    </a:solidFill>
                  </a:tcPr>
                </a:tc>
                <a:tc>
                  <a:txBody>
                    <a:bodyPr wrap="square"/>
                    <a:lstStyle/>
                    <a:p>
                      <a:r>
                        <a:rPr sz="1050" b="1">
                          <a:solidFill>
                            <a:srgbClr val="FFFFFF"/>
                          </a:solidFill>
                          <a:latin typeface="Calibri"/>
                        </a:rPr>
                        <a:t>n</a:t>
                      </a:r>
                    </a:p>
                  </a:txBody>
                  <a:tcPr marL="73152" marR="73152" marT="27432" marB="27432" anchor="ctr">
                    <a:solidFill>
                      <a:srgbClr val="14213D"/>
                    </a:solidFill>
                  </a:tcPr>
                </a:tc>
                <a:tc>
                  <a:txBody>
                    <a:bodyPr wrap="square"/>
                    <a:lstStyle/>
                    <a:p>
                      <a:r>
                        <a:rPr sz="1050" b="1">
                          <a:solidFill>
                            <a:srgbClr val="FFFFFF"/>
                          </a:solidFill>
                          <a:latin typeface="Calibri"/>
                        </a:rPr>
                        <a:t>Actual</a:t>
                      </a:r>
                    </a:p>
                  </a:txBody>
                  <a:tcPr marL="73152" marR="73152" marT="27432" marB="27432" anchor="ctr">
                    <a:solidFill>
                      <a:srgbClr val="14213D"/>
                    </a:solidFill>
                  </a:tcPr>
                </a:tc>
                <a:tc>
                  <a:txBody>
                    <a:bodyPr wrap="square"/>
                    <a:lstStyle/>
                    <a:p>
                      <a:r>
                        <a:rPr sz="1050" b="1">
                          <a:solidFill>
                            <a:srgbClr val="FFFFFF"/>
                          </a:solidFill>
                          <a:latin typeface="Calibri"/>
                        </a:rPr>
                        <a:t>Predicted</a:t>
                      </a:r>
                    </a:p>
                  </a:txBody>
                  <a:tcPr marL="73152" marR="73152" marT="27432" marB="27432" anchor="ctr">
                    <a:solidFill>
                      <a:srgbClr val="14213D"/>
                    </a:solidFill>
                  </a:tcPr>
                </a:tc>
              </a:tr>
              <a:tr h="347472">
                <a:tc>
                  <a:txBody>
                    <a:bodyPr wrap="square"/>
                    <a:lstStyle/>
                    <a:p>
                      <a:r>
                        <a:rPr sz="1050" b="0">
                          <a:solidFill>
                            <a:srgbClr val="1F2937"/>
                          </a:solidFill>
                          <a:latin typeface="Calibri"/>
                        </a:rPr>
                        <a:t>OOT</a:t>
                      </a:r>
                    </a:p>
                  </a:txBody>
                  <a:tcPr marL="73152" marR="73152" marT="27432" marB="27432" anchor="ctr">
                    <a:solidFill>
                      <a:srgbClr val="FFFFFF"/>
                    </a:solidFill>
                  </a:tcPr>
                </a:tc>
                <a:tc>
                  <a:txBody>
                    <a:bodyPr wrap="square"/>
                    <a:lstStyle/>
                    <a:p>
                      <a:r>
                        <a:rPr sz="1050" b="0">
                          <a:solidFill>
                            <a:srgbClr val="1F2937"/>
                          </a:solidFill>
                          <a:latin typeface="Calibri"/>
                        </a:rPr>
                        <a:t>Occupation: Manager</a:t>
                      </a:r>
                    </a:p>
                  </a:txBody>
                  <a:tcPr marL="73152" marR="73152" marT="27432" marB="27432" anchor="ctr">
                    <a:solidFill>
                      <a:srgbClr val="FFFFFF"/>
                    </a:solidFill>
                  </a:tcPr>
                </a:tc>
                <a:tc>
                  <a:txBody>
                    <a:bodyPr wrap="square"/>
                    <a:lstStyle/>
                    <a:p>
                      <a:r>
                        <a:rPr sz="1050" b="0">
                          <a:solidFill>
                            <a:srgbClr val="1F2937"/>
                          </a:solidFill>
                          <a:latin typeface="Calibri"/>
                        </a:rPr>
                        <a:t>218</a:t>
                      </a:r>
                    </a:p>
                  </a:txBody>
                  <a:tcPr marL="73152" marR="73152" marT="27432" marB="27432" anchor="ctr">
                    <a:solidFill>
                      <a:srgbClr val="FFFFFF"/>
                    </a:solidFill>
                  </a:tcPr>
                </a:tc>
                <a:tc>
                  <a:txBody>
                    <a:bodyPr wrap="square"/>
                    <a:lstStyle/>
                    <a:p>
                      <a:r>
                        <a:rPr sz="1050" b="0">
                          <a:solidFill>
                            <a:srgbClr val="1F2937"/>
                          </a:solidFill>
                          <a:latin typeface="Calibri"/>
                        </a:rPr>
                        <a:t>30%</a:t>
                      </a:r>
                    </a:p>
                  </a:txBody>
                  <a:tcPr marL="73152" marR="73152" marT="27432" marB="27432" anchor="ctr">
                    <a:solidFill>
                      <a:srgbClr val="FFFFFF"/>
                    </a:solidFill>
                  </a:tcPr>
                </a:tc>
                <a:tc>
                  <a:txBody>
                    <a:bodyPr wrap="square"/>
                    <a:lstStyle/>
                    <a:p>
                      <a:r>
                        <a:rPr sz="1050" b="0">
                          <a:solidFill>
                            <a:srgbClr val="1F2937"/>
                          </a:solidFill>
                          <a:latin typeface="Calibri"/>
                        </a:rPr>
                        <a:t>24%</a:t>
                      </a:r>
                    </a:p>
                  </a:txBody>
                  <a:tcPr marL="73152" marR="73152" marT="27432" marB="27432" anchor="ctr">
                    <a:solidFill>
                      <a:srgbClr val="FFFFFF"/>
                    </a:solidFill>
                  </a:tcPr>
                </a:tc>
              </a:tr>
              <a:tr h="347472">
                <a:tc>
                  <a:txBody>
                    <a:bodyPr wrap="square"/>
                    <a:lstStyle/>
                    <a:p>
                      <a:r>
                        <a:rPr sz="1050" b="0">
                          <a:solidFill>
                            <a:srgbClr val="1F2937"/>
                          </a:solidFill>
                          <a:latin typeface="Calibri"/>
                        </a:rPr>
                        <a:t>OOT</a:t>
                      </a:r>
                    </a:p>
                  </a:txBody>
                  <a:tcPr marL="73152" marR="73152" marT="27432" marB="27432" anchor="ctr">
                    <a:solidFill>
                      <a:srgbClr val="F6F8FB"/>
                    </a:solidFill>
                  </a:tcPr>
                </a:tc>
                <a:tc>
                  <a:txBody>
                    <a:bodyPr wrap="square"/>
                    <a:lstStyle/>
                    <a:p>
                      <a:r>
                        <a:rPr sz="1050" b="0">
                          <a:solidFill>
                            <a:srgbClr val="1F2937"/>
                          </a:solidFill>
                          <a:latin typeface="Calibri"/>
                        </a:rPr>
                        <a:t>Income quintile (train edges): Q4</a:t>
                      </a:r>
                    </a:p>
                  </a:txBody>
                  <a:tcPr marL="73152" marR="73152" marT="27432" marB="27432" anchor="ctr">
                    <a:solidFill>
                      <a:srgbClr val="F6F8FB"/>
                    </a:solidFill>
                  </a:tcPr>
                </a:tc>
                <a:tc>
                  <a:txBody>
                    <a:bodyPr wrap="square"/>
                    <a:lstStyle/>
                    <a:p>
                      <a:r>
                        <a:rPr sz="1050" b="0">
                          <a:solidFill>
                            <a:srgbClr val="1F2937"/>
                          </a:solidFill>
                          <a:latin typeface="Calibri"/>
                        </a:rPr>
                        <a:t>708</a:t>
                      </a:r>
                    </a:p>
                  </a:txBody>
                  <a:tcPr marL="73152" marR="73152" marT="27432" marB="27432" anchor="ctr">
                    <a:solidFill>
                      <a:srgbClr val="F6F8FB"/>
                    </a:solidFill>
                  </a:tcPr>
                </a:tc>
                <a:tc>
                  <a:txBody>
                    <a:bodyPr wrap="square"/>
                    <a:lstStyle/>
                    <a:p>
                      <a:r>
                        <a:rPr sz="1050" b="0">
                          <a:solidFill>
                            <a:srgbClr val="1F2937"/>
                          </a:solidFill>
                          <a:latin typeface="Calibri"/>
                        </a:rPr>
                        <a:t>35%</a:t>
                      </a:r>
                    </a:p>
                  </a:txBody>
                  <a:tcPr marL="73152" marR="73152" marT="27432" marB="27432" anchor="ctr">
                    <a:solidFill>
                      <a:srgbClr val="F6F8FB"/>
                    </a:solidFill>
                  </a:tcPr>
                </a:tc>
                <a:tc>
                  <a:txBody>
                    <a:bodyPr wrap="square"/>
                    <a:lstStyle/>
                    <a:p>
                      <a:r>
                        <a:rPr sz="1050" b="0">
                          <a:solidFill>
                            <a:srgbClr val="1F2937"/>
                          </a:solidFill>
                          <a:latin typeface="Calibri"/>
                        </a:rPr>
                        <a:t>30%</a:t>
                      </a:r>
                    </a:p>
                  </a:txBody>
                  <a:tcPr marL="73152" marR="73152" marT="27432" marB="27432" anchor="ctr">
                    <a:solidFill>
                      <a:srgbClr val="F6F8FB"/>
                    </a:solidFill>
                  </a:tcPr>
                </a:tc>
              </a:tr>
              <a:tr h="347472">
                <a:tc>
                  <a:txBody>
                    <a:bodyPr wrap="square"/>
                    <a:lstStyle/>
                    <a:p>
                      <a:r>
                        <a:rPr sz="1050" b="0">
                          <a:solidFill>
                            <a:srgbClr val="1F2937"/>
                          </a:solidFill>
                          <a:latin typeface="Calibri"/>
                        </a:rPr>
                        <a:t>TEST</a:t>
                      </a:r>
                    </a:p>
                  </a:txBody>
                  <a:tcPr marL="73152" marR="73152" marT="27432" marB="27432" anchor="ctr">
                    <a:solidFill>
                      <a:srgbClr val="FFFFFF"/>
                    </a:solidFill>
                  </a:tcPr>
                </a:tc>
                <a:tc>
                  <a:txBody>
                    <a:bodyPr wrap="square"/>
                    <a:lstStyle/>
                    <a:p>
                      <a:r>
                        <a:rPr sz="1050" b="0">
                          <a:solidFill>
                            <a:srgbClr val="1F2937"/>
                          </a:solidFill>
                          <a:latin typeface="Calibri"/>
                        </a:rPr>
                        <a:t>Credit_Mix: Bad</a:t>
                      </a:r>
                    </a:p>
                  </a:txBody>
                  <a:tcPr marL="73152" marR="73152" marT="27432" marB="27432" anchor="ctr">
                    <a:solidFill>
                      <a:srgbClr val="FFFFFF"/>
                    </a:solidFill>
                  </a:tcPr>
                </a:tc>
                <a:tc>
                  <a:txBody>
                    <a:bodyPr wrap="square"/>
                    <a:lstStyle/>
                    <a:p>
                      <a:r>
                        <a:rPr sz="1050" b="0">
                          <a:solidFill>
                            <a:srgbClr val="1F2937"/>
                          </a:solidFill>
                          <a:latin typeface="Calibri"/>
                        </a:rPr>
                        <a:t>254</a:t>
                      </a:r>
                    </a:p>
                  </a:txBody>
                  <a:tcPr marL="73152" marR="73152" marT="27432" marB="27432" anchor="ctr">
                    <a:solidFill>
                      <a:srgbClr val="FFFFFF"/>
                    </a:solidFill>
                  </a:tcPr>
                </a:tc>
                <a:tc>
                  <a:txBody>
                    <a:bodyPr wrap="square"/>
                    <a:lstStyle/>
                    <a:p>
                      <a:r>
                        <a:rPr sz="1050" b="0">
                          <a:solidFill>
                            <a:srgbClr val="1F2937"/>
                          </a:solidFill>
                          <a:latin typeface="Calibri"/>
                        </a:rPr>
                        <a:t>60%</a:t>
                      </a:r>
                    </a:p>
                  </a:txBody>
                  <a:tcPr marL="73152" marR="73152" marT="27432" marB="27432" anchor="ctr">
                    <a:solidFill>
                      <a:srgbClr val="FFFFFF"/>
                    </a:solidFill>
                  </a:tcPr>
                </a:tc>
                <a:tc>
                  <a:txBody>
                    <a:bodyPr wrap="square"/>
                    <a:lstStyle/>
                    <a:p>
                      <a:r>
                        <a:rPr sz="1050" b="0">
                          <a:solidFill>
                            <a:srgbClr val="1F2937"/>
                          </a:solidFill>
                          <a:latin typeface="Calibri"/>
                        </a:rPr>
                        <a:t>55%</a:t>
                      </a:r>
                    </a:p>
                  </a:txBody>
                  <a:tcPr marL="73152" marR="73152" marT="27432" marB="27432" anchor="ctr">
                    <a:solidFill>
                      <a:srgbClr val="FFFFFF"/>
                    </a:solidFill>
                  </a:tcPr>
                </a:tc>
              </a:tr>
              <a:tr h="347472">
                <a:tc>
                  <a:txBody>
                    <a:bodyPr wrap="square"/>
                    <a:lstStyle/>
                    <a:p>
                      <a:r>
                        <a:rPr sz="1050" b="0">
                          <a:solidFill>
                            <a:srgbClr val="1F2937"/>
                          </a:solidFill>
                          <a:latin typeface="Calibri"/>
                        </a:rPr>
                        <a:t>TEST</a:t>
                      </a:r>
                    </a:p>
                  </a:txBody>
                  <a:tcPr marL="73152" marR="73152" marT="27432" marB="27432" anchor="ctr">
                    <a:solidFill>
                      <a:srgbClr val="F6F8FB"/>
                    </a:solidFill>
                  </a:tcPr>
                </a:tc>
                <a:tc>
                  <a:txBody>
                    <a:bodyPr wrap="square"/>
                    <a:lstStyle/>
                    <a:p>
                      <a:r>
                        <a:rPr sz="1050" b="0">
                          <a:solidFill>
                            <a:srgbClr val="1F2937"/>
                          </a:solidFill>
                          <a:latin typeface="Calibri"/>
                        </a:rPr>
                        <a:t>Payment_Behaviour: Missing</a:t>
                      </a:r>
                    </a:p>
                  </a:txBody>
                  <a:tcPr marL="73152" marR="73152" marT="27432" marB="27432" anchor="ctr">
                    <a:solidFill>
                      <a:srgbClr val="F6F8FB"/>
                    </a:solidFill>
                  </a:tcPr>
                </a:tc>
                <a:tc>
                  <a:txBody>
                    <a:bodyPr wrap="square"/>
                    <a:lstStyle/>
                    <a:p>
                      <a:r>
                        <a:rPr sz="1050" b="0">
                          <a:solidFill>
                            <a:srgbClr val="1F2937"/>
                          </a:solidFill>
                          <a:latin typeface="Calibri"/>
                        </a:rPr>
                        <a:t>113</a:t>
                      </a:r>
                    </a:p>
                  </a:txBody>
                  <a:tcPr marL="73152" marR="73152" marT="27432" marB="27432" anchor="ctr">
                    <a:solidFill>
                      <a:srgbClr val="F6F8FB"/>
                    </a:solidFill>
                  </a:tcPr>
                </a:tc>
                <a:tc>
                  <a:txBody>
                    <a:bodyPr wrap="square"/>
                    <a:lstStyle/>
                    <a:p>
                      <a:r>
                        <a:rPr sz="1050" b="0">
                          <a:solidFill>
                            <a:srgbClr val="1F2937"/>
                          </a:solidFill>
                          <a:latin typeface="Calibri"/>
                        </a:rPr>
                        <a:t>34%</a:t>
                      </a:r>
                    </a:p>
                  </a:txBody>
                  <a:tcPr marL="73152" marR="73152" marT="27432" marB="27432" anchor="ctr">
                    <a:solidFill>
                      <a:srgbClr val="F6F8FB"/>
                    </a:solidFill>
                  </a:tcPr>
                </a:tc>
                <a:tc>
                  <a:txBody>
                    <a:bodyPr wrap="square"/>
                    <a:lstStyle/>
                    <a:p>
                      <a:r>
                        <a:rPr sz="1050" b="0">
                          <a:solidFill>
                            <a:srgbClr val="1F2937"/>
                          </a:solidFill>
                          <a:latin typeface="Calibri"/>
                        </a:rPr>
                        <a:t>26%</a:t>
                      </a:r>
                    </a:p>
                  </a:txBody>
                  <a:tcPr marL="73152" marR="73152" marT="27432" marB="27432" anchor="ctr">
                    <a:solidFill>
                      <a:srgbClr val="F6F8FB"/>
                    </a:solidFill>
                  </a:tcPr>
                </a:tc>
              </a:tr>
            </a:tbl>
          </a:graphicData>
        </a:graphic>
      </p:graphicFrame>
      <p:sp>
        <p:nvSpPr>
          <p:cNvPr id="8" name="TextBox 7"/>
          <p:cNvSpPr txBox="1"/>
          <p:nvPr/>
        </p:nvSpPr>
        <p:spPr>
          <a:xfrm>
            <a:off x="6400800" y="3200400"/>
            <a:ext cx="5257800" cy="3291840"/>
          </a:xfrm>
          <a:prstGeom prst="rect">
            <a:avLst/>
          </a:prstGeom>
          <a:noFill/>
        </p:spPr>
        <p:txBody>
          <a:bodyPr wrap="square" lIns="36576" rIns="36576">
            <a:spAutoFit/>
          </a:bodyPr>
          <a:lstStyle/>
          <a:p>
            <a:pPr marL="201168" indent="-182880">
              <a:spcAft>
                <a:spcPts val="800"/>
              </a:spcAft>
              <a:buFont typeface="Arial"/>
              <a:buChar char="•"/>
            </a:pPr>
            <a:r>
              <a:rPr sz="1200" b="1">
                <a:solidFill>
                  <a:srgbClr val="1F2937"/>
                </a:solidFill>
                <a:latin typeface="Calibri"/>
              </a:rPr>
              <a:t>Most ranking flags are expected: </a:t>
            </a:r>
            <a:r>
              <a:rPr sz="1200" b="0">
                <a:solidFill>
                  <a:srgbClr val="1F2937"/>
                </a:solidFill>
                <a:latin typeface="Calibri"/>
              </a:rPr>
              <a:t>inside a group where the main risk signal is constant (e.g. Credit_Mix = Bad), ranking is naturally harder.</a:t>
            </a:r>
          </a:p>
          <a:p>
            <a:pPr marL="201168" indent="-182880">
              <a:spcAft>
                <a:spcPts val="800"/>
              </a:spcAft>
              <a:buFont typeface="Arial"/>
              <a:buChar char="•"/>
            </a:pPr>
            <a:r>
              <a:rPr sz="1200" b="1">
                <a:solidFill>
                  <a:srgbClr val="1F2937"/>
                </a:solidFill>
                <a:latin typeface="Calibri"/>
              </a:rPr>
              <a:t>Under-prediction of ~5–8 points </a:t>
            </a:r>
            <a:r>
              <a:rPr sz="1200" b="0">
                <a:solidFill>
                  <a:srgbClr val="1F2937"/>
                </a:solidFill>
                <a:latin typeface="Calibri"/>
              </a:rPr>
              <a:t>for the segments in the table — monitor after deployment.</a:t>
            </a:r>
          </a:p>
          <a:p>
            <a:pPr marL="201168" indent="-182880">
              <a:spcAft>
                <a:spcPts val="800"/>
              </a:spcAft>
              <a:buFont typeface="Arial"/>
              <a:buChar char="•"/>
            </a:pPr>
            <a:r>
              <a:rPr sz="1200" b="1">
                <a:solidFill>
                  <a:srgbClr val="1F2937"/>
                </a:solidFill>
                <a:latin typeface="Calibri"/>
              </a:rPr>
              <a:t>Age 45+ ranks lower </a:t>
            </a:r>
            <a:r>
              <a:rPr sz="1200" b="0">
                <a:solidFill>
                  <a:srgbClr val="1F2937"/>
                </a:solidFill>
                <a:latin typeface="Calibri"/>
              </a:rPr>
              <a:t>(ROC 0.74 vs 0.81); age is not a model feature — a fairness note.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Robust to noisy and missing inputs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32</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27</a:t>
            </a:r>
          </a:p>
        </p:txBody>
      </p:sp>
      <p:pic>
        <p:nvPicPr>
          <p:cNvPr id="6" name="32_3_input_robustness.png" descr="32_3_input_robustness.png"/>
          <p:cNvPicPr>
            <a:picLocks noChangeAspect="1"/>
          </p:cNvPicPr>
          <p:nvPr/>
        </p:nvPicPr>
        <p:blipFill>
          <a:blip r:embed="rId2"/>
          <a:stretch>
            <a:fillRect/>
          </a:stretch>
        </p:blipFill>
        <p:spPr>
          <a:xfrm>
            <a:off x="457200" y="1249565"/>
            <a:ext cx="11247120" cy="3032988"/>
          </a:xfrm>
          <a:prstGeom prst="rect">
            <a:avLst/>
          </a:prstGeom>
        </p:spPr>
      </p:pic>
      <p:graphicFrame>
        <p:nvGraphicFramePr>
          <p:cNvPr id="7" name="Table"/>
          <p:cNvGraphicFramePr>
            <a:graphicFrameLocks noGrp="1"/>
          </p:cNvGraphicFramePr>
          <p:nvPr/>
        </p:nvGraphicFramePr>
        <p:xfrm>
          <a:off x="548640" y="4434840"/>
          <a:ext cx="6583680" cy="1828800"/>
        </p:xfrm>
        <a:graphic>
          <a:graphicData uri="http://schemas.openxmlformats.org/drawingml/2006/table">
            <a:tbl>
              <a:tblPr firstRow="0" bandRow="0">
                <a:tableStyleId>{5940675A-B579-460E-94D1-54222C63F5DA}</a:tableStyleId>
              </a:tblPr>
              <a:tblGrid>
                <a:gridCol w="5394960"/>
                <a:gridCol w="1188720"/>
              </a:tblGrid>
              <a:tr h="365760">
                <a:tc>
                  <a:txBody>
                    <a:bodyPr wrap="square"/>
                    <a:lstStyle/>
                    <a:p>
                      <a:r>
                        <a:rPr sz="1050" b="1">
                          <a:solidFill>
                            <a:srgbClr val="FFFFFF"/>
                          </a:solidFill>
                          <a:latin typeface="Calibri"/>
                        </a:rPr>
                        <a:t>Stress test</a:t>
                      </a:r>
                    </a:p>
                  </a:txBody>
                  <a:tcPr marL="73152" marR="73152" marT="27432" marB="27432" anchor="ctr">
                    <a:solidFill>
                      <a:srgbClr val="14213D"/>
                    </a:solidFill>
                  </a:tcPr>
                </a:tc>
                <a:tc>
                  <a:txBody>
                    <a:bodyPr wrap="square"/>
                    <a:lstStyle/>
                    <a:p>
                      <a:r>
                        <a:rPr sz="1050" b="1">
                          <a:solidFill>
                            <a:srgbClr val="FFFFFF"/>
                          </a:solidFill>
                          <a:latin typeface="Calibri"/>
                        </a:rPr>
                        <a:t>Result</a:t>
                      </a:r>
                    </a:p>
                  </a:txBody>
                  <a:tcPr marL="73152" marR="73152" marT="27432" marB="27432" anchor="ctr">
                    <a:solidFill>
                      <a:srgbClr val="14213D"/>
                    </a:solidFill>
                  </a:tcPr>
                </a:tc>
              </a:tr>
              <a:tr h="365760">
                <a:tc>
                  <a:txBody>
                    <a:bodyPr wrap="square"/>
                    <a:lstStyle/>
                    <a:p>
                      <a:r>
                        <a:rPr sz="1050" b="0">
                          <a:solidFill>
                            <a:srgbClr val="1F2937"/>
                          </a:solidFill>
                          <a:latin typeface="Calibri"/>
                        </a:rPr>
                        <a:t>all inputs missing -&gt; valid probability</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r h="365760">
                <a:tc>
                  <a:txBody>
                    <a:bodyPr wrap="square"/>
                    <a:lstStyle/>
                    <a:p>
                      <a:r>
                        <a:rPr sz="1050" b="0">
                          <a:solidFill>
                            <a:srgbClr val="1F2937"/>
                          </a:solidFill>
                          <a:latin typeface="Calibri"/>
                        </a:rPr>
                        <a:t>unseen category values -&gt; valid probability</a:t>
                      </a:r>
                    </a:p>
                  </a:txBody>
                  <a:tcPr marL="73152" marR="73152" marT="27432" marB="27432" anchor="ctr">
                    <a:solidFill>
                      <a:srgbClr val="F6F8FB"/>
                    </a:solidFill>
                  </a:tcPr>
                </a:tc>
                <a:tc>
                  <a:txBody>
                    <a:bodyPr wrap="square"/>
                    <a:lstStyle/>
                    <a:p>
                      <a:r>
                        <a:rPr sz="1050" b="1">
                          <a:solidFill>
                            <a:srgbClr val="1BAF7A"/>
                          </a:solidFill>
                          <a:latin typeface="Calibri"/>
                        </a:rPr>
                        <a:t>PASS</a:t>
                      </a:r>
                    </a:p>
                  </a:txBody>
                  <a:tcPr marL="73152" marR="73152" marT="27432" marB="27432" anchor="ctr">
                    <a:solidFill>
                      <a:srgbClr val="F6F8FB"/>
                    </a:solidFill>
                  </a:tcPr>
                </a:tc>
              </a:tr>
              <a:tr h="365760">
                <a:tc>
                  <a:txBody>
                    <a:bodyPr wrap="square"/>
                    <a:lstStyle/>
                    <a:p>
                      <a:r>
                        <a:rPr sz="1050" b="0">
                          <a:solidFill>
                            <a:srgbClr val="1F2937"/>
                          </a:solidFill>
                          <a:latin typeface="Calibri"/>
                        </a:rPr>
                        <a:t>extreme numeric values -&gt; valid probability</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r h="365760">
                <a:tc>
                  <a:txBody>
                    <a:bodyPr wrap="square"/>
                    <a:lstStyle/>
                    <a:p>
                      <a:r>
                        <a:rPr sz="1050" b="0">
                          <a:solidFill>
                            <a:srgbClr val="1F2937"/>
                          </a:solidFill>
                          <a:latin typeface="Calibri"/>
                        </a:rPr>
                        <a:t>column order shuffled -&gt; identical predictions</a:t>
                      </a:r>
                    </a:p>
                  </a:txBody>
                  <a:tcPr marL="73152" marR="73152" marT="27432" marB="27432" anchor="ctr">
                    <a:solidFill>
                      <a:srgbClr val="F6F8FB"/>
                    </a:solidFill>
                  </a:tcPr>
                </a:tc>
                <a:tc>
                  <a:txBody>
                    <a:bodyPr wrap="square"/>
                    <a:lstStyle/>
                    <a:p>
                      <a:r>
                        <a:rPr sz="1050" b="1">
                          <a:solidFill>
                            <a:srgbClr val="1BAF7A"/>
                          </a:solidFill>
                          <a:latin typeface="Calibri"/>
                        </a:rPr>
                        <a:t>PASS</a:t>
                      </a:r>
                    </a:p>
                  </a:txBody>
                  <a:tcPr marL="73152" marR="73152" marT="27432" marB="27432" anchor="ctr">
                    <a:solidFill>
                      <a:srgbClr val="F6F8FB"/>
                    </a:solidFill>
                  </a:tcPr>
                </a:tc>
              </a:tr>
            </a:tbl>
          </a:graphicData>
        </a:graphic>
      </p:graphicFrame>
      <p:graphicFrame>
        <p:nvGraphicFramePr>
          <p:cNvPr id="8" name="Table"/>
          <p:cNvGraphicFramePr>
            <a:graphicFrameLocks noGrp="1"/>
          </p:cNvGraphicFramePr>
          <p:nvPr/>
        </p:nvGraphicFramePr>
        <p:xfrm>
          <a:off x="7269480" y="4434840"/>
          <a:ext cx="4389120" cy="1828800"/>
        </p:xfrm>
        <a:graphic>
          <a:graphicData uri="http://schemas.openxmlformats.org/drawingml/2006/table">
            <a:tbl>
              <a:tblPr firstRow="0" bandRow="0">
                <a:tableStyleId>{5940675A-B579-460E-94D1-54222C63F5DA}</a:tableStyleId>
              </a:tblPr>
              <a:tblGrid>
                <a:gridCol w="3383280"/>
                <a:gridCol w="1005840"/>
              </a:tblGrid>
              <a:tr h="365760">
                <a:tc>
                  <a:txBody>
                    <a:bodyPr wrap="square"/>
                    <a:lstStyle/>
                    <a:p>
                      <a:r>
                        <a:rPr sz="1050" b="1">
                          <a:solidFill>
                            <a:srgbClr val="FFFFFF"/>
                          </a:solidFill>
                          <a:latin typeface="Calibri"/>
                        </a:rPr>
                        <a:t>Stress test</a:t>
                      </a:r>
                    </a:p>
                  </a:txBody>
                  <a:tcPr marL="73152" marR="73152" marT="27432" marB="27432" anchor="ctr">
                    <a:solidFill>
                      <a:srgbClr val="14213D"/>
                    </a:solidFill>
                  </a:tcPr>
                </a:tc>
                <a:tc>
                  <a:txBody>
                    <a:bodyPr wrap="square"/>
                    <a:lstStyle/>
                    <a:p>
                      <a:r>
                        <a:rPr sz="1050" b="1">
                          <a:solidFill>
                            <a:srgbClr val="FFFFFF"/>
                          </a:solidFill>
                          <a:latin typeface="Calibri"/>
                        </a:rPr>
                        <a:t>Result</a:t>
                      </a:r>
                    </a:p>
                  </a:txBody>
                  <a:tcPr marL="73152" marR="73152" marT="27432" marB="27432" anchor="ctr">
                    <a:solidFill>
                      <a:srgbClr val="14213D"/>
                    </a:solidFill>
                  </a:tcPr>
                </a:tc>
              </a:tr>
              <a:tr h="365760">
                <a:tc>
                  <a:txBody>
                    <a:bodyPr wrap="square"/>
                    <a:lstStyle/>
                    <a:p>
                      <a:r>
                        <a:rPr sz="1050" b="0">
                          <a:solidFill>
                            <a:srgbClr val="1F2937"/>
                          </a:solidFill>
                          <a:latin typeface="Calibri"/>
                        </a:rPr>
                        <a:t>extra unused columns -&gt; identical predictions</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r h="365760">
                <a:tc>
                  <a:txBody>
                    <a:bodyPr wrap="square"/>
                    <a:lstStyle/>
                    <a:p>
                      <a:r>
                        <a:rPr sz="1050" b="0">
                          <a:solidFill>
                            <a:srgbClr val="1F2937"/>
                          </a:solidFill>
                          <a:latin typeface="Calibri"/>
                        </a:rPr>
                        <a:t>deterministic (same input twice)</a:t>
                      </a:r>
                    </a:p>
                  </a:txBody>
                  <a:tcPr marL="73152" marR="73152" marT="27432" marB="27432" anchor="ctr">
                    <a:solidFill>
                      <a:srgbClr val="F6F8FB"/>
                    </a:solidFill>
                  </a:tcPr>
                </a:tc>
                <a:tc>
                  <a:txBody>
                    <a:bodyPr wrap="square"/>
                    <a:lstStyle/>
                    <a:p>
                      <a:r>
                        <a:rPr sz="1050" b="1">
                          <a:solidFill>
                            <a:srgbClr val="1BAF7A"/>
                          </a:solidFill>
                          <a:latin typeface="Calibri"/>
                        </a:rPr>
                        <a:t>PASS</a:t>
                      </a:r>
                    </a:p>
                  </a:txBody>
                  <a:tcPr marL="73152" marR="73152" marT="27432" marB="27432" anchor="ctr">
                    <a:solidFill>
                      <a:srgbClr val="F6F8FB"/>
                    </a:solidFill>
                  </a:tcPr>
                </a:tc>
              </a:tr>
              <a:tr h="365760">
                <a:tc>
                  <a:txBody>
                    <a:bodyPr wrap="square"/>
                    <a:lstStyle/>
                    <a:p>
                      <a:r>
                        <a:rPr sz="1050" b="0">
                          <a:solidFill>
                            <a:srgbClr val="1F2937"/>
                          </a:solidFill>
                          <a:latin typeface="Calibri"/>
                        </a:rPr>
                        <a:t>single-row = batch predictions</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r h="365760">
                <a:tc>
                  <a:txBody>
                    <a:bodyPr wrap="square"/>
                    <a:lstStyle/>
                    <a:p>
                      <a:r>
                        <a:rPr sz="1050" b="0">
                          <a:solidFill>
                            <a:srgbClr val="1F2937"/>
                          </a:solidFill>
                          <a:latin typeface="Calibri"/>
                        </a:rPr>
                        <a:t>required column absent -&gt; clear error (not silent)</a:t>
                      </a:r>
                    </a:p>
                  </a:txBody>
                  <a:tcPr marL="73152" marR="73152" marT="27432" marB="27432" anchor="ctr">
                    <a:solidFill>
                      <a:srgbClr val="F6F8FB"/>
                    </a:solidFill>
                  </a:tcPr>
                </a:tc>
                <a:tc>
                  <a:txBody>
                    <a:bodyPr wrap="square"/>
                    <a:lstStyle/>
                    <a:p>
                      <a:r>
                        <a:rPr sz="1050" b="1">
                          <a:solidFill>
                            <a:srgbClr val="1BAF7A"/>
                          </a:solidFill>
                          <a:latin typeface="Calibri"/>
                        </a:rPr>
                        <a:t>PASS</a:t>
                      </a:r>
                    </a:p>
                  </a:txBody>
                  <a:tcPr marL="73152" marR="73152" marT="27432" marB="27432" anchor="ctr">
                    <a:solidFill>
                      <a:srgbClr val="F6F8FB"/>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Stable across seeds and thresholds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32</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28</a:t>
            </a:r>
          </a:p>
        </p:txBody>
      </p:sp>
      <p:pic>
        <p:nvPicPr>
          <p:cNvPr id="6" name="32_4_stability.png" descr="32_4_stability.png"/>
          <p:cNvPicPr>
            <a:picLocks noChangeAspect="1"/>
          </p:cNvPicPr>
          <p:nvPr/>
        </p:nvPicPr>
        <p:blipFill>
          <a:blip r:embed="rId2"/>
          <a:stretch>
            <a:fillRect/>
          </a:stretch>
        </p:blipFill>
        <p:spPr>
          <a:xfrm>
            <a:off x="1042281" y="1280160"/>
            <a:ext cx="10076957" cy="3017520"/>
          </a:xfrm>
          <a:prstGeom prst="rect">
            <a:avLst/>
          </a:prstGeom>
        </p:spPr>
      </p:pic>
      <p:sp>
        <p:nvSpPr>
          <p:cNvPr id="7" name="Rounded Rectangle 6"/>
          <p:cNvSpPr/>
          <p:nvPr/>
        </p:nvSpPr>
        <p:spPr>
          <a:xfrm>
            <a:off x="548640" y="4526280"/>
            <a:ext cx="265176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617720"/>
            <a:ext cx="2377440" cy="640080"/>
          </a:xfrm>
          <a:prstGeom prst="rect">
            <a:avLst/>
          </a:prstGeom>
          <a:noFill/>
        </p:spPr>
        <p:txBody>
          <a:bodyPr wrap="square" anchor="t" lIns="36576" rIns="36576" tIns="18288" bIns="18288">
            <a:spAutoFit/>
          </a:bodyPr>
          <a:lstStyle/>
          <a:p>
            <a:pPr algn="l"/>
            <a:r>
              <a:rPr sz="3200" b="1" i="0">
                <a:solidFill>
                  <a:srgbClr val="14213D"/>
                </a:solidFill>
                <a:latin typeface="Cambria"/>
              </a:rPr>
              <a:t>0.619–0.626</a:t>
            </a:r>
          </a:p>
        </p:txBody>
      </p:sp>
      <p:sp>
        <p:nvSpPr>
          <p:cNvPr id="9" name="TextBox 8"/>
          <p:cNvSpPr txBox="1"/>
          <p:nvPr/>
        </p:nvSpPr>
        <p:spPr>
          <a:xfrm>
            <a:off x="685800" y="5239512"/>
            <a:ext cx="2377440" cy="393192"/>
          </a:xfrm>
          <a:prstGeom prst="rect">
            <a:avLst/>
          </a:prstGeom>
          <a:noFill/>
        </p:spPr>
        <p:txBody>
          <a:bodyPr wrap="square" anchor="t" lIns="36576" rIns="36576" tIns="18288" bIns="18288">
            <a:spAutoFit/>
          </a:bodyPr>
          <a:lstStyle/>
          <a:p>
            <a:pPr algn="l"/>
            <a:r>
              <a:rPr sz="1200" b="0" i="0">
                <a:solidFill>
                  <a:srgbClr val="5B6472"/>
                </a:solidFill>
                <a:latin typeface="Calibri"/>
              </a:rPr>
              <a:t>OOT PR-AUC across 5 retraining seeds</a:t>
            </a:r>
          </a:p>
        </p:txBody>
      </p:sp>
      <p:sp>
        <p:nvSpPr>
          <p:cNvPr id="10" name="Rounded Rectangle 9"/>
          <p:cNvSpPr/>
          <p:nvPr/>
        </p:nvSpPr>
        <p:spPr>
          <a:xfrm>
            <a:off x="3383280" y="4526280"/>
            <a:ext cx="265176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4617720"/>
            <a:ext cx="2377440" cy="640080"/>
          </a:xfrm>
          <a:prstGeom prst="rect">
            <a:avLst/>
          </a:prstGeom>
          <a:noFill/>
        </p:spPr>
        <p:txBody>
          <a:bodyPr wrap="square" anchor="t" lIns="36576" rIns="36576" tIns="18288" bIns="18288">
            <a:spAutoFit/>
          </a:bodyPr>
          <a:lstStyle/>
          <a:p>
            <a:pPr algn="l"/>
            <a:r>
              <a:rPr sz="3200" b="1" i="0">
                <a:solidFill>
                  <a:srgbClr val="1BAF7A"/>
                </a:solidFill>
                <a:latin typeface="Cambria"/>
              </a:rPr>
              <a:t>96%</a:t>
            </a:r>
          </a:p>
        </p:txBody>
      </p:sp>
      <p:sp>
        <p:nvSpPr>
          <p:cNvPr id="12" name="TextBox 11"/>
          <p:cNvSpPr txBox="1"/>
          <p:nvPr/>
        </p:nvSpPr>
        <p:spPr>
          <a:xfrm>
            <a:off x="3520440" y="5239512"/>
            <a:ext cx="2377440" cy="393192"/>
          </a:xfrm>
          <a:prstGeom prst="rect">
            <a:avLst/>
          </a:prstGeom>
          <a:noFill/>
        </p:spPr>
        <p:txBody>
          <a:bodyPr wrap="square" anchor="t" lIns="36576" rIns="36576" tIns="18288" bIns="18288">
            <a:spAutoFit/>
          </a:bodyPr>
          <a:lstStyle/>
          <a:p>
            <a:pPr algn="l"/>
            <a:r>
              <a:rPr sz="1200" b="0" i="0">
                <a:solidFill>
                  <a:srgbClr val="5B6472"/>
                </a:solidFill>
                <a:latin typeface="Calibri"/>
              </a:rPr>
              <a:t>of decisions unchanged by the seed (worst case)</a:t>
            </a:r>
          </a:p>
        </p:txBody>
      </p:sp>
      <p:sp>
        <p:nvSpPr>
          <p:cNvPr id="13" name="Rounded Rectangle 12"/>
          <p:cNvSpPr/>
          <p:nvPr/>
        </p:nvSpPr>
        <p:spPr>
          <a:xfrm>
            <a:off x="6217920" y="4526280"/>
            <a:ext cx="265176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617720"/>
            <a:ext cx="2377440" cy="640080"/>
          </a:xfrm>
          <a:prstGeom prst="rect">
            <a:avLst/>
          </a:prstGeom>
          <a:noFill/>
        </p:spPr>
        <p:txBody>
          <a:bodyPr wrap="square" anchor="t" lIns="36576" rIns="36576" tIns="18288" bIns="18288">
            <a:spAutoFit/>
          </a:bodyPr>
          <a:lstStyle/>
          <a:p>
            <a:pPr algn="l"/>
            <a:r>
              <a:rPr sz="3200" b="1" i="0">
                <a:solidFill>
                  <a:srgbClr val="14213D"/>
                </a:solidFill>
                <a:latin typeface="Cambria"/>
              </a:rPr>
              <a:t>0.61–0.63</a:t>
            </a:r>
          </a:p>
        </p:txBody>
      </p:sp>
      <p:sp>
        <p:nvSpPr>
          <p:cNvPr id="15" name="TextBox 14"/>
          <p:cNvSpPr txBox="1"/>
          <p:nvPr/>
        </p:nvSpPr>
        <p:spPr>
          <a:xfrm>
            <a:off x="6355080" y="5239512"/>
            <a:ext cx="2377440" cy="393192"/>
          </a:xfrm>
          <a:prstGeom prst="rect">
            <a:avLst/>
          </a:prstGeom>
          <a:noFill/>
        </p:spPr>
        <p:txBody>
          <a:bodyPr wrap="square" anchor="t" lIns="36576" rIns="36576" tIns="18288" bIns="18288">
            <a:spAutoFit/>
          </a:bodyPr>
          <a:lstStyle/>
          <a:p>
            <a:pPr algn="l"/>
            <a:r>
              <a:rPr sz="1200" b="0" i="0">
                <a:solidFill>
                  <a:srgbClr val="5B6472"/>
                </a:solidFill>
                <a:latin typeface="Calibri"/>
              </a:rPr>
              <a:t>F1 range for threshold ± 0.10</a:t>
            </a:r>
          </a:p>
        </p:txBody>
      </p:sp>
      <p:sp>
        <p:nvSpPr>
          <p:cNvPr id="16" name="Rounded Rectangle 15"/>
          <p:cNvSpPr/>
          <p:nvPr/>
        </p:nvSpPr>
        <p:spPr>
          <a:xfrm>
            <a:off x="9052560" y="4526280"/>
            <a:ext cx="260604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4617720"/>
            <a:ext cx="2331720" cy="640080"/>
          </a:xfrm>
          <a:prstGeom prst="rect">
            <a:avLst/>
          </a:prstGeom>
          <a:noFill/>
        </p:spPr>
        <p:txBody>
          <a:bodyPr wrap="square" anchor="t" lIns="36576" rIns="36576" tIns="18288" bIns="18288">
            <a:spAutoFit/>
          </a:bodyPr>
          <a:lstStyle/>
          <a:p>
            <a:pPr algn="l"/>
            <a:r>
              <a:rPr sz="3200" b="1" i="0">
                <a:solidFill>
                  <a:srgbClr val="EB6834"/>
                </a:solidFill>
                <a:latin typeface="Cambria"/>
              </a:rPr>
              <a:t>0.610</a:t>
            </a:r>
          </a:p>
        </p:txBody>
      </p:sp>
      <p:sp>
        <p:nvSpPr>
          <p:cNvPr id="18" name="TextBox 17"/>
          <p:cNvSpPr txBox="1"/>
          <p:nvPr/>
        </p:nvSpPr>
        <p:spPr>
          <a:xfrm>
            <a:off x="9189720" y="5239512"/>
            <a:ext cx="2331720" cy="393192"/>
          </a:xfrm>
          <a:prstGeom prst="rect">
            <a:avLst/>
          </a:prstGeom>
          <a:noFill/>
        </p:spPr>
        <p:txBody>
          <a:bodyPr wrap="square" anchor="t" lIns="36576" rIns="36576" tIns="18288" bIns="18288">
            <a:spAutoFit/>
          </a:bodyPr>
          <a:lstStyle/>
          <a:p>
            <a:pPr algn="l"/>
            <a:r>
              <a:rPr sz="1200" b="0" i="0">
                <a:solidFill>
                  <a:srgbClr val="5B6472"/>
                </a:solidFill>
                <a:latin typeface="Calibri"/>
              </a:rPr>
              <a:t>challenger B on OOT without clickstream (&lt; champion)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828800"/>
            <a:ext cx="10515600" cy="548640"/>
          </a:xfrm>
          <a:prstGeom prst="rect">
            <a:avLst/>
          </a:prstGeom>
          <a:noFill/>
        </p:spPr>
        <p:txBody>
          <a:bodyPr wrap="square" anchor="t" lIns="36576" rIns="36576" tIns="18288" bIns="18288">
            <a:spAutoFit/>
          </a:bodyPr>
          <a:lstStyle/>
          <a:p>
            <a:pPr algn="l"/>
            <a:r>
              <a:rPr sz="1600" b="1" i="0">
                <a:solidFill>
                  <a:srgbClr val="CADCFC"/>
                </a:solidFill>
                <a:latin typeface="Calibri"/>
              </a:rPr>
              <a:t>PART 6</a:t>
            </a:r>
          </a:p>
        </p:txBody>
      </p:sp>
      <p:sp>
        <p:nvSpPr>
          <p:cNvPr id="3" name="TextBox 2"/>
          <p:cNvSpPr txBox="1"/>
          <p:nvPr/>
        </p:nvSpPr>
        <p:spPr>
          <a:xfrm>
            <a:off x="822960" y="2377440"/>
            <a:ext cx="10515600" cy="1097280"/>
          </a:xfrm>
          <a:prstGeom prst="rect">
            <a:avLst/>
          </a:prstGeom>
          <a:noFill/>
        </p:spPr>
        <p:txBody>
          <a:bodyPr wrap="square" anchor="t" lIns="36576" rIns="36576" tIns="18288" bIns="18288">
            <a:spAutoFit/>
          </a:bodyPr>
          <a:lstStyle/>
          <a:p>
            <a:pPr algn="l"/>
            <a:r>
              <a:rPr sz="4400" b="1" i="0">
                <a:solidFill>
                  <a:srgbClr val="FFFFFF"/>
                </a:solidFill>
                <a:latin typeface="Cambria"/>
              </a:rPr>
              <a:t>Deployment &amp; operations</a:t>
            </a:r>
          </a:p>
        </p:txBody>
      </p:sp>
      <p:sp>
        <p:nvSpPr>
          <p:cNvPr id="4" name="TextBox 3"/>
          <p:cNvSpPr txBox="1"/>
          <p:nvPr/>
        </p:nvSpPr>
        <p:spPr>
          <a:xfrm>
            <a:off x="822960" y="3520440"/>
            <a:ext cx="10058400" cy="914400"/>
          </a:xfrm>
          <a:prstGeom prst="rect">
            <a:avLst/>
          </a:prstGeom>
          <a:noFill/>
        </p:spPr>
        <p:txBody>
          <a:bodyPr wrap="square" anchor="t" lIns="36576" rIns="36576" tIns="18288" bIns="18288">
            <a:spAutoFit/>
          </a:bodyPr>
          <a:lstStyle/>
          <a:p>
            <a:pPr algn="l"/>
            <a:r>
              <a:rPr sz="1800" b="0" i="0">
                <a:solidFill>
                  <a:srgbClr val="CADCFC"/>
                </a:solidFill>
                <a:latin typeface="Calibri"/>
              </a:rPr>
              <a:t>Register the approved model, score new loans every month, watch it, decide when to refresh — orchestrated by three Airflow DAGs in Docker.</a:t>
            </a:r>
          </a:p>
        </p:txBody>
      </p:sp>
      <p:sp>
        <p:nvSpPr>
          <p:cNvPr id="5" name="Rounded Rectangle 4"/>
          <p:cNvSpPr/>
          <p:nvPr/>
        </p:nvSpPr>
        <p:spPr>
          <a:xfrm>
            <a:off x="822960" y="4572000"/>
            <a:ext cx="2377440" cy="45720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Steps 33–36 + Airflow</a:t>
            </a:r>
          </a:p>
        </p:txBody>
      </p:sp>
      <p:sp>
        <p:nvSpPr>
          <p:cNvPr id="6"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7"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Registered for deployment (MLflow)</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33</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30</a:t>
            </a:r>
          </a:p>
        </p:txBody>
      </p:sp>
      <p:graphicFrame>
        <p:nvGraphicFramePr>
          <p:cNvPr id="6" name="Table"/>
          <p:cNvGraphicFramePr>
            <a:graphicFrameLocks noGrp="1"/>
          </p:cNvGraphicFramePr>
          <p:nvPr/>
        </p:nvGraphicFramePr>
        <p:xfrm>
          <a:off x="548640" y="1325880"/>
          <a:ext cx="6766560" cy="1828800"/>
        </p:xfrm>
        <a:graphic>
          <a:graphicData uri="http://schemas.openxmlformats.org/drawingml/2006/table">
            <a:tbl>
              <a:tblPr firstRow="0" bandRow="0">
                <a:tableStyleId>{5940675A-B579-460E-94D1-54222C63F5DA}</a:tableStyleId>
              </a:tblPr>
              <a:tblGrid>
                <a:gridCol w="1463040"/>
                <a:gridCol w="914400"/>
                <a:gridCol w="2194560"/>
                <a:gridCol w="1005840"/>
                <a:gridCol w="1188720"/>
              </a:tblGrid>
              <a:tr h="457200">
                <a:tc>
                  <a:txBody>
                    <a:bodyPr wrap="square"/>
                    <a:lstStyle/>
                    <a:p>
                      <a:r>
                        <a:rPr sz="1300" b="1">
                          <a:solidFill>
                            <a:srgbClr val="FFFFFF"/>
                          </a:solidFill>
                          <a:latin typeface="Calibri"/>
                        </a:rPr>
                        <a:t>Alias</a:t>
                      </a:r>
                    </a:p>
                  </a:txBody>
                  <a:tcPr marL="73152" marR="73152" marT="27432" marB="27432" anchor="ctr">
                    <a:solidFill>
                      <a:srgbClr val="14213D"/>
                    </a:solidFill>
                  </a:tcPr>
                </a:tc>
                <a:tc>
                  <a:txBody>
                    <a:bodyPr wrap="square"/>
                    <a:lstStyle/>
                    <a:p>
                      <a:r>
                        <a:rPr sz="1300" b="1">
                          <a:solidFill>
                            <a:srgbClr val="FFFFFF"/>
                          </a:solidFill>
                          <a:latin typeface="Calibri"/>
                        </a:rPr>
                        <a:t>Version</a:t>
                      </a:r>
                    </a:p>
                  </a:txBody>
                  <a:tcPr marL="73152" marR="73152" marT="27432" marB="27432" anchor="ctr">
                    <a:solidFill>
                      <a:srgbClr val="14213D"/>
                    </a:solidFill>
                  </a:tcPr>
                </a:tc>
                <a:tc>
                  <a:txBody>
                    <a:bodyPr wrap="square"/>
                    <a:lstStyle/>
                    <a:p>
                      <a:r>
                        <a:rPr sz="1300" b="1">
                          <a:solidFill>
                            <a:srgbClr val="FFFFFF"/>
                          </a:solidFill>
                          <a:latin typeface="Calibri"/>
                        </a:rPr>
                        <a:t>Model</a:t>
                      </a:r>
                    </a:p>
                  </a:txBody>
                  <a:tcPr marL="73152" marR="73152" marT="27432" marB="27432" anchor="ctr">
                    <a:solidFill>
                      <a:srgbClr val="14213D"/>
                    </a:solidFill>
                  </a:tcPr>
                </a:tc>
                <a:tc>
                  <a:txBody>
                    <a:bodyPr wrap="square"/>
                    <a:lstStyle/>
                    <a:p>
                      <a:r>
                        <a:rPr sz="1300" b="1">
                          <a:solidFill>
                            <a:srgbClr val="FFFFFF"/>
                          </a:solidFill>
                          <a:latin typeface="Calibri"/>
                        </a:rPr>
                        <a:t>Features</a:t>
                      </a:r>
                    </a:p>
                  </a:txBody>
                  <a:tcPr marL="73152" marR="73152" marT="27432" marB="27432" anchor="ctr">
                    <a:solidFill>
                      <a:srgbClr val="14213D"/>
                    </a:solidFill>
                  </a:tcPr>
                </a:tc>
                <a:tc>
                  <a:txBody>
                    <a:bodyPr wrap="square"/>
                    <a:lstStyle/>
                    <a:p>
                      <a:r>
                        <a:rPr sz="1300" b="1">
                          <a:solidFill>
                            <a:srgbClr val="FFFFFF"/>
                          </a:solidFill>
                          <a:latin typeface="Calibri"/>
                        </a:rPr>
                        <a:t>Threshold</a:t>
                      </a:r>
                    </a:p>
                  </a:txBody>
                  <a:tcPr marL="73152" marR="73152" marT="27432" marB="27432" anchor="ctr">
                    <a:solidFill>
                      <a:srgbClr val="14213D"/>
                    </a:solidFill>
                  </a:tcPr>
                </a:tc>
              </a:tr>
              <a:tr h="457200">
                <a:tc>
                  <a:txBody>
                    <a:bodyPr wrap="square"/>
                    <a:lstStyle/>
                    <a:p>
                      <a:r>
                        <a:rPr sz="1300" b="1">
                          <a:solidFill>
                            <a:srgbClr val="1F2937"/>
                          </a:solidFill>
                          <a:latin typeface="Calibri"/>
                        </a:rPr>
                        <a:t>@champion</a:t>
                      </a:r>
                    </a:p>
                  </a:txBody>
                  <a:tcPr marL="73152" marR="73152" marT="27432" marB="27432" anchor="ctr">
                    <a:solidFill>
                      <a:srgbClr val="FFFFFF"/>
                    </a:solidFill>
                  </a:tcPr>
                </a:tc>
                <a:tc>
                  <a:txBody>
                    <a:bodyPr wrap="square"/>
                    <a:lstStyle/>
                    <a:p>
                      <a:r>
                        <a:rPr sz="1300" b="0">
                          <a:solidFill>
                            <a:srgbClr val="1F2937"/>
                          </a:solidFill>
                          <a:latin typeface="Calibri"/>
                        </a:rPr>
                        <a:t>1</a:t>
                      </a:r>
                    </a:p>
                  </a:txBody>
                  <a:tcPr marL="73152" marR="73152" marT="27432" marB="27432" anchor="ctr">
                    <a:solidFill>
                      <a:srgbClr val="FFFFFF"/>
                    </a:solidFill>
                  </a:tcPr>
                </a:tc>
                <a:tc>
                  <a:txBody>
                    <a:bodyPr wrap="square"/>
                    <a:lstStyle/>
                    <a:p>
                      <a:r>
                        <a:rPr sz="1300" b="0">
                          <a:solidFill>
                            <a:srgbClr val="1F2937"/>
                          </a:solidFill>
                          <a:latin typeface="Calibri"/>
                        </a:rPr>
                        <a:t>XGB model A</a:t>
                      </a:r>
                    </a:p>
                  </a:txBody>
                  <a:tcPr marL="73152" marR="73152" marT="27432" marB="27432" anchor="ctr">
                    <a:solidFill>
                      <a:srgbClr val="FFFFFF"/>
                    </a:solidFill>
                  </a:tcPr>
                </a:tc>
                <a:tc>
                  <a:txBody>
                    <a:bodyPr wrap="square"/>
                    <a:lstStyle/>
                    <a:p>
                      <a:r>
                        <a:rPr sz="1300" b="0">
                          <a:solidFill>
                            <a:srgbClr val="1F2937"/>
                          </a:solidFill>
                          <a:latin typeface="Calibri"/>
                        </a:rPr>
                        <a:t>30</a:t>
                      </a:r>
                    </a:p>
                  </a:txBody>
                  <a:tcPr marL="73152" marR="73152" marT="27432" marB="27432" anchor="ctr">
                    <a:solidFill>
                      <a:srgbClr val="FFFFFF"/>
                    </a:solidFill>
                  </a:tcPr>
                </a:tc>
                <a:tc>
                  <a:txBody>
                    <a:bodyPr wrap="square"/>
                    <a:lstStyle/>
                    <a:p>
                      <a:r>
                        <a:rPr sz="1300" b="0">
                          <a:solidFill>
                            <a:srgbClr val="1F2937"/>
                          </a:solidFill>
                          <a:latin typeface="Calibri"/>
                        </a:rPr>
                        <a:t>0.287</a:t>
                      </a:r>
                    </a:p>
                  </a:txBody>
                  <a:tcPr marL="73152" marR="73152" marT="27432" marB="27432" anchor="ctr">
                    <a:solidFill>
                      <a:srgbClr val="FFFFFF"/>
                    </a:solidFill>
                  </a:tcPr>
                </a:tc>
              </a:tr>
              <a:tr h="457200">
                <a:tc>
                  <a:txBody>
                    <a:bodyPr wrap="square"/>
                    <a:lstStyle/>
                    <a:p>
                      <a:r>
                        <a:rPr sz="1300" b="1">
                          <a:solidFill>
                            <a:srgbClr val="1F2937"/>
                          </a:solidFill>
                          <a:latin typeface="Calibri"/>
                        </a:rPr>
                        <a:t>@challenger</a:t>
                      </a:r>
                    </a:p>
                  </a:txBody>
                  <a:tcPr marL="73152" marR="73152" marT="27432" marB="27432" anchor="ctr">
                    <a:solidFill>
                      <a:srgbClr val="F6F8FB"/>
                    </a:solidFill>
                  </a:tcPr>
                </a:tc>
                <a:tc>
                  <a:txBody>
                    <a:bodyPr wrap="square"/>
                    <a:lstStyle/>
                    <a:p>
                      <a:r>
                        <a:rPr sz="1300" b="0">
                          <a:solidFill>
                            <a:srgbClr val="1F2937"/>
                          </a:solidFill>
                          <a:latin typeface="Calibri"/>
                        </a:rPr>
                        <a:t>2</a:t>
                      </a:r>
                    </a:p>
                  </a:txBody>
                  <a:tcPr marL="73152" marR="73152" marT="27432" marB="27432" anchor="ctr">
                    <a:solidFill>
                      <a:srgbClr val="F6F8FB"/>
                    </a:solidFill>
                  </a:tcPr>
                </a:tc>
                <a:tc>
                  <a:txBody>
                    <a:bodyPr wrap="square"/>
                    <a:lstStyle/>
                    <a:p>
                      <a:r>
                        <a:rPr sz="1300" b="0">
                          <a:solidFill>
                            <a:srgbClr val="1F2937"/>
                          </a:solidFill>
                          <a:latin typeface="Calibri"/>
                        </a:rPr>
                        <a:t>XGB model B</a:t>
                      </a:r>
                    </a:p>
                  </a:txBody>
                  <a:tcPr marL="73152" marR="73152" marT="27432" marB="27432" anchor="ctr">
                    <a:solidFill>
                      <a:srgbClr val="F6F8FB"/>
                    </a:solidFill>
                  </a:tcPr>
                </a:tc>
                <a:tc>
                  <a:txBody>
                    <a:bodyPr wrap="square"/>
                    <a:lstStyle/>
                    <a:p>
                      <a:r>
                        <a:rPr sz="1300" b="0">
                          <a:solidFill>
                            <a:srgbClr val="1F2937"/>
                          </a:solidFill>
                          <a:latin typeface="Calibri"/>
                        </a:rPr>
                        <a:t>25</a:t>
                      </a:r>
                    </a:p>
                  </a:txBody>
                  <a:tcPr marL="73152" marR="73152" marT="27432" marB="27432" anchor="ctr">
                    <a:solidFill>
                      <a:srgbClr val="F6F8FB"/>
                    </a:solidFill>
                  </a:tcPr>
                </a:tc>
                <a:tc>
                  <a:txBody>
                    <a:bodyPr wrap="square"/>
                    <a:lstStyle/>
                    <a:p>
                      <a:r>
                        <a:rPr sz="1300" b="0">
                          <a:solidFill>
                            <a:srgbClr val="1F2937"/>
                          </a:solidFill>
                          <a:latin typeface="Calibri"/>
                        </a:rPr>
                        <a:t>0.308</a:t>
                      </a:r>
                    </a:p>
                  </a:txBody>
                  <a:tcPr marL="73152" marR="73152" marT="27432" marB="27432" anchor="ctr">
                    <a:solidFill>
                      <a:srgbClr val="F6F8FB"/>
                    </a:solidFill>
                  </a:tcPr>
                </a:tc>
              </a:tr>
              <a:tr h="457200">
                <a:tc>
                  <a:txBody>
                    <a:bodyPr wrap="square"/>
                    <a:lstStyle/>
                    <a:p>
                      <a:r>
                        <a:rPr sz="1300" b="1">
                          <a:solidFill>
                            <a:srgbClr val="1F2937"/>
                          </a:solidFill>
                          <a:latin typeface="Calibri"/>
                        </a:rPr>
                        <a:t>@baseline</a:t>
                      </a:r>
                    </a:p>
                  </a:txBody>
                  <a:tcPr marL="73152" marR="73152" marT="27432" marB="27432" anchor="ctr">
                    <a:solidFill>
                      <a:srgbClr val="FFFFFF"/>
                    </a:solidFill>
                  </a:tcPr>
                </a:tc>
                <a:tc>
                  <a:txBody>
                    <a:bodyPr wrap="square"/>
                    <a:lstStyle/>
                    <a:p>
                      <a:r>
                        <a:rPr sz="1300" b="0">
                          <a:solidFill>
                            <a:srgbClr val="1F2937"/>
                          </a:solidFill>
                          <a:latin typeface="Calibri"/>
                        </a:rPr>
                        <a:t>3</a:t>
                      </a:r>
                    </a:p>
                  </a:txBody>
                  <a:tcPr marL="73152" marR="73152" marT="27432" marB="27432" anchor="ctr">
                    <a:solidFill>
                      <a:srgbClr val="FFFFFF"/>
                    </a:solidFill>
                  </a:tcPr>
                </a:tc>
                <a:tc>
                  <a:txBody>
                    <a:bodyPr wrap="square"/>
                    <a:lstStyle/>
                    <a:p>
                      <a:r>
                        <a:rPr sz="1300" b="0">
                          <a:solidFill>
                            <a:srgbClr val="1F2937"/>
                          </a:solidFill>
                          <a:latin typeface="Calibri"/>
                        </a:rPr>
                        <a:t>logistic regression</a:t>
                      </a:r>
                    </a:p>
                  </a:txBody>
                  <a:tcPr marL="73152" marR="73152" marT="27432" marB="27432" anchor="ctr">
                    <a:solidFill>
                      <a:srgbClr val="FFFFFF"/>
                    </a:solidFill>
                  </a:tcPr>
                </a:tc>
                <a:tc>
                  <a:txBody>
                    <a:bodyPr wrap="square"/>
                    <a:lstStyle/>
                    <a:p>
                      <a:r>
                        <a:rPr sz="1300" b="0">
                          <a:solidFill>
                            <a:srgbClr val="1F2937"/>
                          </a:solidFill>
                          <a:latin typeface="Calibri"/>
                        </a:rPr>
                        <a:t>43</a:t>
                      </a:r>
                    </a:p>
                  </a:txBody>
                  <a:tcPr marL="73152" marR="73152" marT="27432" marB="27432" anchor="ctr">
                    <a:solidFill>
                      <a:srgbClr val="FFFFFF"/>
                    </a:solidFill>
                  </a:tcPr>
                </a:tc>
                <a:tc>
                  <a:txBody>
                    <a:bodyPr wrap="square"/>
                    <a:lstStyle/>
                    <a:p>
                      <a:r>
                        <a:rPr sz="1300" b="0">
                          <a:solidFill>
                            <a:srgbClr val="1F2937"/>
                          </a:solidFill>
                          <a:latin typeface="Calibri"/>
                        </a:rPr>
                        <a:t>0.324</a:t>
                      </a:r>
                    </a:p>
                  </a:txBody>
                  <a:tcPr marL="73152" marR="73152" marT="27432" marB="27432" anchor="ctr">
                    <a:solidFill>
                      <a:srgbClr val="FFFFFF"/>
                    </a:solidFill>
                  </a:tcPr>
                </a:tc>
              </a:tr>
            </a:tbl>
          </a:graphicData>
        </a:graphic>
      </p:graphicFrame>
      <p:sp>
        <p:nvSpPr>
          <p:cNvPr id="7" name="TextBox 6"/>
          <p:cNvSpPr txBox="1"/>
          <p:nvPr/>
        </p:nvSpPr>
        <p:spPr>
          <a:xfrm>
            <a:off x="548640" y="3429000"/>
            <a:ext cx="6766560" cy="283464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Inputs: </a:t>
            </a:r>
            <a:r>
              <a:rPr sz="1400" b="0">
                <a:solidFill>
                  <a:srgbClr val="1F2937"/>
                </a:solidFill>
                <a:latin typeface="Calibri"/>
              </a:rPr>
              <a:t>the approved step-30 sign-off and the step-31 evaluation.</a:t>
            </a:r>
          </a:p>
          <a:p>
            <a:pPr marL="201168" indent="-182880">
              <a:spcAft>
                <a:spcPts val="800"/>
              </a:spcAft>
              <a:buFont typeface="Arial"/>
              <a:buChar char="•"/>
            </a:pPr>
            <a:r>
              <a:rPr sz="1400" b="1">
                <a:solidFill>
                  <a:srgbClr val="1F2937"/>
                </a:solidFill>
                <a:latin typeface="Calibri"/>
              </a:rPr>
              <a:t>Each version carries </a:t>
            </a:r>
            <a:r>
              <a:rPr sz="1400" b="0">
                <a:solidFill>
                  <a:srgbClr val="1F2937"/>
                </a:solidFill>
                <a:latin typeface="Calibri"/>
              </a:rPr>
              <a:t>the full pipeline with input signature, metrics, threshold, lineage tags and governance files.</a:t>
            </a:r>
          </a:p>
          <a:p>
            <a:pPr marL="201168" indent="-182880">
              <a:spcAft>
                <a:spcPts val="800"/>
              </a:spcAft>
              <a:buFont typeface="Arial"/>
              <a:buChar char="•"/>
            </a:pPr>
            <a:r>
              <a:rPr sz="1400" b="1">
                <a:solidFill>
                  <a:srgbClr val="1F2937"/>
                </a:solidFill>
                <a:latin typeface="Calibri"/>
              </a:rPr>
              <a:t>Inference loads @champion; </a:t>
            </a:r>
            <a:r>
              <a:rPr sz="1400" b="0">
                <a:solidFill>
                  <a:srgbClr val="1F2937"/>
                </a:solidFill>
                <a:latin typeface="Calibri"/>
              </a:rPr>
              <a:t>promotion or rollback = moving an alias, no code change.</a:t>
            </a:r>
          </a:p>
        </p:txBody>
      </p:sp>
      <p:sp>
        <p:nvSpPr>
          <p:cNvPr id="8" name="Rounded Rectangle 7"/>
          <p:cNvSpPr/>
          <p:nvPr/>
        </p:nvSpPr>
        <p:spPr>
          <a:xfrm>
            <a:off x="7680960" y="1325880"/>
            <a:ext cx="3977639" cy="21945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417320"/>
            <a:ext cx="3703320" cy="365760"/>
          </a:xfrm>
          <a:prstGeom prst="rect">
            <a:avLst/>
          </a:prstGeom>
          <a:noFill/>
        </p:spPr>
        <p:txBody>
          <a:bodyPr wrap="square" anchor="t" lIns="36576" rIns="36576" tIns="18288" bIns="18288">
            <a:spAutoFit/>
          </a:bodyPr>
          <a:lstStyle/>
          <a:p>
            <a:pPr algn="l"/>
            <a:r>
              <a:rPr sz="1400" b="1" i="0">
                <a:solidFill>
                  <a:srgbClr val="14213D"/>
                </a:solidFill>
                <a:latin typeface="Calibri"/>
              </a:rPr>
              <a:t>Reproducible</a:t>
            </a:r>
          </a:p>
        </p:txBody>
      </p:sp>
      <p:sp>
        <p:nvSpPr>
          <p:cNvPr id="10" name="TextBox 9"/>
          <p:cNvSpPr txBox="1"/>
          <p:nvPr/>
        </p:nvSpPr>
        <p:spPr>
          <a:xfrm>
            <a:off x="7818120" y="1783080"/>
            <a:ext cx="3703320" cy="1691639"/>
          </a:xfrm>
          <a:prstGeom prst="rect">
            <a:avLst/>
          </a:prstGeom>
          <a:noFill/>
        </p:spPr>
        <p:txBody>
          <a:bodyPr wrap="square" anchor="t" lIns="36576" rIns="36576" tIns="18288" bIns="18288">
            <a:spAutoFit/>
          </a:bodyPr>
          <a:lstStyle/>
          <a:p>
            <a:pPr algn="l"/>
            <a:r>
              <a:rPr sz="1200" b="0" i="0">
                <a:solidFill>
                  <a:srgbClr val="1F2937"/>
                </a:solidFill>
                <a:latin typeface="Calibri"/>
              </a:rPr>
              <a:t>Reloading models:/loan_default_30dpd_6mob@champion reproduces the step-31 predictions exactly; re-running does not create duplicate versions.</a:t>
            </a:r>
          </a:p>
        </p:txBody>
      </p:sp>
      <p:sp>
        <p:nvSpPr>
          <p:cNvPr id="11" name="Rounded Rectangle 10"/>
          <p:cNvSpPr/>
          <p:nvPr/>
        </p:nvSpPr>
        <p:spPr>
          <a:xfrm>
            <a:off x="7680960" y="3703320"/>
            <a:ext cx="3977639" cy="246888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3794759"/>
            <a:ext cx="3703320" cy="365760"/>
          </a:xfrm>
          <a:prstGeom prst="rect">
            <a:avLst/>
          </a:prstGeom>
          <a:noFill/>
        </p:spPr>
        <p:txBody>
          <a:bodyPr wrap="square" anchor="t" lIns="36576" rIns="36576" tIns="18288" bIns="18288">
            <a:spAutoFit/>
          </a:bodyPr>
          <a:lstStyle/>
          <a:p>
            <a:pPr algn="l"/>
            <a:r>
              <a:rPr sz="1400" b="1" i="0">
                <a:solidFill>
                  <a:srgbClr val="14213D"/>
                </a:solidFill>
                <a:latin typeface="Calibri"/>
              </a:rPr>
              <a:t>Local, no server</a:t>
            </a:r>
          </a:p>
        </p:txBody>
      </p:sp>
      <p:sp>
        <p:nvSpPr>
          <p:cNvPr id="13" name="TextBox 12"/>
          <p:cNvSpPr txBox="1"/>
          <p:nvPr/>
        </p:nvSpPr>
        <p:spPr>
          <a:xfrm>
            <a:off x="7818120" y="4160520"/>
            <a:ext cx="3703320" cy="1965960"/>
          </a:xfrm>
          <a:prstGeom prst="rect">
            <a:avLst/>
          </a:prstGeom>
          <a:noFill/>
        </p:spPr>
        <p:txBody>
          <a:bodyPr wrap="square" anchor="t" lIns="36576" rIns="36576" tIns="18288" bIns="18288">
            <a:spAutoFit/>
          </a:bodyPr>
          <a:lstStyle/>
          <a:p>
            <a:pPr algn="l"/>
            <a:r>
              <a:rPr sz="1200" b="0" i="0">
                <a:solidFill>
                  <a:srgbClr val="1F2937"/>
                </a:solidFill>
                <a:latin typeface="Calibri"/>
              </a:rPr>
              <a:t>SQLite registry under datamart/ml/mlflow/ — the same on Windows and in Docker. Browse with `mlflow ui`.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Monthly batch scoring with @champion</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34</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31</a:t>
            </a:r>
          </a:p>
        </p:txBody>
      </p:sp>
      <p:pic>
        <p:nvPicPr>
          <p:cNvPr id="6" name="34_1_batch_inference.png" descr="34_1_batch_inference.png"/>
          <p:cNvPicPr>
            <a:picLocks noChangeAspect="1"/>
          </p:cNvPicPr>
          <p:nvPr/>
        </p:nvPicPr>
        <p:blipFill>
          <a:blip r:embed="rId2"/>
          <a:stretch>
            <a:fillRect/>
          </a:stretch>
        </p:blipFill>
        <p:spPr>
          <a:xfrm>
            <a:off x="1202726" y="1234440"/>
            <a:ext cx="9756066" cy="3017520"/>
          </a:xfrm>
          <a:prstGeom prst="rect">
            <a:avLst/>
          </a:prstGeom>
        </p:spPr>
      </p:pic>
      <p:graphicFrame>
        <p:nvGraphicFramePr>
          <p:cNvPr id="7" name="Table"/>
          <p:cNvGraphicFramePr>
            <a:graphicFrameLocks noGrp="1"/>
          </p:cNvGraphicFramePr>
          <p:nvPr/>
        </p:nvGraphicFramePr>
        <p:xfrm>
          <a:off x="548640" y="4389120"/>
          <a:ext cx="6949440" cy="1865376"/>
        </p:xfrm>
        <a:graphic>
          <a:graphicData uri="http://schemas.openxmlformats.org/drawingml/2006/table">
            <a:tbl>
              <a:tblPr firstRow="0" bandRow="0">
                <a:tableStyleId>{5940675A-B579-460E-94D1-54222C63F5DA}</a:tableStyleId>
              </a:tblPr>
              <a:tblGrid>
                <a:gridCol w="5760720"/>
                <a:gridCol w="1188720"/>
              </a:tblGrid>
              <a:tr h="310896">
                <a:tc>
                  <a:txBody>
                    <a:bodyPr wrap="square"/>
                    <a:lstStyle/>
                    <a:p>
                      <a:r>
                        <a:rPr sz="1050" b="1">
                          <a:solidFill>
                            <a:srgbClr val="FFFFFF"/>
                          </a:solidFill>
                          <a:latin typeface="Calibri"/>
                        </a:rPr>
                        <a:t>Check</a:t>
                      </a:r>
                    </a:p>
                  </a:txBody>
                  <a:tcPr marL="73152" marR="73152" marT="27432" marB="27432" anchor="ctr">
                    <a:solidFill>
                      <a:srgbClr val="14213D"/>
                    </a:solidFill>
                  </a:tcPr>
                </a:tc>
                <a:tc>
                  <a:txBody>
                    <a:bodyPr wrap="square"/>
                    <a:lstStyle/>
                    <a:p>
                      <a:r>
                        <a:rPr sz="1050" b="1">
                          <a:solidFill>
                            <a:srgbClr val="FFFFFF"/>
                          </a:solidFill>
                          <a:latin typeface="Calibri"/>
                        </a:rPr>
                        <a:t>Result</a:t>
                      </a:r>
                    </a:p>
                  </a:txBody>
                  <a:tcPr marL="73152" marR="73152" marT="27432" marB="27432" anchor="ctr">
                    <a:solidFill>
                      <a:srgbClr val="14213D"/>
                    </a:solidFill>
                  </a:tcPr>
                </a:tc>
              </a:tr>
              <a:tr h="310896">
                <a:tc>
                  <a:txBody>
                    <a:bodyPr wrap="square"/>
                    <a:lstStyle/>
                    <a:p>
                      <a:r>
                        <a:rPr sz="1050" b="0">
                          <a:solidFill>
                            <a:srgbClr val="1F2937"/>
                          </a:solidFill>
                          <a:latin typeface="Calibri"/>
                        </a:rPr>
                        <a:t>every OOT loan scored exactly once</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r h="310896">
                <a:tc>
                  <a:txBody>
                    <a:bodyPr wrap="square"/>
                    <a:lstStyle/>
                    <a:p>
                      <a:r>
                        <a:rPr sz="1050" b="0">
                          <a:solidFill>
                            <a:srgbClr val="1F2937"/>
                          </a:solidFill>
                          <a:latin typeface="Calibri"/>
                        </a:rPr>
                        <a:t>predictions equal the step-31 champion predictions</a:t>
                      </a:r>
                    </a:p>
                  </a:txBody>
                  <a:tcPr marL="73152" marR="73152" marT="27432" marB="27432" anchor="ctr">
                    <a:solidFill>
                      <a:srgbClr val="F6F8FB"/>
                    </a:solidFill>
                  </a:tcPr>
                </a:tc>
                <a:tc>
                  <a:txBody>
                    <a:bodyPr wrap="square"/>
                    <a:lstStyle/>
                    <a:p>
                      <a:r>
                        <a:rPr sz="1050" b="1">
                          <a:solidFill>
                            <a:srgbClr val="1BAF7A"/>
                          </a:solidFill>
                          <a:latin typeface="Calibri"/>
                        </a:rPr>
                        <a:t>PASS</a:t>
                      </a:r>
                    </a:p>
                  </a:txBody>
                  <a:tcPr marL="73152" marR="73152" marT="27432" marB="27432" anchor="ctr">
                    <a:solidFill>
                      <a:srgbClr val="F6F8FB"/>
                    </a:solidFill>
                  </a:tcPr>
                </a:tc>
              </a:tr>
              <a:tr h="310896">
                <a:tc>
                  <a:txBody>
                    <a:bodyPr wrap="square"/>
                    <a:lstStyle/>
                    <a:p>
                      <a:r>
                        <a:rPr sz="1050" b="0">
                          <a:solidFill>
                            <a:srgbClr val="1F2937"/>
                          </a:solidFill>
                          <a:latin typeface="Calibri"/>
                        </a:rPr>
                        <a:t>probabilities valid, no missing values</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r h="310896">
                <a:tc>
                  <a:txBody>
                    <a:bodyPr wrap="square"/>
                    <a:lstStyle/>
                    <a:p>
                      <a:r>
                        <a:rPr sz="1050" b="0">
                          <a:solidFill>
                            <a:srgbClr val="1F2937"/>
                          </a:solidFill>
                          <a:latin typeface="Calibri"/>
                        </a:rPr>
                        <a:t>threshold and version from the registry alias</a:t>
                      </a:r>
                    </a:p>
                  </a:txBody>
                  <a:tcPr marL="73152" marR="73152" marT="27432" marB="27432" anchor="ctr">
                    <a:solidFill>
                      <a:srgbClr val="F6F8FB"/>
                    </a:solidFill>
                  </a:tcPr>
                </a:tc>
                <a:tc>
                  <a:txBody>
                    <a:bodyPr wrap="square"/>
                    <a:lstStyle/>
                    <a:p>
                      <a:r>
                        <a:rPr sz="1050" b="1">
                          <a:solidFill>
                            <a:srgbClr val="1BAF7A"/>
                          </a:solidFill>
                          <a:latin typeface="Calibri"/>
                        </a:rPr>
                        <a:t>PASS</a:t>
                      </a:r>
                    </a:p>
                  </a:txBody>
                  <a:tcPr marL="73152" marR="73152" marT="27432" marB="27432" anchor="ctr">
                    <a:solidFill>
                      <a:srgbClr val="F6F8FB"/>
                    </a:solidFill>
                  </a:tcPr>
                </a:tc>
              </a:tr>
              <a:tr h="310896">
                <a:tc>
                  <a:txBody>
                    <a:bodyPr wrap="square"/>
                    <a:lstStyle/>
                    <a:p>
                      <a:r>
                        <a:rPr sz="1050" b="0">
                          <a:solidFill>
                            <a:srgbClr val="1F2937"/>
                          </a:solidFill>
                          <a:latin typeface="Calibri"/>
                        </a:rPr>
                        <a:t>flag rate matches step 31 at the same threshold</a:t>
                      </a:r>
                    </a:p>
                  </a:txBody>
                  <a:tcPr marL="73152" marR="73152" marT="27432" marB="27432" anchor="ctr">
                    <a:solidFill>
                      <a:srgbClr val="FFFFFF"/>
                    </a:solidFill>
                  </a:tcPr>
                </a:tc>
                <a:tc>
                  <a:txBody>
                    <a:bodyPr wrap="square"/>
                    <a:lstStyle/>
                    <a:p>
                      <a:r>
                        <a:rPr sz="1050" b="1">
                          <a:solidFill>
                            <a:srgbClr val="1BAF7A"/>
                          </a:solidFill>
                          <a:latin typeface="Calibri"/>
                        </a:rPr>
                        <a:t>PASS</a:t>
                      </a:r>
                    </a:p>
                  </a:txBody>
                  <a:tcPr marL="73152" marR="73152" marT="27432" marB="27432" anchor="ctr">
                    <a:solidFill>
                      <a:srgbClr val="FFFFFF"/>
                    </a:solidFill>
                  </a:tcPr>
                </a:tc>
              </a:tr>
            </a:tbl>
          </a:graphicData>
        </a:graphic>
      </p:graphicFrame>
      <p:sp>
        <p:nvSpPr>
          <p:cNvPr id="8" name="Rounded Rectangle 7"/>
          <p:cNvSpPr/>
          <p:nvPr/>
        </p:nvSpPr>
        <p:spPr>
          <a:xfrm>
            <a:off x="7772400" y="4389120"/>
            <a:ext cx="1874519" cy="10515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4480559"/>
            <a:ext cx="1600199" cy="640080"/>
          </a:xfrm>
          <a:prstGeom prst="rect">
            <a:avLst/>
          </a:prstGeom>
          <a:noFill/>
        </p:spPr>
        <p:txBody>
          <a:bodyPr wrap="square" anchor="t" lIns="36576" rIns="36576" tIns="18288" bIns="18288">
            <a:spAutoFit/>
          </a:bodyPr>
          <a:lstStyle/>
          <a:p>
            <a:pPr algn="l"/>
            <a:r>
              <a:rPr sz="3200" b="1" i="0">
                <a:solidFill>
                  <a:srgbClr val="14213D"/>
                </a:solidFill>
                <a:latin typeface="Cambria"/>
              </a:rPr>
              <a:t>3,526</a:t>
            </a:r>
          </a:p>
        </p:txBody>
      </p:sp>
      <p:sp>
        <p:nvSpPr>
          <p:cNvPr id="10" name="TextBox 9"/>
          <p:cNvSpPr txBox="1"/>
          <p:nvPr/>
        </p:nvSpPr>
        <p:spPr>
          <a:xfrm>
            <a:off x="7909560" y="5102352"/>
            <a:ext cx="1600199" cy="301751"/>
          </a:xfrm>
          <a:prstGeom prst="rect">
            <a:avLst/>
          </a:prstGeom>
          <a:noFill/>
        </p:spPr>
        <p:txBody>
          <a:bodyPr wrap="square" anchor="t" lIns="36576" rIns="36576" tIns="18288" bIns="18288">
            <a:spAutoFit/>
          </a:bodyPr>
          <a:lstStyle/>
          <a:p>
            <a:pPr algn="l"/>
            <a:r>
              <a:rPr sz="1200" b="0" i="0">
                <a:solidFill>
                  <a:srgbClr val="5B6472"/>
                </a:solidFill>
                <a:latin typeface="Calibri"/>
              </a:rPr>
              <a:t>loans scored</a:t>
            </a:r>
          </a:p>
        </p:txBody>
      </p:sp>
      <p:sp>
        <p:nvSpPr>
          <p:cNvPr id="11" name="Rounded Rectangle 10"/>
          <p:cNvSpPr/>
          <p:nvPr/>
        </p:nvSpPr>
        <p:spPr>
          <a:xfrm>
            <a:off x="9784080" y="4389120"/>
            <a:ext cx="1874519" cy="105156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21240" y="4480559"/>
            <a:ext cx="1600199" cy="640080"/>
          </a:xfrm>
          <a:prstGeom prst="rect">
            <a:avLst/>
          </a:prstGeom>
          <a:noFill/>
        </p:spPr>
        <p:txBody>
          <a:bodyPr wrap="square" anchor="t" lIns="36576" rIns="36576" tIns="18288" bIns="18288">
            <a:spAutoFit/>
          </a:bodyPr>
          <a:lstStyle/>
          <a:p>
            <a:pPr algn="l"/>
            <a:r>
              <a:rPr sz="3200" b="1" i="0">
                <a:solidFill>
                  <a:srgbClr val="EB6834"/>
                </a:solidFill>
                <a:latin typeface="Cambria"/>
              </a:rPr>
              <a:t>34.9%</a:t>
            </a:r>
          </a:p>
        </p:txBody>
      </p:sp>
      <p:sp>
        <p:nvSpPr>
          <p:cNvPr id="13" name="TextBox 12"/>
          <p:cNvSpPr txBox="1"/>
          <p:nvPr/>
        </p:nvSpPr>
        <p:spPr>
          <a:xfrm>
            <a:off x="9921240" y="5102352"/>
            <a:ext cx="1600199" cy="301751"/>
          </a:xfrm>
          <a:prstGeom prst="rect">
            <a:avLst/>
          </a:prstGeom>
          <a:noFill/>
        </p:spPr>
        <p:txBody>
          <a:bodyPr wrap="square" anchor="t" lIns="36576" rIns="36576" tIns="18288" bIns="18288">
            <a:spAutoFit/>
          </a:bodyPr>
          <a:lstStyle/>
          <a:p>
            <a:pPr algn="l"/>
            <a:r>
              <a:rPr sz="1200" b="0" i="0">
                <a:solidFill>
                  <a:srgbClr val="5B6472"/>
                </a:solidFill>
                <a:latin typeface="Calibri"/>
              </a:rPr>
              <a:t>flagged high-risk</a:t>
            </a:r>
          </a:p>
        </p:txBody>
      </p:sp>
      <p:sp>
        <p:nvSpPr>
          <p:cNvPr id="14" name="Rounded Rectangle 13"/>
          <p:cNvSpPr/>
          <p:nvPr/>
        </p:nvSpPr>
        <p:spPr>
          <a:xfrm>
            <a:off x="7772400" y="5577840"/>
            <a:ext cx="3886200" cy="77724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5669279"/>
            <a:ext cx="3611880" cy="365760"/>
          </a:xfrm>
          <a:prstGeom prst="rect">
            <a:avLst/>
          </a:prstGeom>
          <a:noFill/>
        </p:spPr>
        <p:txBody>
          <a:bodyPr wrap="square" anchor="t" lIns="36576" rIns="36576" tIns="18288" bIns="18288">
            <a:spAutoFit/>
          </a:bodyPr>
          <a:lstStyle/>
          <a:p>
            <a:pPr algn="l"/>
            <a:r>
              <a:rPr sz="1400" b="1" i="0">
                <a:solidFill>
                  <a:srgbClr val="14213D"/>
                </a:solidFill>
                <a:latin typeface="Calibri"/>
              </a:rPr>
              <a:t>Deployed path = evaluated model</a:t>
            </a:r>
          </a:p>
        </p:txBody>
      </p:sp>
      <p:sp>
        <p:nvSpPr>
          <p:cNvPr id="16" name="TextBox 15"/>
          <p:cNvSpPr txBox="1"/>
          <p:nvPr/>
        </p:nvSpPr>
        <p:spPr>
          <a:xfrm>
            <a:off x="7909560" y="6035040"/>
            <a:ext cx="3611880" cy="274319"/>
          </a:xfrm>
          <a:prstGeom prst="rect">
            <a:avLst/>
          </a:prstGeom>
          <a:noFill/>
        </p:spPr>
        <p:txBody>
          <a:bodyPr wrap="square" anchor="t" lIns="36576" rIns="36576" tIns="18288" bIns="18288">
            <a:spAutoFit/>
          </a:bodyPr>
          <a:lstStyle/>
          <a:p>
            <a:pPr algn="l"/>
            <a:r>
              <a:rPr sz="1100" b="0" i="0">
                <a:solidFill>
                  <a:srgbClr val="1F2937"/>
                </a:solidFill>
                <a:latin typeface="Calibri"/>
              </a:rPr>
              <a:t>Same predictions as step 31 (difference 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Monitoring: what is checked, and when</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35</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32</a:t>
            </a:r>
          </a:p>
        </p:txBody>
      </p:sp>
      <p:graphicFrame>
        <p:nvGraphicFramePr>
          <p:cNvPr id="6" name="Table"/>
          <p:cNvGraphicFramePr>
            <a:graphicFrameLocks noGrp="1"/>
          </p:cNvGraphicFramePr>
          <p:nvPr/>
        </p:nvGraphicFramePr>
        <p:xfrm>
          <a:off x="548640" y="1325880"/>
          <a:ext cx="6766560" cy="2286000"/>
        </p:xfrm>
        <a:graphic>
          <a:graphicData uri="http://schemas.openxmlformats.org/drawingml/2006/table">
            <a:tbl>
              <a:tblPr firstRow="0" bandRow="0">
                <a:tableStyleId>{5940675A-B579-460E-94D1-54222C63F5DA}</a:tableStyleId>
              </a:tblPr>
              <a:tblGrid>
                <a:gridCol w="1920240"/>
                <a:gridCol w="1463040"/>
                <a:gridCol w="3383280"/>
              </a:tblGrid>
              <a:tr h="457200">
                <a:tc>
                  <a:txBody>
                    <a:bodyPr wrap="square"/>
                    <a:lstStyle/>
                    <a:p>
                      <a:r>
                        <a:rPr sz="1200" b="1">
                          <a:solidFill>
                            <a:srgbClr val="FFFFFF"/>
                          </a:solidFill>
                          <a:latin typeface="Calibri"/>
                        </a:rPr>
                        <a:t>Layer</a:t>
                      </a:r>
                    </a:p>
                  </a:txBody>
                  <a:tcPr marL="73152" marR="73152" marT="27432" marB="27432" anchor="ctr">
                    <a:solidFill>
                      <a:srgbClr val="14213D"/>
                    </a:solidFill>
                  </a:tcPr>
                </a:tc>
                <a:tc>
                  <a:txBody>
                    <a:bodyPr wrap="square"/>
                    <a:lstStyle/>
                    <a:p>
                      <a:r>
                        <a:rPr sz="1200" b="1">
                          <a:solidFill>
                            <a:srgbClr val="FFFFFF"/>
                          </a:solidFill>
                          <a:latin typeface="Calibri"/>
                        </a:rPr>
                        <a:t>Available</a:t>
                      </a:r>
                    </a:p>
                  </a:txBody>
                  <a:tcPr marL="73152" marR="73152" marT="27432" marB="27432" anchor="ctr">
                    <a:solidFill>
                      <a:srgbClr val="14213D"/>
                    </a:solidFill>
                  </a:tcPr>
                </a:tc>
                <a:tc>
                  <a:txBody>
                    <a:bodyPr wrap="square"/>
                    <a:lstStyle/>
                    <a:p>
                      <a:r>
                        <a:rPr sz="1200" b="1">
                          <a:solidFill>
                            <a:srgbClr val="FFFFFF"/>
                          </a:solidFill>
                          <a:latin typeface="Calibri"/>
                        </a:rPr>
                        <a:t>Rule</a:t>
                      </a:r>
                    </a:p>
                  </a:txBody>
                  <a:tcPr marL="73152" marR="73152" marT="27432" marB="27432" anchor="ctr">
                    <a:solidFill>
                      <a:srgbClr val="14213D"/>
                    </a:solidFill>
                  </a:tcPr>
                </a:tc>
              </a:tr>
              <a:tr h="457200">
                <a:tc>
                  <a:txBody>
                    <a:bodyPr wrap="square"/>
                    <a:lstStyle/>
                    <a:p>
                      <a:r>
                        <a:rPr sz="1200" b="1">
                          <a:solidFill>
                            <a:srgbClr val="1F2937"/>
                          </a:solidFill>
                          <a:latin typeface="Calibri"/>
                        </a:rPr>
                        <a:t>Data quality</a:t>
                      </a:r>
                    </a:p>
                  </a:txBody>
                  <a:tcPr marL="73152" marR="73152" marT="27432" marB="27432" anchor="ctr">
                    <a:solidFill>
                      <a:srgbClr val="FFFFFF"/>
                    </a:solidFill>
                  </a:tcPr>
                </a:tc>
                <a:tc>
                  <a:txBody>
                    <a:bodyPr wrap="square"/>
                    <a:lstStyle/>
                    <a:p>
                      <a:r>
                        <a:rPr sz="1200" b="0">
                          <a:solidFill>
                            <a:srgbClr val="1F2937"/>
                          </a:solidFill>
                          <a:latin typeface="Calibri"/>
                        </a:rPr>
                        <a:t>at scoring</a:t>
                      </a:r>
                    </a:p>
                  </a:txBody>
                  <a:tcPr marL="73152" marR="73152" marT="27432" marB="27432" anchor="ctr">
                    <a:solidFill>
                      <a:srgbClr val="FFFFFF"/>
                    </a:solidFill>
                  </a:tcPr>
                </a:tc>
                <a:tc>
                  <a:txBody>
                    <a:bodyPr wrap="square"/>
                    <a:lstStyle/>
                    <a:p>
                      <a:r>
                        <a:rPr sz="1200" b="0">
                          <a:solidFill>
                            <a:srgbClr val="1F2937"/>
                          </a:solidFill>
                          <a:latin typeface="Calibri"/>
                        </a:rPr>
                        <a:t>missing values +10 pp vs training → alert</a:t>
                      </a:r>
                    </a:p>
                  </a:txBody>
                  <a:tcPr marL="73152" marR="73152" marT="27432" marB="27432" anchor="ctr">
                    <a:solidFill>
                      <a:srgbClr val="FFFFFF"/>
                    </a:solidFill>
                  </a:tcPr>
                </a:tc>
              </a:tr>
              <a:tr h="457200">
                <a:tc>
                  <a:txBody>
                    <a:bodyPr wrap="square"/>
                    <a:lstStyle/>
                    <a:p>
                      <a:r>
                        <a:rPr sz="1200" b="1">
                          <a:solidFill>
                            <a:srgbClr val="1F2937"/>
                          </a:solidFill>
                          <a:latin typeface="Calibri"/>
                        </a:rPr>
                        <a:t>Input drift (PSI)</a:t>
                      </a:r>
                    </a:p>
                  </a:txBody>
                  <a:tcPr marL="73152" marR="73152" marT="27432" marB="27432" anchor="ctr">
                    <a:solidFill>
                      <a:srgbClr val="F6F8FB"/>
                    </a:solidFill>
                  </a:tcPr>
                </a:tc>
                <a:tc>
                  <a:txBody>
                    <a:bodyPr wrap="square"/>
                    <a:lstStyle/>
                    <a:p>
                      <a:r>
                        <a:rPr sz="1200" b="0">
                          <a:solidFill>
                            <a:srgbClr val="1F2937"/>
                          </a:solidFill>
                          <a:latin typeface="Calibri"/>
                        </a:rPr>
                        <a:t>at scoring</a:t>
                      </a:r>
                    </a:p>
                  </a:txBody>
                  <a:tcPr marL="73152" marR="73152" marT="27432" marB="27432" anchor="ctr">
                    <a:solidFill>
                      <a:srgbClr val="F6F8FB"/>
                    </a:solidFill>
                  </a:tcPr>
                </a:tc>
                <a:tc>
                  <a:txBody>
                    <a:bodyPr wrap="square"/>
                    <a:lstStyle/>
                    <a:p>
                      <a:r>
                        <a:rPr sz="1200" b="0">
                          <a:solidFill>
                            <a:srgbClr val="1F2937"/>
                          </a:solidFill>
                          <a:latin typeface="Calibri"/>
                        </a:rPr>
                        <a:t>0.10 watch · 0.25 alert</a:t>
                      </a:r>
                    </a:p>
                  </a:txBody>
                  <a:tcPr marL="73152" marR="73152" marT="27432" marB="27432" anchor="ctr">
                    <a:solidFill>
                      <a:srgbClr val="F6F8FB"/>
                    </a:solidFill>
                  </a:tcPr>
                </a:tc>
              </a:tr>
              <a:tr h="457200">
                <a:tc>
                  <a:txBody>
                    <a:bodyPr wrap="square"/>
                    <a:lstStyle/>
                    <a:p>
                      <a:r>
                        <a:rPr sz="1200" b="1">
                          <a:solidFill>
                            <a:srgbClr val="1F2937"/>
                          </a:solidFill>
                          <a:latin typeface="Calibri"/>
                        </a:rPr>
                        <a:t>Score drift, decisions</a:t>
                      </a:r>
                    </a:p>
                  </a:txBody>
                  <a:tcPr marL="73152" marR="73152" marT="27432" marB="27432" anchor="ctr">
                    <a:solidFill>
                      <a:srgbClr val="FFFFFF"/>
                    </a:solidFill>
                  </a:tcPr>
                </a:tc>
                <a:tc>
                  <a:txBody>
                    <a:bodyPr wrap="square"/>
                    <a:lstStyle/>
                    <a:p>
                      <a:r>
                        <a:rPr sz="1200" b="0">
                          <a:solidFill>
                            <a:srgbClr val="1F2937"/>
                          </a:solidFill>
                          <a:latin typeface="Calibri"/>
                        </a:rPr>
                        <a:t>at scoring</a:t>
                      </a:r>
                    </a:p>
                  </a:txBody>
                  <a:tcPr marL="73152" marR="73152" marT="27432" marB="27432" anchor="ctr">
                    <a:solidFill>
                      <a:srgbClr val="FFFFFF"/>
                    </a:solidFill>
                  </a:tcPr>
                </a:tc>
                <a:tc>
                  <a:txBody>
                    <a:bodyPr wrap="square"/>
                    <a:lstStyle/>
                    <a:p>
                      <a:r>
                        <a:rPr sz="1200" b="0">
                          <a:solidFill>
                            <a:srgbClr val="1F2937"/>
                          </a:solidFill>
                          <a:latin typeface="Calibri"/>
                        </a:rPr>
                        <a:t>score PSI rules; flagged share ± 10 pp</a:t>
                      </a:r>
                    </a:p>
                  </a:txBody>
                  <a:tcPr marL="73152" marR="73152" marT="27432" marB="27432" anchor="ctr">
                    <a:solidFill>
                      <a:srgbClr val="FFFFFF"/>
                    </a:solidFill>
                  </a:tcPr>
                </a:tc>
              </a:tr>
              <a:tr h="457200">
                <a:tc>
                  <a:txBody>
                    <a:bodyPr wrap="square"/>
                    <a:lstStyle/>
                    <a:p>
                      <a:r>
                        <a:rPr sz="1200" b="1">
                          <a:solidFill>
                            <a:srgbClr val="1F2937"/>
                          </a:solidFill>
                          <a:latin typeface="Calibri"/>
                        </a:rPr>
                        <a:t>Performance</a:t>
                      </a:r>
                    </a:p>
                  </a:txBody>
                  <a:tcPr marL="73152" marR="73152" marT="27432" marB="27432" anchor="ctr">
                    <a:solidFill>
                      <a:srgbClr val="F6F8FB"/>
                    </a:solidFill>
                  </a:tcPr>
                </a:tc>
                <a:tc>
                  <a:txBody>
                    <a:bodyPr wrap="square"/>
                    <a:lstStyle/>
                    <a:p>
                      <a:r>
                        <a:rPr sz="1200" b="0">
                          <a:solidFill>
                            <a:srgbClr val="1F2937"/>
                          </a:solidFill>
                          <a:latin typeface="Calibri"/>
                        </a:rPr>
                        <a:t>6 months later</a:t>
                      </a:r>
                    </a:p>
                  </a:txBody>
                  <a:tcPr marL="73152" marR="73152" marT="27432" marB="27432" anchor="ctr">
                    <a:solidFill>
                      <a:srgbClr val="F6F8FB"/>
                    </a:solidFill>
                  </a:tcPr>
                </a:tc>
                <a:tc>
                  <a:txBody>
                    <a:bodyPr wrap="square"/>
                    <a:lstStyle/>
                    <a:p>
                      <a:r>
                        <a:rPr sz="1200" b="0">
                          <a:solidFill>
                            <a:srgbClr val="1F2937"/>
                          </a:solidFill>
                          <a:latin typeface="Calibri"/>
                        </a:rPr>
                        <a:t>PR-AUC − 0.05 alert; calibration ± 5 pp</a:t>
                      </a:r>
                    </a:p>
                  </a:txBody>
                  <a:tcPr marL="73152" marR="73152" marT="27432" marB="27432" anchor="ctr">
                    <a:solidFill>
                      <a:srgbClr val="F6F8FB"/>
                    </a:solidFill>
                  </a:tcPr>
                </a:tc>
              </a:tr>
            </a:tbl>
          </a:graphicData>
        </a:graphic>
      </p:graphicFrame>
      <p:sp>
        <p:nvSpPr>
          <p:cNvPr id="7" name="TextBox 6"/>
          <p:cNvSpPr txBox="1"/>
          <p:nvPr/>
        </p:nvSpPr>
        <p:spPr>
          <a:xfrm>
            <a:off x="548640" y="3840480"/>
            <a:ext cx="6766560" cy="2468880"/>
          </a:xfrm>
          <a:prstGeom prst="rect">
            <a:avLst/>
          </a:prstGeom>
          <a:noFill/>
        </p:spPr>
        <p:txBody>
          <a:bodyPr wrap="square" lIns="36576" rIns="36576">
            <a:spAutoFit/>
          </a:bodyPr>
          <a:lstStyle/>
          <a:p>
            <a:pPr marL="201168" indent="-182880">
              <a:spcAft>
                <a:spcPts val="800"/>
              </a:spcAft>
              <a:buFont typeface="Arial"/>
              <a:buChar char="•"/>
            </a:pPr>
            <a:r>
              <a:rPr sz="1300" b="1">
                <a:solidFill>
                  <a:srgbClr val="1F2937"/>
                </a:solidFill>
                <a:latin typeface="Calibri"/>
              </a:rPr>
              <a:t>Replayed on 2024-07 → 2025-07 </a:t>
            </a:r>
            <a:r>
              <a:rPr sz="1300" b="0">
                <a:solidFill>
                  <a:srgbClr val="1F2937"/>
                </a:solidFill>
                <a:latin typeface="Calibri"/>
              </a:rPr>
              <a:t>(no live data yet): the months after training, scored in step 34; labels are used only from the date they would arrive.</a:t>
            </a:r>
          </a:p>
          <a:p>
            <a:pPr marL="201168" indent="-182880">
              <a:spcAft>
                <a:spcPts val="800"/>
              </a:spcAft>
              <a:buFont typeface="Arial"/>
              <a:buChar char="•"/>
            </a:pPr>
            <a:r>
              <a:rPr sz="1300" b="1">
                <a:solidFill>
                  <a:srgbClr val="1F2937"/>
                </a:solidFill>
                <a:latin typeface="Calibri"/>
              </a:rPr>
              <a:t>Champion inputs stable: </a:t>
            </a:r>
            <a:r>
              <a:rPr sz="1300" b="0">
                <a:solidFill>
                  <a:srgbClr val="1F2937"/>
                </a:solidFill>
                <a:latin typeface="Calibri"/>
              </a:rPr>
              <a:t>every input PSI ≤ 0.06 in every month (heatmap, blue).</a:t>
            </a:r>
          </a:p>
          <a:p>
            <a:pPr marL="201168" indent="-182880">
              <a:spcAft>
                <a:spcPts val="800"/>
              </a:spcAft>
              <a:buFont typeface="Arial"/>
              <a:buChar char="•"/>
            </a:pPr>
            <a:r>
              <a:rPr sz="1300" b="1">
                <a:solidFill>
                  <a:srgbClr val="1F2937"/>
                </a:solidFill>
                <a:latin typeface="Calibri"/>
              </a:rPr>
              <a:t>Challenger: </a:t>
            </a:r>
            <a:r>
              <a:rPr sz="1300" b="0">
                <a:solidFill>
                  <a:srgbClr val="1F2937"/>
                </a:solidFill>
                <a:latin typeface="Calibri"/>
              </a:rPr>
              <a:t>clickstream inputs red from the first month — the feed is empty.</a:t>
            </a:r>
          </a:p>
        </p:txBody>
      </p:sp>
      <p:pic>
        <p:nvPicPr>
          <p:cNvPr id="8" name="35_1_input_drift_heatmap.png" descr="35_1_input_drift_heatmap.png"/>
          <p:cNvPicPr>
            <a:picLocks noChangeAspect="1"/>
          </p:cNvPicPr>
          <p:nvPr/>
        </p:nvPicPr>
        <p:blipFill>
          <a:blip r:embed="rId2"/>
          <a:stretch>
            <a:fillRect/>
          </a:stretch>
        </p:blipFill>
        <p:spPr>
          <a:xfrm>
            <a:off x="7498079" y="1790308"/>
            <a:ext cx="4206240" cy="391746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Monitoring results: one late performance alert</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35</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33</a:t>
            </a:r>
          </a:p>
        </p:txBody>
      </p:sp>
      <p:pic>
        <p:nvPicPr>
          <p:cNvPr id="6" name="35_2_score_and_performance.png" descr="35_2_score_and_performance.png"/>
          <p:cNvPicPr>
            <a:picLocks noChangeAspect="1"/>
          </p:cNvPicPr>
          <p:nvPr/>
        </p:nvPicPr>
        <p:blipFill>
          <a:blip r:embed="rId2"/>
          <a:stretch>
            <a:fillRect/>
          </a:stretch>
        </p:blipFill>
        <p:spPr>
          <a:xfrm>
            <a:off x="457200" y="1195165"/>
            <a:ext cx="11247120" cy="2958908"/>
          </a:xfrm>
          <a:prstGeom prst="rect">
            <a:avLst/>
          </a:prstGeom>
        </p:spPr>
      </p:pic>
      <p:graphicFrame>
        <p:nvGraphicFramePr>
          <p:cNvPr id="7" name="Table"/>
          <p:cNvGraphicFramePr>
            <a:graphicFrameLocks noGrp="1"/>
          </p:cNvGraphicFramePr>
          <p:nvPr/>
        </p:nvGraphicFramePr>
        <p:xfrm>
          <a:off x="548640" y="4297680"/>
          <a:ext cx="7863840" cy="1975104"/>
        </p:xfrm>
        <a:graphic>
          <a:graphicData uri="http://schemas.openxmlformats.org/drawingml/2006/table">
            <a:tbl>
              <a:tblPr firstRow="0" bandRow="0">
                <a:tableStyleId>{5940675A-B579-460E-94D1-54222C63F5DA}</a:tableStyleId>
              </a:tblPr>
              <a:tblGrid>
                <a:gridCol w="1005840"/>
                <a:gridCol w="731520"/>
                <a:gridCol w="914400"/>
                <a:gridCol w="868680"/>
                <a:gridCol w="1005840"/>
                <a:gridCol w="914400"/>
                <a:gridCol w="822960"/>
                <a:gridCol w="1600200"/>
              </a:tblGrid>
              <a:tr h="246888">
                <a:tc>
                  <a:txBody>
                    <a:bodyPr wrap="square"/>
                    <a:lstStyle/>
                    <a:p>
                      <a:r>
                        <a:rPr sz="950" b="1">
                          <a:solidFill>
                            <a:srgbClr val="FFFFFF"/>
                          </a:solidFill>
                          <a:latin typeface="Calibri"/>
                        </a:rPr>
                        <a:t>Loan month</a:t>
                      </a:r>
                    </a:p>
                  </a:txBody>
                  <a:tcPr marL="73152" marR="73152" marT="27432" marB="27432" anchor="ctr">
                    <a:solidFill>
                      <a:srgbClr val="14213D"/>
                    </a:solidFill>
                  </a:tcPr>
                </a:tc>
                <a:tc>
                  <a:txBody>
                    <a:bodyPr wrap="square"/>
                    <a:lstStyle/>
                    <a:p>
                      <a:r>
                        <a:rPr sz="950" b="1">
                          <a:solidFill>
                            <a:srgbClr val="FFFFFF"/>
                          </a:solidFill>
                          <a:latin typeface="Calibri"/>
                        </a:rPr>
                        <a:t>Loans</a:t>
                      </a:r>
                    </a:p>
                  </a:txBody>
                  <a:tcPr marL="73152" marR="73152" marT="27432" marB="27432" anchor="ctr">
                    <a:solidFill>
                      <a:srgbClr val="14213D"/>
                    </a:solidFill>
                  </a:tcPr>
                </a:tc>
                <a:tc>
                  <a:txBody>
                    <a:bodyPr wrap="square"/>
                    <a:lstStyle/>
                    <a:p>
                      <a:r>
                        <a:rPr sz="950" b="1">
                          <a:solidFill>
                            <a:srgbClr val="FFFFFF"/>
                          </a:solidFill>
                          <a:latin typeface="Calibri"/>
                        </a:rPr>
                        <a:t>Score PSI</a:t>
                      </a:r>
                    </a:p>
                  </a:txBody>
                  <a:tcPr marL="73152" marR="73152" marT="27432" marB="27432" anchor="ctr">
                    <a:solidFill>
                      <a:srgbClr val="14213D"/>
                    </a:solidFill>
                  </a:tcPr>
                </a:tc>
                <a:tc>
                  <a:txBody>
                    <a:bodyPr wrap="square"/>
                    <a:lstStyle/>
                    <a:p>
                      <a:r>
                        <a:rPr sz="950" b="1">
                          <a:solidFill>
                            <a:srgbClr val="FFFFFF"/>
                          </a:solidFill>
                          <a:latin typeface="Calibri"/>
                        </a:rPr>
                        <a:t>Flagged</a:t>
                      </a:r>
                    </a:p>
                  </a:txBody>
                  <a:tcPr marL="73152" marR="73152" marT="27432" marB="27432" anchor="ctr">
                    <a:solidFill>
                      <a:srgbClr val="14213D"/>
                    </a:solidFill>
                  </a:tcPr>
                </a:tc>
                <a:tc>
                  <a:txBody>
                    <a:bodyPr wrap="square"/>
                    <a:lstStyle/>
                    <a:p>
                      <a:r>
                        <a:rPr sz="950" b="1">
                          <a:solidFill>
                            <a:srgbClr val="FFFFFF"/>
                          </a:solidFill>
                          <a:latin typeface="Calibri"/>
                        </a:rPr>
                        <a:t>Labels on</a:t>
                      </a:r>
                    </a:p>
                  </a:txBody>
                  <a:tcPr marL="73152" marR="73152" marT="27432" marB="27432" anchor="ctr">
                    <a:solidFill>
                      <a:srgbClr val="14213D"/>
                    </a:solidFill>
                  </a:tcPr>
                </a:tc>
                <a:tc>
                  <a:txBody>
                    <a:bodyPr wrap="square"/>
                    <a:lstStyle/>
                    <a:p>
                      <a:r>
                        <a:rPr sz="950" b="1">
                          <a:solidFill>
                            <a:srgbClr val="FFFFFF"/>
                          </a:solidFill>
                          <a:latin typeface="Calibri"/>
                        </a:rPr>
                        <a:t>PR-AUC</a:t>
                      </a:r>
                    </a:p>
                  </a:txBody>
                  <a:tcPr marL="73152" marR="73152" marT="27432" marB="27432" anchor="ctr">
                    <a:solidFill>
                      <a:srgbClr val="14213D"/>
                    </a:solidFill>
                  </a:tcPr>
                </a:tc>
                <a:tc>
                  <a:txBody>
                    <a:bodyPr wrap="square"/>
                    <a:lstStyle/>
                    <a:p>
                      <a:r>
                        <a:rPr sz="950" b="1">
                          <a:solidFill>
                            <a:srgbClr val="FFFFFF"/>
                          </a:solidFill>
                          <a:latin typeface="Calibri"/>
                        </a:rPr>
                        <a:t>Recall</a:t>
                      </a:r>
                    </a:p>
                  </a:txBody>
                  <a:tcPr marL="73152" marR="73152" marT="27432" marB="27432" anchor="ctr">
                    <a:solidFill>
                      <a:srgbClr val="14213D"/>
                    </a:solidFill>
                  </a:tcPr>
                </a:tc>
                <a:tc>
                  <a:txBody>
                    <a:bodyPr wrap="square"/>
                    <a:lstStyle/>
                    <a:p>
                      <a:r>
                        <a:rPr sz="950" b="1">
                          <a:solidFill>
                            <a:srgbClr val="FFFFFF"/>
                          </a:solidFill>
                          <a:latin typeface="Calibri"/>
                        </a:rPr>
                        <a:t>Calib. gap</a:t>
                      </a:r>
                    </a:p>
                  </a:txBody>
                  <a:tcPr marL="73152" marR="73152" marT="27432" marB="27432" anchor="ctr">
                    <a:solidFill>
                      <a:srgbClr val="14213D"/>
                    </a:solidFill>
                  </a:tcPr>
                </a:tc>
              </a:tr>
              <a:tr h="246888">
                <a:tc>
                  <a:txBody>
                    <a:bodyPr wrap="square"/>
                    <a:lstStyle/>
                    <a:p>
                      <a:r>
                        <a:rPr sz="950" b="0">
                          <a:solidFill>
                            <a:srgbClr val="1F2937"/>
                          </a:solidFill>
                          <a:latin typeface="Calibri"/>
                        </a:rPr>
                        <a:t>2024-07</a:t>
                      </a:r>
                    </a:p>
                  </a:txBody>
                  <a:tcPr marL="73152" marR="73152" marT="27432" marB="27432" anchor="ctr">
                    <a:solidFill>
                      <a:srgbClr val="FFFFFF"/>
                    </a:solidFill>
                  </a:tcPr>
                </a:tc>
                <a:tc>
                  <a:txBody>
                    <a:bodyPr wrap="square"/>
                    <a:lstStyle/>
                    <a:p>
                      <a:r>
                        <a:rPr sz="950" b="0">
                          <a:solidFill>
                            <a:srgbClr val="1F2937"/>
                          </a:solidFill>
                          <a:latin typeface="Calibri"/>
                        </a:rPr>
                        <a:t>505</a:t>
                      </a:r>
                    </a:p>
                  </a:txBody>
                  <a:tcPr marL="73152" marR="73152" marT="27432" marB="27432" anchor="ctr">
                    <a:solidFill>
                      <a:srgbClr val="FFFFFF"/>
                    </a:solidFill>
                  </a:tcPr>
                </a:tc>
                <a:tc>
                  <a:txBody>
                    <a:bodyPr wrap="square"/>
                    <a:lstStyle/>
                    <a:p>
                      <a:r>
                        <a:rPr sz="950" b="0">
                          <a:solidFill>
                            <a:srgbClr val="1F2937"/>
                          </a:solidFill>
                          <a:latin typeface="Calibri"/>
                        </a:rPr>
                        <a:t>0.037</a:t>
                      </a:r>
                    </a:p>
                  </a:txBody>
                  <a:tcPr marL="73152" marR="73152" marT="27432" marB="27432" anchor="ctr">
                    <a:solidFill>
                      <a:srgbClr val="FFFFFF"/>
                    </a:solidFill>
                  </a:tcPr>
                </a:tc>
                <a:tc>
                  <a:txBody>
                    <a:bodyPr wrap="square"/>
                    <a:lstStyle/>
                    <a:p>
                      <a:r>
                        <a:rPr sz="950" b="0">
                          <a:solidFill>
                            <a:srgbClr val="1F2937"/>
                          </a:solidFill>
                          <a:latin typeface="Calibri"/>
                        </a:rPr>
                        <a:t>38%</a:t>
                      </a:r>
                    </a:p>
                  </a:txBody>
                  <a:tcPr marL="73152" marR="73152" marT="27432" marB="27432" anchor="ctr">
                    <a:solidFill>
                      <a:srgbClr val="FFFFFF"/>
                    </a:solidFill>
                  </a:tcPr>
                </a:tc>
                <a:tc>
                  <a:txBody>
                    <a:bodyPr wrap="square"/>
                    <a:lstStyle/>
                    <a:p>
                      <a:r>
                        <a:rPr sz="950" b="0">
                          <a:solidFill>
                            <a:srgbClr val="1F2937"/>
                          </a:solidFill>
                          <a:latin typeface="Calibri"/>
                        </a:rPr>
                        <a:t>2025-01</a:t>
                      </a:r>
                    </a:p>
                  </a:txBody>
                  <a:tcPr marL="73152" marR="73152" marT="27432" marB="27432" anchor="ctr">
                    <a:solidFill>
                      <a:srgbClr val="FFFFFF"/>
                    </a:solidFill>
                  </a:tcPr>
                </a:tc>
                <a:tc>
                  <a:txBody>
                    <a:bodyPr wrap="square"/>
                    <a:lstStyle/>
                    <a:p>
                      <a:r>
                        <a:rPr sz="950" b="0">
                          <a:solidFill>
                            <a:srgbClr val="1F2937"/>
                          </a:solidFill>
                          <a:latin typeface="Calibri"/>
                        </a:rPr>
                        <a:t>0.647</a:t>
                      </a:r>
                    </a:p>
                  </a:txBody>
                  <a:tcPr marL="73152" marR="73152" marT="27432" marB="27432" anchor="ctr">
                    <a:solidFill>
                      <a:srgbClr val="FFFFFF"/>
                    </a:solidFill>
                  </a:tcPr>
                </a:tc>
                <a:tc>
                  <a:txBody>
                    <a:bodyPr wrap="square"/>
                    <a:lstStyle/>
                    <a:p>
                      <a:r>
                        <a:rPr sz="950" b="0">
                          <a:solidFill>
                            <a:srgbClr val="1F2937"/>
                          </a:solidFill>
                          <a:latin typeface="Calibri"/>
                        </a:rPr>
                        <a:t>0.71</a:t>
                      </a:r>
                    </a:p>
                  </a:txBody>
                  <a:tcPr marL="73152" marR="73152" marT="27432" marB="27432" anchor="ctr">
                    <a:solidFill>
                      <a:srgbClr val="FFFFFF"/>
                    </a:solidFill>
                  </a:tcPr>
                </a:tc>
                <a:tc>
                  <a:txBody>
                    <a:bodyPr wrap="square"/>
                    <a:lstStyle/>
                    <a:p>
                      <a:r>
                        <a:rPr sz="950" b="0">
                          <a:solidFill>
                            <a:srgbClr val="1F2937"/>
                          </a:solidFill>
                          <a:latin typeface="Calibri"/>
                        </a:rPr>
                        <a:t>-1.8 pp</a:t>
                      </a:r>
                    </a:p>
                  </a:txBody>
                  <a:tcPr marL="73152" marR="73152" marT="27432" marB="27432" anchor="ctr">
                    <a:solidFill>
                      <a:srgbClr val="FFFFFF"/>
                    </a:solidFill>
                  </a:tcPr>
                </a:tc>
              </a:tr>
              <a:tr h="246888">
                <a:tc>
                  <a:txBody>
                    <a:bodyPr wrap="square"/>
                    <a:lstStyle/>
                    <a:p>
                      <a:r>
                        <a:rPr sz="950" b="0">
                          <a:solidFill>
                            <a:srgbClr val="1F2937"/>
                          </a:solidFill>
                          <a:latin typeface="Calibri"/>
                        </a:rPr>
                        <a:t>2024-08</a:t>
                      </a:r>
                    </a:p>
                  </a:txBody>
                  <a:tcPr marL="73152" marR="73152" marT="27432" marB="27432" anchor="ctr">
                    <a:solidFill>
                      <a:srgbClr val="F6F8FB"/>
                    </a:solidFill>
                  </a:tcPr>
                </a:tc>
                <a:tc>
                  <a:txBody>
                    <a:bodyPr wrap="square"/>
                    <a:lstStyle/>
                    <a:p>
                      <a:r>
                        <a:rPr sz="950" b="0">
                          <a:solidFill>
                            <a:srgbClr val="1F2937"/>
                          </a:solidFill>
                          <a:latin typeface="Calibri"/>
                        </a:rPr>
                        <a:t>543</a:t>
                      </a:r>
                    </a:p>
                  </a:txBody>
                  <a:tcPr marL="73152" marR="73152" marT="27432" marB="27432" anchor="ctr">
                    <a:solidFill>
                      <a:srgbClr val="F6F8FB"/>
                    </a:solidFill>
                  </a:tcPr>
                </a:tc>
                <a:tc>
                  <a:txBody>
                    <a:bodyPr wrap="square"/>
                    <a:lstStyle/>
                    <a:p>
                      <a:r>
                        <a:rPr sz="950" b="0">
                          <a:solidFill>
                            <a:srgbClr val="1F2937"/>
                          </a:solidFill>
                          <a:latin typeface="Calibri"/>
                        </a:rPr>
                        <a:t>0.037</a:t>
                      </a:r>
                    </a:p>
                  </a:txBody>
                  <a:tcPr marL="73152" marR="73152" marT="27432" marB="27432" anchor="ctr">
                    <a:solidFill>
                      <a:srgbClr val="F6F8FB"/>
                    </a:solidFill>
                  </a:tcPr>
                </a:tc>
                <a:tc>
                  <a:txBody>
                    <a:bodyPr wrap="square"/>
                    <a:lstStyle/>
                    <a:p>
                      <a:r>
                        <a:rPr sz="950" b="0">
                          <a:solidFill>
                            <a:srgbClr val="1F2937"/>
                          </a:solidFill>
                          <a:latin typeface="Calibri"/>
                        </a:rPr>
                        <a:t>36%</a:t>
                      </a:r>
                    </a:p>
                  </a:txBody>
                  <a:tcPr marL="73152" marR="73152" marT="27432" marB="27432" anchor="ctr">
                    <a:solidFill>
                      <a:srgbClr val="F6F8FB"/>
                    </a:solidFill>
                  </a:tcPr>
                </a:tc>
                <a:tc>
                  <a:txBody>
                    <a:bodyPr wrap="square"/>
                    <a:lstStyle/>
                    <a:p>
                      <a:r>
                        <a:rPr sz="950" b="0">
                          <a:solidFill>
                            <a:srgbClr val="1F2937"/>
                          </a:solidFill>
                          <a:latin typeface="Calibri"/>
                        </a:rPr>
                        <a:t>2025-02</a:t>
                      </a:r>
                    </a:p>
                  </a:txBody>
                  <a:tcPr marL="73152" marR="73152" marT="27432" marB="27432" anchor="ctr">
                    <a:solidFill>
                      <a:srgbClr val="F6F8FB"/>
                    </a:solidFill>
                  </a:tcPr>
                </a:tc>
                <a:tc>
                  <a:txBody>
                    <a:bodyPr wrap="square"/>
                    <a:lstStyle/>
                    <a:p>
                      <a:r>
                        <a:rPr sz="950" b="0">
                          <a:solidFill>
                            <a:srgbClr val="1F2937"/>
                          </a:solidFill>
                          <a:latin typeface="Calibri"/>
                        </a:rPr>
                        <a:t>0.608</a:t>
                      </a:r>
                    </a:p>
                  </a:txBody>
                  <a:tcPr marL="73152" marR="73152" marT="27432" marB="27432" anchor="ctr">
                    <a:solidFill>
                      <a:srgbClr val="F6F8FB"/>
                    </a:solidFill>
                  </a:tcPr>
                </a:tc>
                <a:tc>
                  <a:txBody>
                    <a:bodyPr wrap="square"/>
                    <a:lstStyle/>
                    <a:p>
                      <a:r>
                        <a:rPr sz="950" b="0">
                          <a:solidFill>
                            <a:srgbClr val="1F2937"/>
                          </a:solidFill>
                          <a:latin typeface="Calibri"/>
                        </a:rPr>
                        <a:t>0.66</a:t>
                      </a:r>
                    </a:p>
                  </a:txBody>
                  <a:tcPr marL="73152" marR="73152" marT="27432" marB="27432" anchor="ctr">
                    <a:solidFill>
                      <a:srgbClr val="F6F8FB"/>
                    </a:solidFill>
                  </a:tcPr>
                </a:tc>
                <a:tc>
                  <a:txBody>
                    <a:bodyPr wrap="square"/>
                    <a:lstStyle/>
                    <a:p>
                      <a:r>
                        <a:rPr sz="950" b="0">
                          <a:solidFill>
                            <a:srgbClr val="1F2937"/>
                          </a:solidFill>
                          <a:latin typeface="Calibri"/>
                        </a:rPr>
                        <a:t>-1.7 pp</a:t>
                      </a:r>
                    </a:p>
                  </a:txBody>
                  <a:tcPr marL="73152" marR="73152" marT="27432" marB="27432" anchor="ctr">
                    <a:solidFill>
                      <a:srgbClr val="F6F8FB"/>
                    </a:solidFill>
                  </a:tcPr>
                </a:tc>
              </a:tr>
              <a:tr h="246888">
                <a:tc>
                  <a:txBody>
                    <a:bodyPr wrap="square"/>
                    <a:lstStyle/>
                    <a:p>
                      <a:r>
                        <a:rPr sz="950" b="0">
                          <a:solidFill>
                            <a:srgbClr val="1F2937"/>
                          </a:solidFill>
                          <a:latin typeface="Calibri"/>
                        </a:rPr>
                        <a:t>2024-09</a:t>
                      </a:r>
                    </a:p>
                  </a:txBody>
                  <a:tcPr marL="73152" marR="73152" marT="27432" marB="27432" anchor="ctr">
                    <a:solidFill>
                      <a:srgbClr val="FFFFFF"/>
                    </a:solidFill>
                  </a:tcPr>
                </a:tc>
                <a:tc>
                  <a:txBody>
                    <a:bodyPr wrap="square"/>
                    <a:lstStyle/>
                    <a:p>
                      <a:r>
                        <a:rPr sz="950" b="0">
                          <a:solidFill>
                            <a:srgbClr val="1F2937"/>
                          </a:solidFill>
                          <a:latin typeface="Calibri"/>
                        </a:rPr>
                        <a:t>493</a:t>
                      </a:r>
                    </a:p>
                  </a:txBody>
                  <a:tcPr marL="73152" marR="73152" marT="27432" marB="27432" anchor="ctr">
                    <a:solidFill>
                      <a:srgbClr val="FFFFFF"/>
                    </a:solidFill>
                  </a:tcPr>
                </a:tc>
                <a:tc>
                  <a:txBody>
                    <a:bodyPr wrap="square"/>
                    <a:lstStyle/>
                    <a:p>
                      <a:r>
                        <a:rPr sz="950" b="0">
                          <a:solidFill>
                            <a:srgbClr val="1F2937"/>
                          </a:solidFill>
                          <a:latin typeface="Calibri"/>
                        </a:rPr>
                        <a:t>0.045</a:t>
                      </a:r>
                    </a:p>
                  </a:txBody>
                  <a:tcPr marL="73152" marR="73152" marT="27432" marB="27432" anchor="ctr">
                    <a:solidFill>
                      <a:srgbClr val="FFFFFF"/>
                    </a:solidFill>
                  </a:tcPr>
                </a:tc>
                <a:tc>
                  <a:txBody>
                    <a:bodyPr wrap="square"/>
                    <a:lstStyle/>
                    <a:p>
                      <a:r>
                        <a:rPr sz="950" b="0">
                          <a:solidFill>
                            <a:srgbClr val="1F2937"/>
                          </a:solidFill>
                          <a:latin typeface="Calibri"/>
                        </a:rPr>
                        <a:t>36%</a:t>
                      </a:r>
                    </a:p>
                  </a:txBody>
                  <a:tcPr marL="73152" marR="73152" marT="27432" marB="27432" anchor="ctr">
                    <a:solidFill>
                      <a:srgbClr val="FFFFFF"/>
                    </a:solidFill>
                  </a:tcPr>
                </a:tc>
                <a:tc>
                  <a:txBody>
                    <a:bodyPr wrap="square"/>
                    <a:lstStyle/>
                    <a:p>
                      <a:r>
                        <a:rPr sz="950" b="0">
                          <a:solidFill>
                            <a:srgbClr val="1F2937"/>
                          </a:solidFill>
                          <a:latin typeface="Calibri"/>
                        </a:rPr>
                        <a:t>2025-03</a:t>
                      </a:r>
                    </a:p>
                  </a:txBody>
                  <a:tcPr marL="73152" marR="73152" marT="27432" marB="27432" anchor="ctr">
                    <a:solidFill>
                      <a:srgbClr val="FFFFFF"/>
                    </a:solidFill>
                  </a:tcPr>
                </a:tc>
                <a:tc>
                  <a:txBody>
                    <a:bodyPr wrap="square"/>
                    <a:lstStyle/>
                    <a:p>
                      <a:r>
                        <a:rPr sz="950" b="0">
                          <a:solidFill>
                            <a:srgbClr val="1F2937"/>
                          </a:solidFill>
                          <a:latin typeface="Calibri"/>
                        </a:rPr>
                        <a:t>0.710</a:t>
                      </a:r>
                    </a:p>
                  </a:txBody>
                  <a:tcPr marL="73152" marR="73152" marT="27432" marB="27432" anchor="ctr">
                    <a:solidFill>
                      <a:srgbClr val="FFFFFF"/>
                    </a:solidFill>
                  </a:tcPr>
                </a:tc>
                <a:tc>
                  <a:txBody>
                    <a:bodyPr wrap="square"/>
                    <a:lstStyle/>
                    <a:p>
                      <a:r>
                        <a:rPr sz="950" b="0">
                          <a:solidFill>
                            <a:srgbClr val="1F2937"/>
                          </a:solidFill>
                          <a:latin typeface="Calibri"/>
                        </a:rPr>
                        <a:t>0.70</a:t>
                      </a:r>
                    </a:p>
                  </a:txBody>
                  <a:tcPr marL="73152" marR="73152" marT="27432" marB="27432" anchor="ctr">
                    <a:solidFill>
                      <a:srgbClr val="FFFFFF"/>
                    </a:solidFill>
                  </a:tcPr>
                </a:tc>
                <a:tc>
                  <a:txBody>
                    <a:bodyPr wrap="square"/>
                    <a:lstStyle/>
                    <a:p>
                      <a:r>
                        <a:rPr sz="950" b="0">
                          <a:solidFill>
                            <a:srgbClr val="1F2937"/>
                          </a:solidFill>
                          <a:latin typeface="Calibri"/>
                        </a:rPr>
                        <a:t>-4.5 pp</a:t>
                      </a:r>
                    </a:p>
                  </a:txBody>
                  <a:tcPr marL="73152" marR="73152" marT="27432" marB="27432" anchor="ctr">
                    <a:solidFill>
                      <a:srgbClr val="FFFFFF"/>
                    </a:solidFill>
                  </a:tcPr>
                </a:tc>
              </a:tr>
              <a:tr h="246888">
                <a:tc>
                  <a:txBody>
                    <a:bodyPr wrap="square"/>
                    <a:lstStyle/>
                    <a:p>
                      <a:r>
                        <a:rPr sz="950" b="0">
                          <a:solidFill>
                            <a:srgbClr val="1F2937"/>
                          </a:solidFill>
                          <a:latin typeface="Calibri"/>
                        </a:rPr>
                        <a:t>2024-10</a:t>
                      </a:r>
                    </a:p>
                  </a:txBody>
                  <a:tcPr marL="73152" marR="73152" marT="27432" marB="27432" anchor="ctr">
                    <a:solidFill>
                      <a:srgbClr val="F6F8FB"/>
                    </a:solidFill>
                  </a:tcPr>
                </a:tc>
                <a:tc>
                  <a:txBody>
                    <a:bodyPr wrap="square"/>
                    <a:lstStyle/>
                    <a:p>
                      <a:r>
                        <a:rPr sz="950" b="0">
                          <a:solidFill>
                            <a:srgbClr val="1F2937"/>
                          </a:solidFill>
                          <a:latin typeface="Calibri"/>
                        </a:rPr>
                        <a:t>456</a:t>
                      </a:r>
                    </a:p>
                  </a:txBody>
                  <a:tcPr marL="73152" marR="73152" marT="27432" marB="27432" anchor="ctr">
                    <a:solidFill>
                      <a:srgbClr val="F6F8FB"/>
                    </a:solidFill>
                  </a:tcPr>
                </a:tc>
                <a:tc>
                  <a:txBody>
                    <a:bodyPr wrap="square"/>
                    <a:lstStyle/>
                    <a:p>
                      <a:r>
                        <a:rPr sz="950" b="0">
                          <a:solidFill>
                            <a:srgbClr val="1F2937"/>
                          </a:solidFill>
                          <a:latin typeface="Calibri"/>
                        </a:rPr>
                        <a:t>0.025</a:t>
                      </a:r>
                    </a:p>
                  </a:txBody>
                  <a:tcPr marL="73152" marR="73152" marT="27432" marB="27432" anchor="ctr">
                    <a:solidFill>
                      <a:srgbClr val="F6F8FB"/>
                    </a:solidFill>
                  </a:tcPr>
                </a:tc>
                <a:tc>
                  <a:txBody>
                    <a:bodyPr wrap="square"/>
                    <a:lstStyle/>
                    <a:p>
                      <a:r>
                        <a:rPr sz="950" b="0">
                          <a:solidFill>
                            <a:srgbClr val="1F2937"/>
                          </a:solidFill>
                          <a:latin typeface="Calibri"/>
                        </a:rPr>
                        <a:t>32%</a:t>
                      </a:r>
                    </a:p>
                  </a:txBody>
                  <a:tcPr marL="73152" marR="73152" marT="27432" marB="27432" anchor="ctr">
                    <a:solidFill>
                      <a:srgbClr val="F6F8FB"/>
                    </a:solidFill>
                  </a:tcPr>
                </a:tc>
                <a:tc>
                  <a:txBody>
                    <a:bodyPr wrap="square"/>
                    <a:lstStyle/>
                    <a:p>
                      <a:r>
                        <a:rPr sz="950" b="0">
                          <a:solidFill>
                            <a:srgbClr val="1F2937"/>
                          </a:solidFill>
                          <a:latin typeface="Calibri"/>
                        </a:rPr>
                        <a:t>2025-04</a:t>
                      </a:r>
                    </a:p>
                  </a:txBody>
                  <a:tcPr marL="73152" marR="73152" marT="27432" marB="27432" anchor="ctr">
                    <a:solidFill>
                      <a:srgbClr val="F6F8FB"/>
                    </a:solidFill>
                  </a:tcPr>
                </a:tc>
                <a:tc>
                  <a:txBody>
                    <a:bodyPr wrap="square"/>
                    <a:lstStyle/>
                    <a:p>
                      <a:r>
                        <a:rPr sz="950" b="0">
                          <a:solidFill>
                            <a:srgbClr val="1F2937"/>
                          </a:solidFill>
                          <a:latin typeface="Calibri"/>
                        </a:rPr>
                        <a:t>0.573</a:t>
                      </a:r>
                    </a:p>
                  </a:txBody>
                  <a:tcPr marL="73152" marR="73152" marT="27432" marB="27432" anchor="ctr">
                    <a:solidFill>
                      <a:srgbClr val="F6F8FB"/>
                    </a:solidFill>
                  </a:tcPr>
                </a:tc>
                <a:tc>
                  <a:txBody>
                    <a:bodyPr wrap="square"/>
                    <a:lstStyle/>
                    <a:p>
                      <a:r>
                        <a:rPr sz="950" b="0">
                          <a:solidFill>
                            <a:srgbClr val="1F2937"/>
                          </a:solidFill>
                          <a:latin typeface="Calibri"/>
                        </a:rPr>
                        <a:t>0.70</a:t>
                      </a:r>
                    </a:p>
                  </a:txBody>
                  <a:tcPr marL="73152" marR="73152" marT="27432" marB="27432" anchor="ctr">
                    <a:solidFill>
                      <a:srgbClr val="F6F8FB"/>
                    </a:solidFill>
                  </a:tcPr>
                </a:tc>
                <a:tc>
                  <a:txBody>
                    <a:bodyPr wrap="square"/>
                    <a:lstStyle/>
                    <a:p>
                      <a:r>
                        <a:rPr sz="950" b="0">
                          <a:solidFill>
                            <a:srgbClr val="1F2937"/>
                          </a:solidFill>
                          <a:latin typeface="Calibri"/>
                        </a:rPr>
                        <a:t>+2.0 pp</a:t>
                      </a:r>
                    </a:p>
                  </a:txBody>
                  <a:tcPr marL="73152" marR="73152" marT="27432" marB="27432" anchor="ctr">
                    <a:solidFill>
                      <a:srgbClr val="F6F8FB"/>
                    </a:solidFill>
                  </a:tcPr>
                </a:tc>
              </a:tr>
              <a:tr h="246888">
                <a:tc>
                  <a:txBody>
                    <a:bodyPr wrap="square"/>
                    <a:lstStyle/>
                    <a:p>
                      <a:r>
                        <a:rPr sz="950" b="0">
                          <a:solidFill>
                            <a:srgbClr val="1F2937"/>
                          </a:solidFill>
                          <a:latin typeface="Calibri"/>
                        </a:rPr>
                        <a:t>2024-11</a:t>
                      </a:r>
                    </a:p>
                  </a:txBody>
                  <a:tcPr marL="73152" marR="73152" marT="27432" marB="27432" anchor="ctr">
                    <a:solidFill>
                      <a:srgbClr val="FFFFFF"/>
                    </a:solidFill>
                  </a:tcPr>
                </a:tc>
                <a:tc>
                  <a:txBody>
                    <a:bodyPr wrap="square"/>
                    <a:lstStyle/>
                    <a:p>
                      <a:r>
                        <a:rPr sz="950" b="0">
                          <a:solidFill>
                            <a:srgbClr val="1F2937"/>
                          </a:solidFill>
                          <a:latin typeface="Calibri"/>
                        </a:rPr>
                        <a:t>488</a:t>
                      </a:r>
                    </a:p>
                  </a:txBody>
                  <a:tcPr marL="73152" marR="73152" marT="27432" marB="27432" anchor="ctr">
                    <a:solidFill>
                      <a:srgbClr val="FFFFFF"/>
                    </a:solidFill>
                  </a:tcPr>
                </a:tc>
                <a:tc>
                  <a:txBody>
                    <a:bodyPr wrap="square"/>
                    <a:lstStyle/>
                    <a:p>
                      <a:r>
                        <a:rPr sz="950" b="0">
                          <a:solidFill>
                            <a:srgbClr val="1F2937"/>
                          </a:solidFill>
                          <a:latin typeface="Calibri"/>
                        </a:rPr>
                        <a:t>0.035</a:t>
                      </a:r>
                    </a:p>
                  </a:txBody>
                  <a:tcPr marL="73152" marR="73152" marT="27432" marB="27432" anchor="ctr">
                    <a:solidFill>
                      <a:srgbClr val="FFFFFF"/>
                    </a:solidFill>
                  </a:tcPr>
                </a:tc>
                <a:tc>
                  <a:txBody>
                    <a:bodyPr wrap="square"/>
                    <a:lstStyle/>
                    <a:p>
                      <a:r>
                        <a:rPr sz="950" b="0">
                          <a:solidFill>
                            <a:srgbClr val="1F2937"/>
                          </a:solidFill>
                          <a:latin typeface="Calibri"/>
                        </a:rPr>
                        <a:t>36%</a:t>
                      </a:r>
                    </a:p>
                  </a:txBody>
                  <a:tcPr marL="73152" marR="73152" marT="27432" marB="27432" anchor="ctr">
                    <a:solidFill>
                      <a:srgbClr val="FFFFFF"/>
                    </a:solidFill>
                  </a:tcPr>
                </a:tc>
                <a:tc>
                  <a:txBody>
                    <a:bodyPr wrap="square"/>
                    <a:lstStyle/>
                    <a:p>
                      <a:r>
                        <a:rPr sz="950" b="0">
                          <a:solidFill>
                            <a:srgbClr val="1F2937"/>
                          </a:solidFill>
                          <a:latin typeface="Calibri"/>
                        </a:rPr>
                        <a:t>2025-05</a:t>
                      </a:r>
                    </a:p>
                  </a:txBody>
                  <a:tcPr marL="73152" marR="73152" marT="27432" marB="27432" anchor="ctr">
                    <a:solidFill>
                      <a:srgbClr val="FFFFFF"/>
                    </a:solidFill>
                  </a:tcPr>
                </a:tc>
                <a:tc>
                  <a:txBody>
                    <a:bodyPr wrap="square"/>
                    <a:lstStyle/>
                    <a:p>
                      <a:r>
                        <a:rPr sz="950" b="0">
                          <a:solidFill>
                            <a:srgbClr val="1F2937"/>
                          </a:solidFill>
                          <a:latin typeface="Calibri"/>
                        </a:rPr>
                        <a:t>0.627</a:t>
                      </a:r>
                    </a:p>
                  </a:txBody>
                  <a:tcPr marL="73152" marR="73152" marT="27432" marB="27432" anchor="ctr">
                    <a:solidFill>
                      <a:srgbClr val="FFFFFF"/>
                    </a:solidFill>
                  </a:tcPr>
                </a:tc>
                <a:tc>
                  <a:txBody>
                    <a:bodyPr wrap="square"/>
                    <a:lstStyle/>
                    <a:p>
                      <a:r>
                        <a:rPr sz="950" b="0">
                          <a:solidFill>
                            <a:srgbClr val="1F2937"/>
                          </a:solidFill>
                          <a:latin typeface="Calibri"/>
                        </a:rPr>
                        <a:t>0.75</a:t>
                      </a:r>
                    </a:p>
                  </a:txBody>
                  <a:tcPr marL="73152" marR="73152" marT="27432" marB="27432" anchor="ctr">
                    <a:solidFill>
                      <a:srgbClr val="FFFFFF"/>
                    </a:solidFill>
                  </a:tcPr>
                </a:tc>
                <a:tc>
                  <a:txBody>
                    <a:bodyPr wrap="square"/>
                    <a:lstStyle/>
                    <a:p>
                      <a:r>
                        <a:rPr sz="950" b="0">
                          <a:solidFill>
                            <a:srgbClr val="1F2937"/>
                          </a:solidFill>
                          <a:latin typeface="Calibri"/>
                        </a:rPr>
                        <a:t>+0.6 pp</a:t>
                      </a:r>
                    </a:p>
                  </a:txBody>
                  <a:tcPr marL="73152" marR="73152" marT="27432" marB="27432" anchor="ctr">
                    <a:solidFill>
                      <a:srgbClr val="FFFFFF"/>
                    </a:solidFill>
                  </a:tcPr>
                </a:tc>
              </a:tr>
              <a:tr h="246888">
                <a:tc>
                  <a:txBody>
                    <a:bodyPr wrap="square"/>
                    <a:lstStyle/>
                    <a:p>
                      <a:r>
                        <a:rPr sz="950" b="0">
                          <a:solidFill>
                            <a:srgbClr val="1F2937"/>
                          </a:solidFill>
                          <a:latin typeface="Calibri"/>
                        </a:rPr>
                        <a:t>2024-12</a:t>
                      </a:r>
                    </a:p>
                  </a:txBody>
                  <a:tcPr marL="73152" marR="73152" marT="27432" marB="27432" anchor="ctr">
                    <a:solidFill>
                      <a:srgbClr val="F6F8FB"/>
                    </a:solidFill>
                  </a:tcPr>
                </a:tc>
                <a:tc>
                  <a:txBody>
                    <a:bodyPr wrap="square"/>
                    <a:lstStyle/>
                    <a:p>
                      <a:r>
                        <a:rPr sz="950" b="0">
                          <a:solidFill>
                            <a:srgbClr val="1F2937"/>
                          </a:solidFill>
                          <a:latin typeface="Calibri"/>
                        </a:rPr>
                        <a:t>515</a:t>
                      </a:r>
                    </a:p>
                  </a:txBody>
                  <a:tcPr marL="73152" marR="73152" marT="27432" marB="27432" anchor="ctr">
                    <a:solidFill>
                      <a:srgbClr val="F6F8FB"/>
                    </a:solidFill>
                  </a:tcPr>
                </a:tc>
                <a:tc>
                  <a:txBody>
                    <a:bodyPr wrap="square"/>
                    <a:lstStyle/>
                    <a:p>
                      <a:r>
                        <a:rPr sz="950" b="0">
                          <a:solidFill>
                            <a:srgbClr val="1F2937"/>
                          </a:solidFill>
                          <a:latin typeface="Calibri"/>
                        </a:rPr>
                        <a:t>0.049</a:t>
                      </a:r>
                    </a:p>
                  </a:txBody>
                  <a:tcPr marL="73152" marR="73152" marT="27432" marB="27432" anchor="ctr">
                    <a:solidFill>
                      <a:srgbClr val="F6F8FB"/>
                    </a:solidFill>
                  </a:tcPr>
                </a:tc>
                <a:tc>
                  <a:txBody>
                    <a:bodyPr wrap="square"/>
                    <a:lstStyle/>
                    <a:p>
                      <a:r>
                        <a:rPr sz="950" b="0">
                          <a:solidFill>
                            <a:srgbClr val="1F2937"/>
                          </a:solidFill>
                          <a:latin typeface="Calibri"/>
                        </a:rPr>
                        <a:t>30%</a:t>
                      </a:r>
                    </a:p>
                  </a:txBody>
                  <a:tcPr marL="73152" marR="73152" marT="27432" marB="27432" anchor="ctr">
                    <a:solidFill>
                      <a:srgbClr val="F6F8FB"/>
                    </a:solidFill>
                  </a:tcPr>
                </a:tc>
                <a:tc>
                  <a:txBody>
                    <a:bodyPr wrap="square"/>
                    <a:lstStyle/>
                    <a:p>
                      <a:r>
                        <a:rPr sz="950" b="0">
                          <a:solidFill>
                            <a:srgbClr val="1F2937"/>
                          </a:solidFill>
                          <a:latin typeface="Calibri"/>
                        </a:rPr>
                        <a:t>2025-06</a:t>
                      </a:r>
                    </a:p>
                  </a:txBody>
                  <a:tcPr marL="73152" marR="73152" marT="27432" marB="27432" anchor="ctr">
                    <a:solidFill>
                      <a:srgbClr val="F6F8FB"/>
                    </a:solidFill>
                  </a:tcPr>
                </a:tc>
                <a:tc>
                  <a:txBody>
                    <a:bodyPr wrap="square"/>
                    <a:lstStyle/>
                    <a:p>
                      <a:r>
                        <a:rPr sz="950" b="0">
                          <a:solidFill>
                            <a:srgbClr val="1F2937"/>
                          </a:solidFill>
                          <a:latin typeface="Calibri"/>
                        </a:rPr>
                        <a:t>0.666</a:t>
                      </a:r>
                    </a:p>
                  </a:txBody>
                  <a:tcPr marL="73152" marR="73152" marT="27432" marB="27432" anchor="ctr">
                    <a:solidFill>
                      <a:srgbClr val="F6F8FB"/>
                    </a:solidFill>
                  </a:tcPr>
                </a:tc>
                <a:tc>
                  <a:txBody>
                    <a:bodyPr wrap="square"/>
                    <a:lstStyle/>
                    <a:p>
                      <a:r>
                        <a:rPr sz="950" b="0">
                          <a:solidFill>
                            <a:srgbClr val="1F2937"/>
                          </a:solidFill>
                          <a:latin typeface="Calibri"/>
                        </a:rPr>
                        <a:t>0.69</a:t>
                      </a:r>
                    </a:p>
                  </a:txBody>
                  <a:tcPr marL="73152" marR="73152" marT="27432" marB="27432" anchor="ctr">
                    <a:solidFill>
                      <a:srgbClr val="F6F8FB"/>
                    </a:solidFill>
                  </a:tcPr>
                </a:tc>
                <a:tc>
                  <a:txBody>
                    <a:bodyPr wrap="square"/>
                    <a:lstStyle/>
                    <a:p>
                      <a:r>
                        <a:rPr sz="950" b="0">
                          <a:solidFill>
                            <a:srgbClr val="1F2937"/>
                          </a:solidFill>
                          <a:latin typeface="Calibri"/>
                        </a:rPr>
                        <a:t>-1.8 pp</a:t>
                      </a:r>
                    </a:p>
                  </a:txBody>
                  <a:tcPr marL="73152" marR="73152" marT="27432" marB="27432" anchor="ctr">
                    <a:solidFill>
                      <a:srgbClr val="F6F8FB"/>
                    </a:solidFill>
                  </a:tcPr>
                </a:tc>
              </a:tr>
              <a:tr h="246888">
                <a:tc>
                  <a:txBody>
                    <a:bodyPr wrap="square"/>
                    <a:lstStyle/>
                    <a:p>
                      <a:r>
                        <a:rPr sz="950" b="0">
                          <a:solidFill>
                            <a:srgbClr val="1F2937"/>
                          </a:solidFill>
                          <a:latin typeface="Calibri"/>
                        </a:rPr>
                        <a:t>2025-01</a:t>
                      </a:r>
                    </a:p>
                  </a:txBody>
                  <a:tcPr marL="73152" marR="73152" marT="27432" marB="27432" anchor="ctr">
                    <a:solidFill>
                      <a:srgbClr val="FFFFFF"/>
                    </a:solidFill>
                  </a:tcPr>
                </a:tc>
                <a:tc>
                  <a:txBody>
                    <a:bodyPr wrap="square"/>
                    <a:lstStyle/>
                    <a:p>
                      <a:r>
                        <a:rPr sz="950" b="0">
                          <a:solidFill>
                            <a:srgbClr val="1F2937"/>
                          </a:solidFill>
                          <a:latin typeface="Calibri"/>
                        </a:rPr>
                        <a:t>526</a:t>
                      </a:r>
                    </a:p>
                  </a:txBody>
                  <a:tcPr marL="73152" marR="73152" marT="27432" marB="27432" anchor="ctr">
                    <a:solidFill>
                      <a:srgbClr val="FFFFFF"/>
                    </a:solidFill>
                  </a:tcPr>
                </a:tc>
                <a:tc>
                  <a:txBody>
                    <a:bodyPr wrap="square"/>
                    <a:lstStyle/>
                    <a:p>
                      <a:r>
                        <a:rPr sz="950" b="0">
                          <a:solidFill>
                            <a:srgbClr val="1F2937"/>
                          </a:solidFill>
                          <a:latin typeface="Calibri"/>
                        </a:rPr>
                        <a:t>0.079</a:t>
                      </a:r>
                    </a:p>
                  </a:txBody>
                  <a:tcPr marL="73152" marR="73152" marT="27432" marB="27432" anchor="ctr">
                    <a:solidFill>
                      <a:srgbClr val="FFFFFF"/>
                    </a:solidFill>
                  </a:tcPr>
                </a:tc>
                <a:tc>
                  <a:txBody>
                    <a:bodyPr wrap="square"/>
                    <a:lstStyle/>
                    <a:p>
                      <a:r>
                        <a:rPr sz="950" b="0">
                          <a:solidFill>
                            <a:srgbClr val="1F2937"/>
                          </a:solidFill>
                          <a:latin typeface="Calibri"/>
                        </a:rPr>
                        <a:t>36%</a:t>
                      </a:r>
                    </a:p>
                  </a:txBody>
                  <a:tcPr marL="73152" marR="73152" marT="27432" marB="27432" anchor="ctr">
                    <a:solidFill>
                      <a:srgbClr val="FFFFFF"/>
                    </a:solidFill>
                  </a:tcPr>
                </a:tc>
                <a:tc>
                  <a:txBody>
                    <a:bodyPr wrap="square"/>
                    <a:lstStyle/>
                    <a:p>
                      <a:r>
                        <a:rPr sz="950" b="0">
                          <a:solidFill>
                            <a:srgbClr val="1F2937"/>
                          </a:solidFill>
                          <a:latin typeface="Calibri"/>
                        </a:rPr>
                        <a:t>2025-07</a:t>
                      </a:r>
                    </a:p>
                  </a:txBody>
                  <a:tcPr marL="73152" marR="73152" marT="27432" marB="27432" anchor="ctr">
                    <a:solidFill>
                      <a:srgbClr val="FFFFFF"/>
                    </a:solidFill>
                  </a:tcPr>
                </a:tc>
                <a:tc>
                  <a:txBody>
                    <a:bodyPr wrap="square"/>
                    <a:lstStyle/>
                    <a:p>
                      <a:r>
                        <a:rPr sz="950" b="0">
                          <a:solidFill>
                            <a:srgbClr val="1F2937"/>
                          </a:solidFill>
                          <a:latin typeface="Calibri"/>
                        </a:rPr>
                        <a:t>0.542</a:t>
                      </a:r>
                    </a:p>
                  </a:txBody>
                  <a:tcPr marL="73152" marR="73152" marT="27432" marB="27432" anchor="ctr">
                    <a:solidFill>
                      <a:srgbClr val="FFFFFF"/>
                    </a:solidFill>
                  </a:tcPr>
                </a:tc>
                <a:tc>
                  <a:txBody>
                    <a:bodyPr wrap="square"/>
                    <a:lstStyle/>
                    <a:p>
                      <a:r>
                        <a:rPr sz="950" b="0">
                          <a:solidFill>
                            <a:srgbClr val="1F2937"/>
                          </a:solidFill>
                          <a:latin typeface="Calibri"/>
                        </a:rPr>
                        <a:t>0.70</a:t>
                      </a:r>
                    </a:p>
                  </a:txBody>
                  <a:tcPr marL="73152" marR="73152" marT="27432" marB="27432" anchor="ctr">
                    <a:solidFill>
                      <a:srgbClr val="FFFFFF"/>
                    </a:solidFill>
                  </a:tcPr>
                </a:tc>
                <a:tc>
                  <a:txBody>
                    <a:bodyPr wrap="square"/>
                    <a:lstStyle/>
                    <a:p>
                      <a:r>
                        <a:rPr sz="950" b="0">
                          <a:solidFill>
                            <a:srgbClr val="1F2937"/>
                          </a:solidFill>
                          <a:latin typeface="Calibri"/>
                        </a:rPr>
                        <a:t>+1.8 pp</a:t>
                      </a:r>
                    </a:p>
                  </a:txBody>
                  <a:tcPr marL="73152" marR="73152" marT="27432" marB="27432" anchor="ctr">
                    <a:solidFill>
                      <a:srgbClr val="FFFFFF"/>
                    </a:solidFill>
                  </a:tcPr>
                </a:tc>
              </a:tr>
            </a:tbl>
          </a:graphicData>
        </a:graphic>
      </p:graphicFrame>
      <p:sp>
        <p:nvSpPr>
          <p:cNvPr id="8" name="Rounded Rectangle 7"/>
          <p:cNvSpPr/>
          <p:nvPr/>
        </p:nvSpPr>
        <p:spPr>
          <a:xfrm>
            <a:off x="8641080" y="4297680"/>
            <a:ext cx="3017520" cy="20116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4389120"/>
            <a:ext cx="2743200" cy="365760"/>
          </a:xfrm>
          <a:prstGeom prst="rect">
            <a:avLst/>
          </a:prstGeom>
          <a:noFill/>
        </p:spPr>
        <p:txBody>
          <a:bodyPr wrap="square" anchor="t" lIns="36576" rIns="36576" tIns="18288" bIns="18288">
            <a:spAutoFit/>
          </a:bodyPr>
          <a:lstStyle/>
          <a:p>
            <a:pPr algn="l"/>
            <a:r>
              <a:rPr sz="1400" b="1" i="0">
                <a:solidFill>
                  <a:srgbClr val="14213D"/>
                </a:solidFill>
                <a:latin typeface="Calibri"/>
              </a:rPr>
              <a:t>The only champion alert</a:t>
            </a:r>
          </a:p>
        </p:txBody>
      </p:sp>
      <p:sp>
        <p:nvSpPr>
          <p:cNvPr id="10" name="TextBox 9"/>
          <p:cNvSpPr txBox="1"/>
          <p:nvPr/>
        </p:nvSpPr>
        <p:spPr>
          <a:xfrm>
            <a:off x="8778240" y="4754880"/>
            <a:ext cx="2743200" cy="1508760"/>
          </a:xfrm>
          <a:prstGeom prst="rect">
            <a:avLst/>
          </a:prstGeom>
          <a:noFill/>
        </p:spPr>
        <p:txBody>
          <a:bodyPr wrap="square" anchor="t" lIns="36576" rIns="36576" tIns="18288" bIns="18288">
            <a:spAutoFit/>
          </a:bodyPr>
          <a:lstStyle/>
          <a:p>
            <a:pPr algn="l"/>
            <a:r>
              <a:rPr sz="1100" b="0" i="0">
                <a:solidFill>
                  <a:srgbClr val="1F2937"/>
                </a:solidFill>
                <a:latin typeface="Calibri"/>
              </a:rPr>
              <a:t>Loans from 2025-01: PR-AUC 0.542, below the 0.551 alert line — known on 2025-07-01. Inputs and scores were stable, so: investigate, no early refit.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Monitoring catches a broken data feed automatically</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35</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34</a:t>
            </a:r>
          </a:p>
        </p:txBody>
      </p:sp>
      <p:pic>
        <p:nvPicPr>
          <p:cNvPr id="6" name="35_3_challenger_clickstream_missing.png" descr="35_3_challenger_clickstream_missing.png"/>
          <p:cNvPicPr>
            <a:picLocks noChangeAspect="1"/>
          </p:cNvPicPr>
          <p:nvPr/>
        </p:nvPicPr>
        <p:blipFill>
          <a:blip r:embed="rId2"/>
          <a:stretch>
            <a:fillRect/>
          </a:stretch>
        </p:blipFill>
        <p:spPr>
          <a:xfrm>
            <a:off x="457200" y="1311876"/>
            <a:ext cx="6766560" cy="2679767"/>
          </a:xfrm>
          <a:prstGeom prst="rect">
            <a:avLst/>
          </a:prstGeom>
        </p:spPr>
      </p:pic>
      <p:graphicFrame>
        <p:nvGraphicFramePr>
          <p:cNvPr id="7" name="Table"/>
          <p:cNvGraphicFramePr>
            <a:graphicFrameLocks noGrp="1"/>
          </p:cNvGraphicFramePr>
          <p:nvPr/>
        </p:nvGraphicFramePr>
        <p:xfrm>
          <a:off x="7498079" y="1325880"/>
          <a:ext cx="4160520" cy="1645920"/>
        </p:xfrm>
        <a:graphic>
          <a:graphicData uri="http://schemas.openxmlformats.org/drawingml/2006/table">
            <a:tbl>
              <a:tblPr firstRow="0" bandRow="0">
                <a:tableStyleId>{5940675A-B579-460E-94D1-54222C63F5DA}</a:tableStyleId>
              </a:tblPr>
              <a:tblGrid>
                <a:gridCol w="914400"/>
                <a:gridCol w="1234440"/>
                <a:gridCol w="731520"/>
                <a:gridCol w="502920"/>
                <a:gridCol w="777240"/>
              </a:tblGrid>
              <a:tr h="411480">
                <a:tc>
                  <a:txBody>
                    <a:bodyPr wrap="square"/>
                    <a:lstStyle/>
                    <a:p>
                      <a:r>
                        <a:rPr sz="950" b="1">
                          <a:solidFill>
                            <a:srgbClr val="FFFFFF"/>
                          </a:solidFill>
                          <a:latin typeface="Calibri"/>
                        </a:rPr>
                        <a:t>Model</a:t>
                      </a:r>
                    </a:p>
                  </a:txBody>
                  <a:tcPr marL="73152" marR="73152" marT="27432" marB="27432" anchor="ctr">
                    <a:solidFill>
                      <a:srgbClr val="14213D"/>
                    </a:solidFill>
                  </a:tcPr>
                </a:tc>
                <a:tc>
                  <a:txBody>
                    <a:bodyPr wrap="square"/>
                    <a:lstStyle/>
                    <a:p>
                      <a:r>
                        <a:rPr sz="950" b="1">
                          <a:solidFill>
                            <a:srgbClr val="FFFFFF"/>
                          </a:solidFill>
                          <a:latin typeface="Calibri"/>
                        </a:rPr>
                        <a:t>Check</a:t>
                      </a:r>
                    </a:p>
                  </a:txBody>
                  <a:tcPr marL="73152" marR="73152" marT="27432" marB="27432" anchor="ctr">
                    <a:solidFill>
                      <a:srgbClr val="14213D"/>
                    </a:solidFill>
                  </a:tcPr>
                </a:tc>
                <a:tc>
                  <a:txBody>
                    <a:bodyPr wrap="square"/>
                    <a:lstStyle/>
                    <a:p>
                      <a:r>
                        <a:rPr sz="950" b="1">
                          <a:solidFill>
                            <a:srgbClr val="FFFFFF"/>
                          </a:solidFill>
                          <a:latin typeface="Calibri"/>
                        </a:rPr>
                        <a:t>Severity</a:t>
                      </a:r>
                    </a:p>
                  </a:txBody>
                  <a:tcPr marL="73152" marR="73152" marT="27432" marB="27432" anchor="ctr">
                    <a:solidFill>
                      <a:srgbClr val="14213D"/>
                    </a:solidFill>
                  </a:tcPr>
                </a:tc>
                <a:tc>
                  <a:txBody>
                    <a:bodyPr wrap="square"/>
                    <a:lstStyle/>
                    <a:p>
                      <a:r>
                        <a:rPr sz="950" b="1">
                          <a:solidFill>
                            <a:srgbClr val="FFFFFF"/>
                          </a:solidFill>
                          <a:latin typeface="Calibri"/>
                        </a:rPr>
                        <a:t>Items</a:t>
                      </a:r>
                    </a:p>
                  </a:txBody>
                  <a:tcPr marL="73152" marR="73152" marT="27432" marB="27432" anchor="ctr">
                    <a:solidFill>
                      <a:srgbClr val="14213D"/>
                    </a:solidFill>
                  </a:tcPr>
                </a:tc>
                <a:tc>
                  <a:txBody>
                    <a:bodyPr wrap="square"/>
                    <a:lstStyle/>
                    <a:p>
                      <a:r>
                        <a:rPr sz="950" b="1">
                          <a:solidFill>
                            <a:srgbClr val="FFFFFF"/>
                          </a:solidFill>
                          <a:latin typeface="Calibri"/>
                        </a:rPr>
                        <a:t>First raised</a:t>
                      </a:r>
                    </a:p>
                  </a:txBody>
                  <a:tcPr marL="73152" marR="73152" marT="27432" marB="27432" anchor="ctr">
                    <a:solidFill>
                      <a:srgbClr val="14213D"/>
                    </a:solidFill>
                  </a:tcPr>
                </a:tc>
              </a:tr>
              <a:tr h="411480">
                <a:tc>
                  <a:txBody>
                    <a:bodyPr wrap="square"/>
                    <a:lstStyle/>
                    <a:p>
                      <a:r>
                        <a:rPr sz="950" b="0">
                          <a:solidFill>
                            <a:srgbClr val="1F2937"/>
                          </a:solidFill>
                          <a:latin typeface="Calibri"/>
                        </a:rPr>
                        <a:t>challenger</a:t>
                      </a:r>
                    </a:p>
                  </a:txBody>
                  <a:tcPr marL="73152" marR="73152" marT="27432" marB="27432" anchor="ctr">
                    <a:solidFill>
                      <a:srgbClr val="FFFFFF"/>
                    </a:solidFill>
                  </a:tcPr>
                </a:tc>
                <a:tc>
                  <a:txBody>
                    <a:bodyPr wrap="square"/>
                    <a:lstStyle/>
                    <a:p>
                      <a:r>
                        <a:rPr sz="950" b="0">
                          <a:solidFill>
                            <a:srgbClr val="1F2937"/>
                          </a:solidFill>
                          <a:latin typeface="Calibri"/>
                        </a:rPr>
                        <a:t>input drift (PSI)</a:t>
                      </a:r>
                    </a:p>
                  </a:txBody>
                  <a:tcPr marL="73152" marR="73152" marT="27432" marB="27432" anchor="ctr">
                    <a:solidFill>
                      <a:srgbClr val="FFFFFF"/>
                    </a:solidFill>
                  </a:tcPr>
                </a:tc>
                <a:tc>
                  <a:txBody>
                    <a:bodyPr wrap="square"/>
                    <a:lstStyle/>
                    <a:p>
                      <a:r>
                        <a:rPr sz="950" b="0">
                          <a:solidFill>
                            <a:srgbClr val="1F2937"/>
                          </a:solidFill>
                          <a:latin typeface="Calibri"/>
                        </a:rPr>
                        <a:t>ALERT</a:t>
                      </a:r>
                    </a:p>
                  </a:txBody>
                  <a:tcPr marL="73152" marR="73152" marT="27432" marB="27432" anchor="ctr">
                    <a:solidFill>
                      <a:srgbClr val="FFFFFF"/>
                    </a:solidFill>
                  </a:tcPr>
                </a:tc>
                <a:tc>
                  <a:txBody>
                    <a:bodyPr wrap="square"/>
                    <a:lstStyle/>
                    <a:p>
                      <a:r>
                        <a:rPr sz="950" b="0">
                          <a:solidFill>
                            <a:srgbClr val="1F2937"/>
                          </a:solidFill>
                          <a:latin typeface="Calibri"/>
                        </a:rPr>
                        <a:t>10</a:t>
                      </a:r>
                    </a:p>
                  </a:txBody>
                  <a:tcPr marL="73152" marR="73152" marT="27432" marB="27432" anchor="ctr">
                    <a:solidFill>
                      <a:srgbClr val="FFFFFF"/>
                    </a:solidFill>
                  </a:tcPr>
                </a:tc>
                <a:tc>
                  <a:txBody>
                    <a:bodyPr wrap="square"/>
                    <a:lstStyle/>
                    <a:p>
                      <a:r>
                        <a:rPr sz="950" b="0">
                          <a:solidFill>
                            <a:srgbClr val="1F2937"/>
                          </a:solidFill>
                          <a:latin typeface="Calibri"/>
                        </a:rPr>
                        <a:t>2024-07-31</a:t>
                      </a:r>
                    </a:p>
                  </a:txBody>
                  <a:tcPr marL="73152" marR="73152" marT="27432" marB="27432" anchor="ctr">
                    <a:solidFill>
                      <a:srgbClr val="FFFFFF"/>
                    </a:solidFill>
                  </a:tcPr>
                </a:tc>
              </a:tr>
              <a:tr h="411480">
                <a:tc>
                  <a:txBody>
                    <a:bodyPr wrap="square"/>
                    <a:lstStyle/>
                    <a:p>
                      <a:r>
                        <a:rPr sz="950" b="0">
                          <a:solidFill>
                            <a:srgbClr val="1F2937"/>
                          </a:solidFill>
                          <a:latin typeface="Calibri"/>
                        </a:rPr>
                        <a:t>challenger</a:t>
                      </a:r>
                    </a:p>
                  </a:txBody>
                  <a:tcPr marL="73152" marR="73152" marT="27432" marB="27432" anchor="ctr">
                    <a:solidFill>
                      <a:srgbClr val="F6F8FB"/>
                    </a:solidFill>
                  </a:tcPr>
                </a:tc>
                <a:tc>
                  <a:txBody>
                    <a:bodyPr wrap="square"/>
                    <a:lstStyle/>
                    <a:p>
                      <a:r>
                        <a:rPr sz="950" b="0">
                          <a:solidFill>
                            <a:srgbClr val="1F2937"/>
                          </a:solidFill>
                          <a:latin typeface="Calibri"/>
                        </a:rPr>
                        <a:t>missing values</a:t>
                      </a:r>
                    </a:p>
                  </a:txBody>
                  <a:tcPr marL="73152" marR="73152" marT="27432" marB="27432" anchor="ctr">
                    <a:solidFill>
                      <a:srgbClr val="F6F8FB"/>
                    </a:solidFill>
                  </a:tcPr>
                </a:tc>
                <a:tc>
                  <a:txBody>
                    <a:bodyPr wrap="square"/>
                    <a:lstStyle/>
                    <a:p>
                      <a:r>
                        <a:rPr sz="950" b="0">
                          <a:solidFill>
                            <a:srgbClr val="1F2937"/>
                          </a:solidFill>
                          <a:latin typeface="Calibri"/>
                        </a:rPr>
                        <a:t>ALERT</a:t>
                      </a:r>
                    </a:p>
                  </a:txBody>
                  <a:tcPr marL="73152" marR="73152" marT="27432" marB="27432" anchor="ctr">
                    <a:solidFill>
                      <a:srgbClr val="F6F8FB"/>
                    </a:solidFill>
                  </a:tcPr>
                </a:tc>
                <a:tc>
                  <a:txBody>
                    <a:bodyPr wrap="square"/>
                    <a:lstStyle/>
                    <a:p>
                      <a:r>
                        <a:rPr sz="950" b="0">
                          <a:solidFill>
                            <a:srgbClr val="1F2937"/>
                          </a:solidFill>
                          <a:latin typeface="Calibri"/>
                        </a:rPr>
                        <a:t>10</a:t>
                      </a:r>
                    </a:p>
                  </a:txBody>
                  <a:tcPr marL="73152" marR="73152" marT="27432" marB="27432" anchor="ctr">
                    <a:solidFill>
                      <a:srgbClr val="F6F8FB"/>
                    </a:solidFill>
                  </a:tcPr>
                </a:tc>
                <a:tc>
                  <a:txBody>
                    <a:bodyPr wrap="square"/>
                    <a:lstStyle/>
                    <a:p>
                      <a:r>
                        <a:rPr sz="950" b="0">
                          <a:solidFill>
                            <a:srgbClr val="1F2937"/>
                          </a:solidFill>
                          <a:latin typeface="Calibri"/>
                        </a:rPr>
                        <a:t>2024-07-31</a:t>
                      </a:r>
                    </a:p>
                  </a:txBody>
                  <a:tcPr marL="73152" marR="73152" marT="27432" marB="27432" anchor="ctr">
                    <a:solidFill>
                      <a:srgbClr val="F6F8FB"/>
                    </a:solidFill>
                  </a:tcPr>
                </a:tc>
              </a:tr>
              <a:tr h="411480">
                <a:tc>
                  <a:txBody>
                    <a:bodyPr wrap="square"/>
                    <a:lstStyle/>
                    <a:p>
                      <a:r>
                        <a:rPr sz="950" b="0">
                          <a:solidFill>
                            <a:srgbClr val="1F2937"/>
                          </a:solidFill>
                          <a:latin typeface="Calibri"/>
                        </a:rPr>
                        <a:t>champion</a:t>
                      </a:r>
                    </a:p>
                  </a:txBody>
                  <a:tcPr marL="73152" marR="73152" marT="27432" marB="27432" anchor="ctr">
                    <a:solidFill>
                      <a:srgbClr val="FFFFFF"/>
                    </a:solidFill>
                  </a:tcPr>
                </a:tc>
                <a:tc>
                  <a:txBody>
                    <a:bodyPr wrap="square"/>
                    <a:lstStyle/>
                    <a:p>
                      <a:r>
                        <a:rPr sz="950" b="0">
                          <a:solidFill>
                            <a:srgbClr val="1F2937"/>
                          </a:solidFill>
                          <a:latin typeface="Calibri"/>
                        </a:rPr>
                        <a:t>PR-AUC</a:t>
                      </a:r>
                    </a:p>
                  </a:txBody>
                  <a:tcPr marL="73152" marR="73152" marT="27432" marB="27432" anchor="ctr">
                    <a:solidFill>
                      <a:srgbClr val="FFFFFF"/>
                    </a:solidFill>
                  </a:tcPr>
                </a:tc>
                <a:tc>
                  <a:txBody>
                    <a:bodyPr wrap="square"/>
                    <a:lstStyle/>
                    <a:p>
                      <a:r>
                        <a:rPr sz="950" b="0">
                          <a:solidFill>
                            <a:srgbClr val="1F2937"/>
                          </a:solidFill>
                          <a:latin typeface="Calibri"/>
                        </a:rPr>
                        <a:t>ALERT</a:t>
                      </a:r>
                    </a:p>
                  </a:txBody>
                  <a:tcPr marL="73152" marR="73152" marT="27432" marB="27432" anchor="ctr">
                    <a:solidFill>
                      <a:srgbClr val="FFFFFF"/>
                    </a:solidFill>
                  </a:tcPr>
                </a:tc>
                <a:tc>
                  <a:txBody>
                    <a:bodyPr wrap="square"/>
                    <a:lstStyle/>
                    <a:p>
                      <a:r>
                        <a:rPr sz="950" b="0">
                          <a:solidFill>
                            <a:srgbClr val="1F2937"/>
                          </a:solidFill>
                          <a:latin typeface="Calibri"/>
                        </a:rPr>
                        <a:t>1</a:t>
                      </a:r>
                    </a:p>
                  </a:txBody>
                  <a:tcPr marL="73152" marR="73152" marT="27432" marB="27432" anchor="ctr">
                    <a:solidFill>
                      <a:srgbClr val="FFFFFF"/>
                    </a:solidFill>
                  </a:tcPr>
                </a:tc>
                <a:tc>
                  <a:txBody>
                    <a:bodyPr wrap="square"/>
                    <a:lstStyle/>
                    <a:p>
                      <a:r>
                        <a:rPr sz="950" b="0">
                          <a:solidFill>
                            <a:srgbClr val="1F2937"/>
                          </a:solidFill>
                          <a:latin typeface="Calibri"/>
                        </a:rPr>
                        <a:t>2025-07-01</a:t>
                      </a:r>
                    </a:p>
                  </a:txBody>
                  <a:tcPr marL="73152" marR="73152" marT="27432" marB="27432" anchor="ctr">
                    <a:solidFill>
                      <a:srgbClr val="FFFFFF"/>
                    </a:solidFill>
                  </a:tcPr>
                </a:tc>
              </a:tr>
            </a:tbl>
          </a:graphicData>
        </a:graphic>
      </p:graphicFrame>
      <p:sp>
        <p:nvSpPr>
          <p:cNvPr id="8" name="TextBox 7"/>
          <p:cNvSpPr txBox="1"/>
          <p:nvPr/>
        </p:nvSpPr>
        <p:spPr>
          <a:xfrm>
            <a:off x="548640" y="4251960"/>
            <a:ext cx="11064240" cy="2011680"/>
          </a:xfrm>
          <a:prstGeom prst="rect">
            <a:avLst/>
          </a:prstGeom>
          <a:noFill/>
        </p:spPr>
        <p:txBody>
          <a:bodyPr wrap="square" lIns="36576" rIns="36576">
            <a:spAutoFit/>
          </a:bodyPr>
          <a:lstStyle/>
          <a:p>
            <a:pPr marL="201168" indent="-182880">
              <a:spcAft>
                <a:spcPts val="800"/>
              </a:spcAft>
              <a:buFont typeface="Arial"/>
              <a:buChar char="•"/>
            </a:pPr>
            <a:r>
              <a:rPr sz="1400" b="1">
                <a:solidFill>
                  <a:srgbClr val="1F2937"/>
                </a:solidFill>
                <a:latin typeface="Calibri"/>
              </a:rPr>
              <a:t>Challenger B: </a:t>
            </a:r>
            <a:r>
              <a:rPr sz="1400" b="0">
                <a:solidFill>
                  <a:srgbClr val="1F2937"/>
                </a:solidFill>
                <a:latin typeface="Calibri"/>
              </a:rPr>
              <a:t>its 10 clickstream inputs are 100% missing in every production month — PSI &gt; 10 and a missing-value alert on the very first batch (2024-07-31).</a:t>
            </a:r>
          </a:p>
          <a:p>
            <a:pPr marL="201168" indent="-182880">
              <a:spcAft>
                <a:spcPts val="800"/>
              </a:spcAft>
              <a:buFont typeface="Arial"/>
              <a:buChar char="•"/>
            </a:pPr>
            <a:r>
              <a:rPr sz="1400" b="1">
                <a:solidFill>
                  <a:srgbClr val="1F2937"/>
                </a:solidFill>
                <a:latin typeface="Calibri"/>
              </a:rPr>
              <a:t>Same problem found by hand in the EDA </a:t>
            </a:r>
            <a:r>
              <a:rPr sz="1400" b="0">
                <a:solidFill>
                  <a:srgbClr val="1F2937"/>
                </a:solidFill>
                <a:latin typeface="Calibri"/>
              </a:rPr>
              <a:t>(clickstream ends 2024-06) — monitoring would have raised it without anyone looking.</a:t>
            </a:r>
          </a:p>
          <a:p>
            <a:pPr marL="201168" indent="-182880">
              <a:spcAft>
                <a:spcPts val="800"/>
              </a:spcAft>
              <a:buFont typeface="Arial"/>
              <a:buChar char="•"/>
            </a:pPr>
            <a:r>
              <a:rPr sz="1400" b="1">
                <a:solidFill>
                  <a:srgbClr val="1F2937"/>
                </a:solidFill>
                <a:latin typeface="Calibri"/>
              </a:rPr>
              <a:t>Champion: </a:t>
            </a:r>
            <a:r>
              <a:rPr sz="1400" b="0">
                <a:solidFill>
                  <a:srgbClr val="1F2937"/>
                </a:solidFill>
                <a:latin typeface="Calibri"/>
              </a:rPr>
              <a:t>no input or score alerts in any month.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When to refresh: rules decided in advance</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36</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35</a:t>
            </a:r>
          </a:p>
        </p:txBody>
      </p:sp>
      <p:graphicFrame>
        <p:nvGraphicFramePr>
          <p:cNvPr id="6" name="Table"/>
          <p:cNvGraphicFramePr>
            <a:graphicFrameLocks noGrp="1"/>
          </p:cNvGraphicFramePr>
          <p:nvPr/>
        </p:nvGraphicFramePr>
        <p:xfrm>
          <a:off x="548640" y="1325880"/>
          <a:ext cx="6675120" cy="2468880"/>
        </p:xfrm>
        <a:graphic>
          <a:graphicData uri="http://schemas.openxmlformats.org/drawingml/2006/table">
            <a:tbl>
              <a:tblPr firstRow="0" bandRow="0">
                <a:tableStyleId>{5940675A-B579-460E-94D1-54222C63F5DA}</a:tableStyleId>
              </a:tblPr>
              <a:tblGrid>
                <a:gridCol w="1097280"/>
                <a:gridCol w="1463040"/>
                <a:gridCol w="2011680"/>
                <a:gridCol w="2103120"/>
              </a:tblGrid>
              <a:tr h="411480">
                <a:tc>
                  <a:txBody>
                    <a:bodyPr wrap="square"/>
                    <a:lstStyle/>
                    <a:p>
                      <a:r>
                        <a:rPr sz="1100" b="1">
                          <a:solidFill>
                            <a:srgbClr val="FFFFFF"/>
                          </a:solidFill>
                          <a:latin typeface="Calibri"/>
                        </a:rPr>
                        <a:t>Model</a:t>
                      </a:r>
                    </a:p>
                  </a:txBody>
                  <a:tcPr marL="73152" marR="73152" marT="27432" marB="27432" anchor="ctr">
                    <a:solidFill>
                      <a:srgbClr val="14213D"/>
                    </a:solidFill>
                  </a:tcPr>
                </a:tc>
                <a:tc>
                  <a:txBody>
                    <a:bodyPr wrap="square"/>
                    <a:lstStyle/>
                    <a:p>
                      <a:r>
                        <a:rPr sz="1100" b="1">
                          <a:solidFill>
                            <a:srgbClr val="FFFFFF"/>
                          </a:solidFill>
                          <a:latin typeface="Calibri"/>
                        </a:rPr>
                        <a:t>Trigger</a:t>
                      </a:r>
                    </a:p>
                  </a:txBody>
                  <a:tcPr marL="73152" marR="73152" marT="27432" marB="27432" anchor="ctr">
                    <a:solidFill>
                      <a:srgbClr val="14213D"/>
                    </a:solidFill>
                  </a:tcPr>
                </a:tc>
                <a:tc>
                  <a:txBody>
                    <a:bodyPr wrap="square"/>
                    <a:lstStyle/>
                    <a:p>
                      <a:r>
                        <a:rPr sz="1100" b="1">
                          <a:solidFill>
                            <a:srgbClr val="FFFFFF"/>
                          </a:solidFill>
                          <a:latin typeface="Calibri"/>
                        </a:rPr>
                        <a:t>Status</a:t>
                      </a:r>
                    </a:p>
                  </a:txBody>
                  <a:tcPr marL="73152" marR="73152" marT="27432" marB="27432" anchor="ctr">
                    <a:solidFill>
                      <a:srgbClr val="14213D"/>
                    </a:solidFill>
                  </a:tcPr>
                </a:tc>
                <a:tc>
                  <a:txBody>
                    <a:bodyPr wrap="square"/>
                    <a:lstStyle/>
                    <a:p>
                      <a:r>
                        <a:rPr sz="1100" b="1">
                          <a:solidFill>
                            <a:srgbClr val="FFFFFF"/>
                          </a:solidFill>
                          <a:latin typeface="Calibri"/>
                        </a:rPr>
                        <a:t>Action</a:t>
                      </a:r>
                    </a:p>
                  </a:txBody>
                  <a:tcPr marL="73152" marR="73152" marT="27432" marB="27432" anchor="ctr">
                    <a:solidFill>
                      <a:srgbClr val="14213D"/>
                    </a:solidFill>
                  </a:tcPr>
                </a:tc>
              </a:tr>
              <a:tr h="411480">
                <a:tc>
                  <a:txBody>
                    <a:bodyPr wrap="square"/>
                    <a:lstStyle/>
                    <a:p>
                      <a:r>
                        <a:rPr sz="1100" b="1">
                          <a:solidFill>
                            <a:srgbClr val="1F2937"/>
                          </a:solidFill>
                          <a:latin typeface="Calibri"/>
                        </a:rPr>
                        <a:t>champion</a:t>
                      </a:r>
                    </a:p>
                  </a:txBody>
                  <a:tcPr marL="73152" marR="73152" marT="27432" marB="27432" anchor="ctr">
                    <a:solidFill>
                      <a:srgbClr val="FFFFFF"/>
                    </a:solidFill>
                  </a:tcPr>
                </a:tc>
                <a:tc>
                  <a:txBody>
                    <a:bodyPr wrap="square"/>
                    <a:lstStyle/>
                    <a:p>
                      <a:r>
                        <a:rPr sz="1100" b="0">
                          <a:solidFill>
                            <a:srgbClr val="1F2937"/>
                          </a:solidFill>
                          <a:latin typeface="Calibri"/>
                        </a:rPr>
                        <a:t>input drift</a:t>
                      </a:r>
                    </a:p>
                  </a:txBody>
                  <a:tcPr marL="73152" marR="73152" marT="27432" marB="27432" anchor="ctr">
                    <a:solidFill>
                      <a:srgbClr val="FFFFFF"/>
                    </a:solidFill>
                  </a:tcPr>
                </a:tc>
                <a:tc>
                  <a:txBody>
                    <a:bodyPr wrap="square"/>
                    <a:lstStyle/>
                    <a:p>
                      <a:r>
                        <a:rPr sz="1100" b="0">
                          <a:solidFill>
                            <a:srgbClr val="1F2937"/>
                          </a:solidFill>
                          <a:latin typeface="Calibri"/>
                        </a:rPr>
                        <a:t>not triggered</a:t>
                      </a:r>
                    </a:p>
                  </a:txBody>
                  <a:tcPr marL="73152" marR="73152" marT="27432" marB="27432" anchor="ctr">
                    <a:solidFill>
                      <a:srgbClr val="FFFFFF"/>
                    </a:solidFill>
                  </a:tcPr>
                </a:tc>
                <a:tc>
                  <a:txBody>
                    <a:bodyPr wrap="square"/>
                    <a:lstStyle/>
                    <a:p>
                      <a:r>
                        <a:rPr sz="1100" b="0">
                          <a:solidFill>
                            <a:srgbClr val="1F2937"/>
                          </a:solidFill>
                          <a:latin typeface="Calibri"/>
                        </a:rPr>
                        <a:t>none</a:t>
                      </a:r>
                    </a:p>
                  </a:txBody>
                  <a:tcPr marL="73152" marR="73152" marT="27432" marB="27432" anchor="ctr">
                    <a:solidFill>
                      <a:srgbClr val="FFFFFF"/>
                    </a:solidFill>
                  </a:tcPr>
                </a:tc>
              </a:tr>
              <a:tr h="411480">
                <a:tc>
                  <a:txBody>
                    <a:bodyPr wrap="square"/>
                    <a:lstStyle/>
                    <a:p>
                      <a:r>
                        <a:rPr sz="1100" b="1">
                          <a:solidFill>
                            <a:srgbClr val="1F2937"/>
                          </a:solidFill>
                          <a:latin typeface="Calibri"/>
                        </a:rPr>
                        <a:t>champion</a:t>
                      </a:r>
                    </a:p>
                  </a:txBody>
                  <a:tcPr marL="73152" marR="73152" marT="27432" marB="27432" anchor="ctr">
                    <a:solidFill>
                      <a:srgbClr val="F6F8FB"/>
                    </a:solidFill>
                  </a:tcPr>
                </a:tc>
                <a:tc>
                  <a:txBody>
                    <a:bodyPr wrap="square"/>
                    <a:lstStyle/>
                    <a:p>
                      <a:r>
                        <a:rPr sz="1100" b="0">
                          <a:solidFill>
                            <a:srgbClr val="1F2937"/>
                          </a:solidFill>
                          <a:latin typeface="Calibri"/>
                        </a:rPr>
                        <a:t>score drift</a:t>
                      </a:r>
                    </a:p>
                  </a:txBody>
                  <a:tcPr marL="73152" marR="73152" marT="27432" marB="27432" anchor="ctr">
                    <a:solidFill>
                      <a:srgbClr val="F6F8FB"/>
                    </a:solidFill>
                  </a:tcPr>
                </a:tc>
                <a:tc>
                  <a:txBody>
                    <a:bodyPr wrap="square"/>
                    <a:lstStyle/>
                    <a:p>
                      <a:r>
                        <a:rPr sz="1100" b="0">
                          <a:solidFill>
                            <a:srgbClr val="1F2937"/>
                          </a:solidFill>
                          <a:latin typeface="Calibri"/>
                        </a:rPr>
                        <a:t>not triggered</a:t>
                      </a:r>
                    </a:p>
                  </a:txBody>
                  <a:tcPr marL="73152" marR="73152" marT="27432" marB="27432" anchor="ctr">
                    <a:solidFill>
                      <a:srgbClr val="F6F8FB"/>
                    </a:solidFill>
                  </a:tcPr>
                </a:tc>
                <a:tc>
                  <a:txBody>
                    <a:bodyPr wrap="square"/>
                    <a:lstStyle/>
                    <a:p>
                      <a:r>
                        <a:rPr sz="1100" b="0">
                          <a:solidFill>
                            <a:srgbClr val="1F2937"/>
                          </a:solidFill>
                          <a:latin typeface="Calibri"/>
                        </a:rPr>
                        <a:t>none</a:t>
                      </a:r>
                    </a:p>
                  </a:txBody>
                  <a:tcPr marL="73152" marR="73152" marT="27432" marB="27432" anchor="ctr">
                    <a:solidFill>
                      <a:srgbClr val="F6F8FB"/>
                    </a:solidFill>
                  </a:tcPr>
                </a:tc>
              </a:tr>
              <a:tr h="411480">
                <a:tc>
                  <a:txBody>
                    <a:bodyPr wrap="square"/>
                    <a:lstStyle/>
                    <a:p>
                      <a:r>
                        <a:rPr sz="1100" b="1">
                          <a:solidFill>
                            <a:srgbClr val="1F2937"/>
                          </a:solidFill>
                          <a:latin typeface="Calibri"/>
                        </a:rPr>
                        <a:t>champion</a:t>
                      </a:r>
                    </a:p>
                  </a:txBody>
                  <a:tcPr marL="73152" marR="73152" marT="27432" marB="27432" anchor="ctr">
                    <a:solidFill>
                      <a:srgbClr val="FFFFFF"/>
                    </a:solidFill>
                  </a:tcPr>
                </a:tc>
                <a:tc>
                  <a:txBody>
                    <a:bodyPr wrap="square"/>
                    <a:lstStyle/>
                    <a:p>
                      <a:r>
                        <a:rPr sz="1100" b="0">
                          <a:solidFill>
                            <a:srgbClr val="1F2937"/>
                          </a:solidFill>
                          <a:latin typeface="Calibri"/>
                        </a:rPr>
                        <a:t>performance</a:t>
                      </a:r>
                    </a:p>
                  </a:txBody>
                  <a:tcPr marL="73152" marR="73152" marT="27432" marB="27432" anchor="ctr">
                    <a:solidFill>
                      <a:srgbClr val="FFFFFF"/>
                    </a:solidFill>
                  </a:tcPr>
                </a:tc>
                <a:tc>
                  <a:txBody>
                    <a:bodyPr wrap="square"/>
                    <a:lstStyle/>
                    <a:p>
                      <a:r>
                        <a:rPr sz="1100" b="0">
                          <a:solidFill>
                            <a:srgbClr val="1F2937"/>
                          </a:solidFill>
                          <a:latin typeface="Calibri"/>
                        </a:rPr>
                        <a:t>WATCH (single month)</a:t>
                      </a:r>
                    </a:p>
                  </a:txBody>
                  <a:tcPr marL="73152" marR="73152" marT="27432" marB="27432" anchor="ctr">
                    <a:solidFill>
                      <a:srgbClr val="FFFFFF"/>
                    </a:solidFill>
                  </a:tcPr>
                </a:tc>
                <a:tc>
                  <a:txBody>
                    <a:bodyPr wrap="square"/>
                    <a:lstStyle/>
                    <a:p>
                      <a:r>
                        <a:rPr sz="1100" b="0">
                          <a:solidFill>
                            <a:srgbClr val="1F2937"/>
                          </a:solidFill>
                          <a:latin typeface="Calibri"/>
                        </a:rPr>
                        <a:t>investigate, no model change</a:t>
                      </a:r>
                    </a:p>
                  </a:txBody>
                  <a:tcPr marL="73152" marR="73152" marT="27432" marB="27432" anchor="ctr">
                    <a:solidFill>
                      <a:srgbClr val="FFFFFF"/>
                    </a:solidFill>
                  </a:tcPr>
                </a:tc>
              </a:tr>
              <a:tr h="411480">
                <a:tc>
                  <a:txBody>
                    <a:bodyPr wrap="square"/>
                    <a:lstStyle/>
                    <a:p>
                      <a:r>
                        <a:rPr sz="1100" b="1">
                          <a:solidFill>
                            <a:srgbClr val="1F2937"/>
                          </a:solidFill>
                          <a:latin typeface="Calibri"/>
                        </a:rPr>
                        <a:t>champion</a:t>
                      </a:r>
                    </a:p>
                  </a:txBody>
                  <a:tcPr marL="73152" marR="73152" marT="27432" marB="27432" anchor="ctr">
                    <a:solidFill>
                      <a:srgbClr val="F6F8FB"/>
                    </a:solidFill>
                  </a:tcPr>
                </a:tc>
                <a:tc>
                  <a:txBody>
                    <a:bodyPr wrap="square"/>
                    <a:lstStyle/>
                    <a:p>
                      <a:r>
                        <a:rPr sz="1100" b="0">
                          <a:solidFill>
                            <a:srgbClr val="1F2937"/>
                          </a:solidFill>
                          <a:latin typeface="Calibri"/>
                        </a:rPr>
                        <a:t>calibration</a:t>
                      </a:r>
                    </a:p>
                  </a:txBody>
                  <a:tcPr marL="73152" marR="73152" marT="27432" marB="27432" anchor="ctr">
                    <a:solidFill>
                      <a:srgbClr val="F6F8FB"/>
                    </a:solidFill>
                  </a:tcPr>
                </a:tc>
                <a:tc>
                  <a:txBody>
                    <a:bodyPr wrap="square"/>
                    <a:lstStyle/>
                    <a:p>
                      <a:r>
                        <a:rPr sz="1100" b="0">
                          <a:solidFill>
                            <a:srgbClr val="1F2937"/>
                          </a:solidFill>
                          <a:latin typeface="Calibri"/>
                        </a:rPr>
                        <a:t>not triggered</a:t>
                      </a:r>
                    </a:p>
                  </a:txBody>
                  <a:tcPr marL="73152" marR="73152" marT="27432" marB="27432" anchor="ctr">
                    <a:solidFill>
                      <a:srgbClr val="F6F8FB"/>
                    </a:solidFill>
                  </a:tcPr>
                </a:tc>
                <a:tc>
                  <a:txBody>
                    <a:bodyPr wrap="square"/>
                    <a:lstStyle/>
                    <a:p>
                      <a:r>
                        <a:rPr sz="1100" b="0">
                          <a:solidFill>
                            <a:srgbClr val="1F2937"/>
                          </a:solidFill>
                          <a:latin typeface="Calibri"/>
                        </a:rPr>
                        <a:t>none</a:t>
                      </a:r>
                    </a:p>
                  </a:txBody>
                  <a:tcPr marL="73152" marR="73152" marT="27432" marB="27432" anchor="ctr">
                    <a:solidFill>
                      <a:srgbClr val="F6F8FB"/>
                    </a:solidFill>
                  </a:tcPr>
                </a:tc>
              </a:tr>
              <a:tr h="411480">
                <a:tc>
                  <a:txBody>
                    <a:bodyPr wrap="square"/>
                    <a:lstStyle/>
                    <a:p>
                      <a:r>
                        <a:rPr sz="1100" b="1">
                          <a:solidFill>
                            <a:srgbClr val="1F2937"/>
                          </a:solidFill>
                          <a:latin typeface="Calibri"/>
                        </a:rPr>
                        <a:t>challenger</a:t>
                      </a:r>
                    </a:p>
                  </a:txBody>
                  <a:tcPr marL="73152" marR="73152" marT="27432" marB="27432" anchor="ctr">
                    <a:solidFill>
                      <a:srgbClr val="FFFFFF"/>
                    </a:solidFill>
                  </a:tcPr>
                </a:tc>
                <a:tc>
                  <a:txBody>
                    <a:bodyPr wrap="square"/>
                    <a:lstStyle/>
                    <a:p>
                      <a:r>
                        <a:rPr sz="1100" b="0">
                          <a:solidFill>
                            <a:srgbClr val="1F2937"/>
                          </a:solidFill>
                          <a:latin typeface="Calibri"/>
                        </a:rPr>
                        <a:t>data source</a:t>
                      </a:r>
                    </a:p>
                  </a:txBody>
                  <a:tcPr marL="73152" marR="73152" marT="27432" marB="27432" anchor="ctr">
                    <a:solidFill>
                      <a:srgbClr val="FFFFFF"/>
                    </a:solidFill>
                  </a:tcPr>
                </a:tc>
                <a:tc>
                  <a:txBody>
                    <a:bodyPr wrap="square"/>
                    <a:lstStyle/>
                    <a:p>
                      <a:r>
                        <a:rPr sz="1100" b="0">
                          <a:solidFill>
                            <a:srgbClr val="1F2937"/>
                          </a:solidFill>
                          <a:latin typeface="Calibri"/>
                        </a:rPr>
                        <a:t>TRIGGERED</a:t>
                      </a:r>
                    </a:p>
                  </a:txBody>
                  <a:tcPr marL="73152" marR="73152" marT="27432" marB="27432" anchor="ctr">
                    <a:solidFill>
                      <a:srgbClr val="FFFFFF"/>
                    </a:solidFill>
                  </a:tcPr>
                </a:tc>
                <a:tc>
                  <a:txBody>
                    <a:bodyPr wrap="square"/>
                    <a:lstStyle/>
                    <a:p>
                      <a:r>
                        <a:rPr sz="1100" b="0">
                          <a:solidFill>
                            <a:srgbClr val="1F2937"/>
                          </a:solidFill>
                          <a:latin typeface="Calibri"/>
                        </a:rPr>
                        <a:t>rebuild</a:t>
                      </a:r>
                    </a:p>
                  </a:txBody>
                  <a:tcPr marL="73152" marR="73152" marT="27432" marB="27432" anchor="ctr">
                    <a:solidFill>
                      <a:srgbClr val="FFFFFF"/>
                    </a:solidFill>
                  </a:tcPr>
                </a:tc>
              </a:tr>
            </a:tbl>
          </a:graphicData>
        </a:graphic>
      </p:graphicFrame>
      <p:sp>
        <p:nvSpPr>
          <p:cNvPr id="7" name="TextBox 6"/>
          <p:cNvSpPr txBox="1"/>
          <p:nvPr/>
        </p:nvSpPr>
        <p:spPr>
          <a:xfrm>
            <a:off x="548640" y="4023360"/>
            <a:ext cx="6675120" cy="2286000"/>
          </a:xfrm>
          <a:prstGeom prst="rect">
            <a:avLst/>
          </a:prstGeom>
          <a:noFill/>
        </p:spPr>
        <p:txBody>
          <a:bodyPr wrap="square" lIns="36576" rIns="36576">
            <a:spAutoFit/>
          </a:bodyPr>
          <a:lstStyle/>
          <a:p>
            <a:pPr marL="201168" indent="-182880">
              <a:spcAft>
                <a:spcPts val="800"/>
              </a:spcAft>
              <a:buFont typeface="Arial"/>
              <a:buChar char="•"/>
            </a:pPr>
            <a:r>
              <a:rPr sz="1300" b="1">
                <a:solidFill>
                  <a:srgbClr val="1F2937"/>
                </a:solidFill>
                <a:latin typeface="Calibri"/>
              </a:rPr>
              <a:t>Champion: </a:t>
            </a:r>
            <a:r>
              <a:rPr sz="1300" b="0">
                <a:solidFill>
                  <a:srgbClr val="1F2937"/>
                </a:solidFill>
                <a:latin typeface="Calibri"/>
              </a:rPr>
              <a:t>only a single-month performance alert → no early refit; investigate the 2025-01 cohort; scheduled refit next.</a:t>
            </a:r>
          </a:p>
          <a:p>
            <a:pPr marL="201168" indent="-182880">
              <a:spcAft>
                <a:spcPts val="800"/>
              </a:spcAft>
              <a:buFont typeface="Arial"/>
              <a:buChar char="•"/>
            </a:pPr>
            <a:r>
              <a:rPr sz="1300" b="1">
                <a:solidFill>
                  <a:srgbClr val="1F2937"/>
                </a:solidFill>
                <a:latin typeface="Calibri"/>
              </a:rPr>
              <a:t>Challenger: </a:t>
            </a:r>
            <a:r>
              <a:rPr sz="1300" b="0">
                <a:solidFill>
                  <a:srgbClr val="1F2937"/>
                </a:solidFill>
                <a:latin typeface="Calibri"/>
              </a:rPr>
              <a:t>data-source trigger → stays challenger until the clickstream feed returns.</a:t>
            </a:r>
          </a:p>
        </p:txBody>
      </p:sp>
      <p:sp>
        <p:nvSpPr>
          <p:cNvPr id="8" name="Rounded Rectangle 7"/>
          <p:cNvSpPr/>
          <p:nvPr/>
        </p:nvSpPr>
        <p:spPr>
          <a:xfrm>
            <a:off x="7498079" y="1325880"/>
            <a:ext cx="4160520" cy="498348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35240" y="1417320"/>
            <a:ext cx="3886200" cy="365760"/>
          </a:xfrm>
          <a:prstGeom prst="rect">
            <a:avLst/>
          </a:prstGeom>
          <a:noFill/>
        </p:spPr>
        <p:txBody>
          <a:bodyPr wrap="square" anchor="t" lIns="36576" rIns="36576" tIns="18288" bIns="18288">
            <a:spAutoFit/>
          </a:bodyPr>
          <a:lstStyle/>
          <a:p>
            <a:pPr algn="l"/>
            <a:r>
              <a:rPr sz="1400" b="1" i="0">
                <a:solidFill>
                  <a:srgbClr val="14213D"/>
                </a:solidFill>
                <a:latin typeface="Calibri"/>
              </a:rPr>
              <a:t>Refresh SOP</a:t>
            </a:r>
          </a:p>
        </p:txBody>
      </p:sp>
      <p:sp>
        <p:nvSpPr>
          <p:cNvPr id="10" name="TextBox 9"/>
          <p:cNvSpPr txBox="1"/>
          <p:nvPr/>
        </p:nvSpPr>
        <p:spPr>
          <a:xfrm>
            <a:off x="7635240" y="1783080"/>
            <a:ext cx="3886200" cy="4480560"/>
          </a:xfrm>
          <a:prstGeom prst="rect">
            <a:avLst/>
          </a:prstGeom>
          <a:noFill/>
        </p:spPr>
        <p:txBody>
          <a:bodyPr wrap="square" anchor="t" lIns="36576" rIns="36576" tIns="18288" bIns="18288">
            <a:spAutoFit/>
          </a:bodyPr>
          <a:lstStyle/>
          <a:p>
            <a:pPr algn="l"/>
            <a:r>
              <a:rPr sz="1300" b="0" i="0">
                <a:solidFill>
                  <a:srgbClr val="1F2937"/>
                </a:solidFill>
                <a:latin typeface="Calibri"/>
              </a:rPr>
              <a:t>• Scheduled refit every 6 months (labels mature after 6), rolling 18-month window
• Early refit only if a trigger persists 2 consecutive months (PSI &gt; 0.25, PR-AUC − 0.05, calibration ± 5 pp)
• Rebuild (steps 21–30) on a source, product or policy change
• Promotion: tests pass, PR-AUC not worse than champion by &gt; 0.01, calibration ok, no new segment weakness, 1 month shadow scoring, approver signs
• Roles: owner, independent validator, approver (risk committee), platform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Rollback drill and deployment options</a:t>
            </a:r>
          </a:p>
        </p:txBody>
      </p:sp>
      <p:sp>
        <p:nvSpPr>
          <p:cNvPr id="3" name="Step chip"/>
          <p:cNvSpPr/>
          <p:nvPr/>
        </p:nvSpPr>
        <p:spPr>
          <a:xfrm>
            <a:off x="10378440" y="457200"/>
            <a:ext cx="1280160" cy="384048"/>
          </a:xfrm>
          <a:prstGeom prst="round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r>
              <a:rPr sz="1200" b="1">
                <a:solidFill>
                  <a:srgbClr val="2A78D6"/>
                </a:solidFill>
                <a:latin typeface="Calibri"/>
              </a:rPr>
              <a:t>STEP 36</a:t>
            </a:r>
          </a:p>
        </p:txBody>
      </p:sp>
      <p:sp>
        <p:nvSpPr>
          <p:cNvPr id="4"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5"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36</a:t>
            </a:r>
          </a:p>
        </p:txBody>
      </p:sp>
      <p:graphicFrame>
        <p:nvGraphicFramePr>
          <p:cNvPr id="6" name="Table"/>
          <p:cNvGraphicFramePr>
            <a:graphicFrameLocks noGrp="1"/>
          </p:cNvGraphicFramePr>
          <p:nvPr/>
        </p:nvGraphicFramePr>
        <p:xfrm>
          <a:off x="548640" y="1325880"/>
          <a:ext cx="11109960" cy="1234440"/>
        </p:xfrm>
        <a:graphic>
          <a:graphicData uri="http://schemas.openxmlformats.org/drawingml/2006/table">
            <a:tbl>
              <a:tblPr firstRow="0" bandRow="0">
                <a:tableStyleId>{5940675A-B579-460E-94D1-54222C63F5DA}</a:tableStyleId>
              </a:tblPr>
              <a:tblGrid>
                <a:gridCol w="2560320"/>
                <a:gridCol w="1737360"/>
                <a:gridCol w="1554480"/>
                <a:gridCol w="5257800"/>
              </a:tblGrid>
              <a:tr h="411480">
                <a:tc>
                  <a:txBody>
                    <a:bodyPr wrap="square"/>
                    <a:lstStyle/>
                    <a:p>
                      <a:r>
                        <a:rPr sz="1150" b="1">
                          <a:solidFill>
                            <a:srgbClr val="FFFFFF"/>
                          </a:solidFill>
                          <a:latin typeface="Calibri"/>
                        </a:rPr>
                        <a:t>Drill stage</a:t>
                      </a:r>
                    </a:p>
                  </a:txBody>
                  <a:tcPr marL="73152" marR="73152" marT="27432" marB="27432" anchor="ctr">
                    <a:solidFill>
                      <a:srgbClr val="14213D"/>
                    </a:solidFill>
                  </a:tcPr>
                </a:tc>
                <a:tc>
                  <a:txBody>
                    <a:bodyPr wrap="square"/>
                    <a:lstStyle/>
                    <a:p>
                      <a:r>
                        <a:rPr sz="1150" b="1">
                          <a:solidFill>
                            <a:srgbClr val="FFFFFF"/>
                          </a:solidFill>
                          <a:latin typeface="Calibri"/>
                        </a:rPr>
                        <a:t>@champion version</a:t>
                      </a:r>
                    </a:p>
                  </a:txBody>
                  <a:tcPr marL="73152" marR="73152" marT="27432" marB="27432" anchor="ctr">
                    <a:solidFill>
                      <a:srgbClr val="14213D"/>
                    </a:solidFill>
                  </a:tcPr>
                </a:tc>
                <a:tc>
                  <a:txBody>
                    <a:bodyPr wrap="square"/>
                    <a:lstStyle/>
                    <a:p>
                      <a:r>
                        <a:rPr sz="1150" b="1">
                          <a:solidFill>
                            <a:srgbClr val="FFFFFF"/>
                          </a:solidFill>
                          <a:latin typeface="Calibri"/>
                        </a:rPr>
                        <a:t>Scores changed</a:t>
                      </a:r>
                    </a:p>
                  </a:txBody>
                  <a:tcPr marL="73152" marR="73152" marT="27432" marB="27432" anchor="ctr">
                    <a:solidFill>
                      <a:srgbClr val="14213D"/>
                    </a:solidFill>
                  </a:tcPr>
                </a:tc>
                <a:tc>
                  <a:txBody>
                    <a:bodyPr wrap="square"/>
                    <a:lstStyle/>
                    <a:p>
                      <a:r>
                        <a:rPr sz="1150" b="1">
                          <a:solidFill>
                            <a:srgbClr val="FFFFFF"/>
                          </a:solidFill>
                          <a:latin typeface="Calibri"/>
                        </a:rPr>
                        <a:t>Note</a:t>
                      </a:r>
                    </a:p>
                  </a:txBody>
                  <a:tcPr marL="73152" marR="73152" marT="27432" marB="27432" anchor="ctr">
                    <a:solidFill>
                      <a:srgbClr val="14213D"/>
                    </a:solidFill>
                  </a:tcPr>
                </a:tc>
              </a:tr>
              <a:tr h="411480">
                <a:tc>
                  <a:txBody>
                    <a:bodyPr wrap="square"/>
                    <a:lstStyle/>
                    <a:p>
                      <a:r>
                        <a:rPr sz="1150" b="0">
                          <a:solidFill>
                            <a:srgbClr val="1F2937"/>
                          </a:solidFill>
                          <a:latin typeface="Calibri"/>
                        </a:rPr>
                        <a:t>after simulated promotion</a:t>
                      </a:r>
                    </a:p>
                  </a:txBody>
                  <a:tcPr marL="73152" marR="73152" marT="27432" marB="27432" anchor="ctr">
                    <a:solidFill>
                      <a:srgbClr val="FFFFFF"/>
                    </a:solidFill>
                  </a:tcPr>
                </a:tc>
                <a:tc>
                  <a:txBody>
                    <a:bodyPr wrap="square"/>
                    <a:lstStyle/>
                    <a:p>
                      <a:r>
                        <a:rPr sz="1150" b="0">
                          <a:solidFill>
                            <a:srgbClr val="1F2937"/>
                          </a:solidFill>
                          <a:latin typeface="Calibri"/>
                        </a:rPr>
                        <a:t>3</a:t>
                      </a:r>
                    </a:p>
                  </a:txBody>
                  <a:tcPr marL="73152" marR="73152" marT="27432" marB="27432" anchor="ctr">
                    <a:solidFill>
                      <a:srgbClr val="FFFFFF"/>
                    </a:solidFill>
                  </a:tcPr>
                </a:tc>
                <a:tc>
                  <a:txBody>
                    <a:bodyPr wrap="square"/>
                    <a:lstStyle/>
                    <a:p>
                      <a:r>
                        <a:rPr sz="1150" b="0">
                          <a:solidFill>
                            <a:srgbClr val="1F2937"/>
                          </a:solidFill>
                          <a:latin typeface="Calibri"/>
                        </a:rPr>
                        <a:t>yes</a:t>
                      </a:r>
                    </a:p>
                  </a:txBody>
                  <a:tcPr marL="73152" marR="73152" marT="27432" marB="27432" anchor="ctr">
                    <a:solidFill>
                      <a:srgbClr val="FFFFFF"/>
                    </a:solidFill>
                  </a:tcPr>
                </a:tc>
                <a:tc>
                  <a:txBody>
                    <a:bodyPr wrap="square"/>
                    <a:lstStyle/>
                    <a:p>
                      <a:r>
                        <a:rPr sz="1150" b="0">
                          <a:solidFill>
                            <a:srgbClr val="1F2937"/>
                          </a:solidFill>
                          <a:latin typeface="Calibri"/>
                        </a:rPr>
                        <a:t>inference follows the alias, no code change</a:t>
                      </a:r>
                    </a:p>
                  </a:txBody>
                  <a:tcPr marL="73152" marR="73152" marT="27432" marB="27432" anchor="ctr">
                    <a:solidFill>
                      <a:srgbClr val="FFFFFF"/>
                    </a:solidFill>
                  </a:tcPr>
                </a:tc>
              </a:tr>
              <a:tr h="411480">
                <a:tc>
                  <a:txBody>
                    <a:bodyPr wrap="square"/>
                    <a:lstStyle/>
                    <a:p>
                      <a:r>
                        <a:rPr sz="1150" b="0">
                          <a:solidFill>
                            <a:srgbClr val="1F2937"/>
                          </a:solidFill>
                          <a:latin typeface="Calibri"/>
                        </a:rPr>
                        <a:t>after rollback</a:t>
                      </a:r>
                    </a:p>
                  </a:txBody>
                  <a:tcPr marL="73152" marR="73152" marT="27432" marB="27432" anchor="ctr">
                    <a:solidFill>
                      <a:srgbClr val="F6F8FB"/>
                    </a:solidFill>
                  </a:tcPr>
                </a:tc>
                <a:tc>
                  <a:txBody>
                    <a:bodyPr wrap="square"/>
                    <a:lstStyle/>
                    <a:p>
                      <a:r>
                        <a:rPr sz="1150" b="0">
                          <a:solidFill>
                            <a:srgbClr val="1F2937"/>
                          </a:solidFill>
                          <a:latin typeface="Calibri"/>
                        </a:rPr>
                        <a:t>1</a:t>
                      </a:r>
                    </a:p>
                  </a:txBody>
                  <a:tcPr marL="73152" marR="73152" marT="27432" marB="27432" anchor="ctr">
                    <a:solidFill>
                      <a:srgbClr val="F6F8FB"/>
                    </a:solidFill>
                  </a:tcPr>
                </a:tc>
                <a:tc>
                  <a:txBody>
                    <a:bodyPr wrap="square"/>
                    <a:lstStyle/>
                    <a:p>
                      <a:r>
                        <a:rPr sz="1150" b="0">
                          <a:solidFill>
                            <a:srgbClr val="1F2937"/>
                          </a:solidFill>
                          <a:latin typeface="Calibri"/>
                        </a:rPr>
                        <a:t>no</a:t>
                      </a:r>
                    </a:p>
                  </a:txBody>
                  <a:tcPr marL="73152" marR="73152" marT="27432" marB="27432" anchor="ctr">
                    <a:solidFill>
                      <a:srgbClr val="F6F8FB"/>
                    </a:solidFill>
                  </a:tcPr>
                </a:tc>
                <a:tc>
                  <a:txBody>
                    <a:bodyPr wrap="square"/>
                    <a:lstStyle/>
                    <a:p>
                      <a:r>
                        <a:rPr sz="1150" b="0">
                          <a:solidFill>
                            <a:srgbClr val="1F2937"/>
                          </a:solidFill>
                          <a:latin typeface="Calibri"/>
                        </a:rPr>
                        <a:t>identical to before the drill</a:t>
                      </a:r>
                    </a:p>
                  </a:txBody>
                  <a:tcPr marL="73152" marR="73152" marT="27432" marB="27432" anchor="ctr">
                    <a:solidFill>
                      <a:srgbClr val="F6F8FB"/>
                    </a:solidFill>
                  </a:tcPr>
                </a:tc>
              </a:tr>
            </a:tbl>
          </a:graphicData>
        </a:graphic>
      </p:graphicFrame>
      <p:graphicFrame>
        <p:nvGraphicFramePr>
          <p:cNvPr id="7" name="Table"/>
          <p:cNvGraphicFramePr>
            <a:graphicFrameLocks noGrp="1"/>
          </p:cNvGraphicFramePr>
          <p:nvPr/>
        </p:nvGraphicFramePr>
        <p:xfrm>
          <a:off x="548640" y="2880360"/>
          <a:ext cx="11109960" cy="2057400"/>
        </p:xfrm>
        <a:graphic>
          <a:graphicData uri="http://schemas.openxmlformats.org/drawingml/2006/table">
            <a:tbl>
              <a:tblPr firstRow="0" bandRow="0">
                <a:tableStyleId>{5940675A-B579-460E-94D1-54222C63F5DA}</a:tableStyleId>
              </a:tblPr>
              <a:tblGrid>
                <a:gridCol w="3017520"/>
                <a:gridCol w="4023360"/>
                <a:gridCol w="4069080"/>
              </a:tblGrid>
              <a:tr h="411480">
                <a:tc>
                  <a:txBody>
                    <a:bodyPr wrap="square"/>
                    <a:lstStyle/>
                    <a:p>
                      <a:r>
                        <a:rPr sz="1150" b="1">
                          <a:solidFill>
                            <a:srgbClr val="FFFFFF"/>
                          </a:solidFill>
                          <a:latin typeface="Calibri"/>
                        </a:rPr>
                        <a:t>Option</a:t>
                      </a:r>
                    </a:p>
                  </a:txBody>
                  <a:tcPr marL="73152" marR="73152" marT="27432" marB="27432" anchor="ctr">
                    <a:solidFill>
                      <a:srgbClr val="14213D"/>
                    </a:solidFill>
                  </a:tcPr>
                </a:tc>
                <a:tc>
                  <a:txBody>
                    <a:bodyPr wrap="square"/>
                    <a:lstStyle/>
                    <a:p>
                      <a:r>
                        <a:rPr sz="1150" b="1">
                          <a:solidFill>
                            <a:srgbClr val="FFFFFF"/>
                          </a:solidFill>
                          <a:latin typeface="Calibri"/>
                        </a:rPr>
                        <a:t>Fits when</a:t>
                      </a:r>
                    </a:p>
                  </a:txBody>
                  <a:tcPr marL="73152" marR="73152" marT="27432" marB="27432" anchor="ctr">
                    <a:solidFill>
                      <a:srgbClr val="14213D"/>
                    </a:solidFill>
                  </a:tcPr>
                </a:tc>
                <a:tc>
                  <a:txBody>
                    <a:bodyPr wrap="square"/>
                    <a:lstStyle/>
                    <a:p>
                      <a:r>
                        <a:rPr sz="1150" b="1">
                          <a:solidFill>
                            <a:srgbClr val="FFFFFF"/>
                          </a:solidFill>
                          <a:latin typeface="Calibri"/>
                        </a:rPr>
                        <a:t>Decision</a:t>
                      </a:r>
                    </a:p>
                  </a:txBody>
                  <a:tcPr marL="73152" marR="73152" marT="27432" marB="27432" anchor="ctr">
                    <a:solidFill>
                      <a:srgbClr val="14213D"/>
                    </a:solidFill>
                  </a:tcPr>
                </a:tc>
              </a:tr>
              <a:tr h="411480">
                <a:tc>
                  <a:txBody>
                    <a:bodyPr wrap="square"/>
                    <a:lstStyle/>
                    <a:p>
                      <a:r>
                        <a:rPr sz="1150" b="1">
                          <a:solidFill>
                            <a:srgbClr val="1F2937"/>
                          </a:solidFill>
                          <a:latin typeface="Calibri"/>
                        </a:rPr>
                        <a:t>Batch scoring (current)</a:t>
                      </a:r>
                    </a:p>
                  </a:txBody>
                  <a:tcPr marL="73152" marR="73152" marT="27432" marB="27432" anchor="ctr">
                    <a:solidFill>
                      <a:srgbClr val="FFFFFF"/>
                    </a:solidFill>
                  </a:tcPr>
                </a:tc>
                <a:tc>
                  <a:txBody>
                    <a:bodyPr wrap="square"/>
                    <a:lstStyle/>
                    <a:p>
                      <a:r>
                        <a:rPr sz="1150" b="0">
                          <a:solidFill>
                            <a:srgbClr val="1F2937"/>
                          </a:solidFill>
                          <a:latin typeface="Calibri"/>
                        </a:rPr>
                        <a:t>decision can wait a day; features from snapshots</a:t>
                      </a:r>
                    </a:p>
                  </a:txBody>
                  <a:tcPr marL="73152" marR="73152" marT="27432" marB="27432" anchor="ctr">
                    <a:solidFill>
                      <a:srgbClr val="FFFFFF"/>
                    </a:solidFill>
                  </a:tcPr>
                </a:tc>
                <a:tc>
                  <a:txBody>
                    <a:bodyPr wrap="square"/>
                    <a:lstStyle/>
                    <a:p>
                      <a:r>
                        <a:rPr sz="1150" b="0">
                          <a:solidFill>
                            <a:srgbClr val="1F2937"/>
                          </a:solidFill>
                          <a:latin typeface="Calibri"/>
                        </a:rPr>
                        <a:t>Recommended — move monthly → daily</a:t>
                      </a:r>
                    </a:p>
                  </a:txBody>
                  <a:tcPr marL="73152" marR="73152" marT="27432" marB="27432" anchor="ctr">
                    <a:solidFill>
                      <a:srgbClr val="FFFFFF"/>
                    </a:solidFill>
                  </a:tcPr>
                </a:tc>
              </a:tr>
              <a:tr h="411480">
                <a:tc>
                  <a:txBody>
                    <a:bodyPr wrap="square"/>
                    <a:lstStyle/>
                    <a:p>
                      <a:r>
                        <a:rPr sz="1150" b="1">
                          <a:solidFill>
                            <a:srgbClr val="1F2937"/>
                          </a:solidFill>
                          <a:latin typeface="Calibri"/>
                        </a:rPr>
                        <a:t>Real-time API (mlflow serve / FastAPI)</a:t>
                      </a:r>
                    </a:p>
                  </a:txBody>
                  <a:tcPr marL="73152" marR="73152" marT="27432" marB="27432" anchor="ctr">
                    <a:solidFill>
                      <a:srgbClr val="F6F8FB"/>
                    </a:solidFill>
                  </a:tcPr>
                </a:tc>
                <a:tc>
                  <a:txBody>
                    <a:bodyPr wrap="square"/>
                    <a:lstStyle/>
                    <a:p>
                      <a:r>
                        <a:rPr sz="1150" b="0">
                          <a:solidFill>
                            <a:srgbClr val="1F2937"/>
                          </a:solidFill>
                          <a:latin typeface="Calibri"/>
                        </a:rPr>
                        <a:t>instant decision at application</a:t>
                      </a:r>
                    </a:p>
                  </a:txBody>
                  <a:tcPr marL="73152" marR="73152" marT="27432" marB="27432" anchor="ctr">
                    <a:solidFill>
                      <a:srgbClr val="F6F8FB"/>
                    </a:solidFill>
                  </a:tcPr>
                </a:tc>
                <a:tc>
                  <a:txBody>
                    <a:bodyPr wrap="square"/>
                    <a:lstStyle/>
                    <a:p>
                      <a:r>
                        <a:rPr sz="1150" b="0">
                          <a:solidFill>
                            <a:srgbClr val="1F2937"/>
                          </a:solidFill>
                          <a:latin typeface="Calibri"/>
                        </a:rPr>
                        <a:t>Later: needs online features + uptime</a:t>
                      </a:r>
                    </a:p>
                  </a:txBody>
                  <a:tcPr marL="73152" marR="73152" marT="27432" marB="27432" anchor="ctr">
                    <a:solidFill>
                      <a:srgbClr val="F6F8FB"/>
                    </a:solidFill>
                  </a:tcPr>
                </a:tc>
              </a:tr>
              <a:tr h="411480">
                <a:tc>
                  <a:txBody>
                    <a:bodyPr wrap="square"/>
                    <a:lstStyle/>
                    <a:p>
                      <a:r>
                        <a:rPr sz="1150" b="1">
                          <a:solidFill>
                            <a:srgbClr val="1F2937"/>
                          </a:solidFill>
                          <a:latin typeface="Calibri"/>
                        </a:rPr>
                        <a:t>Streaming</a:t>
                      </a:r>
                    </a:p>
                  </a:txBody>
                  <a:tcPr marL="73152" marR="73152" marT="27432" marB="27432" anchor="ctr">
                    <a:solidFill>
                      <a:srgbClr val="FFFFFF"/>
                    </a:solidFill>
                  </a:tcPr>
                </a:tc>
                <a:tc>
                  <a:txBody>
                    <a:bodyPr wrap="square"/>
                    <a:lstStyle/>
                    <a:p>
                      <a:r>
                        <a:rPr sz="1150" b="0">
                          <a:solidFill>
                            <a:srgbClr val="1F2937"/>
                          </a:solidFill>
                          <a:latin typeface="Calibri"/>
                        </a:rPr>
                        <a:t>continuous events, decision per event</a:t>
                      </a:r>
                    </a:p>
                  </a:txBody>
                  <a:tcPr marL="73152" marR="73152" marT="27432" marB="27432" anchor="ctr">
                    <a:solidFill>
                      <a:srgbClr val="FFFFFF"/>
                    </a:solidFill>
                  </a:tcPr>
                </a:tc>
                <a:tc>
                  <a:txBody>
                    <a:bodyPr wrap="square"/>
                    <a:lstStyle/>
                    <a:p>
                      <a:r>
                        <a:rPr sz="1150" b="0">
                          <a:solidFill>
                            <a:srgbClr val="1F2937"/>
                          </a:solidFill>
                          <a:latin typeface="Calibri"/>
                        </a:rPr>
                        <a:t>Not needed: one decision per loan</a:t>
                      </a:r>
                    </a:p>
                  </a:txBody>
                  <a:tcPr marL="73152" marR="73152" marT="27432" marB="27432" anchor="ctr">
                    <a:solidFill>
                      <a:srgbClr val="FFFFFF"/>
                    </a:solidFill>
                  </a:tcPr>
                </a:tc>
              </a:tr>
              <a:tr h="411480">
                <a:tc>
                  <a:txBody>
                    <a:bodyPr wrap="square"/>
                    <a:lstStyle/>
                    <a:p>
                      <a:r>
                        <a:rPr sz="1150" b="1">
                          <a:solidFill>
                            <a:srgbClr val="1F2937"/>
                          </a:solidFill>
                          <a:latin typeface="Calibri"/>
                        </a:rPr>
                        <a:t>Embedded / in-database</a:t>
                      </a:r>
                    </a:p>
                  </a:txBody>
                  <a:tcPr marL="73152" marR="73152" marT="27432" marB="27432" anchor="ctr">
                    <a:solidFill>
                      <a:srgbClr val="F6F8FB"/>
                    </a:solidFill>
                  </a:tcPr>
                </a:tc>
                <a:tc>
                  <a:txBody>
                    <a:bodyPr wrap="square"/>
                    <a:lstStyle/>
                    <a:p>
                      <a:r>
                        <a:rPr sz="1150" b="0">
                          <a:solidFill>
                            <a:srgbClr val="1F2937"/>
                          </a:solidFill>
                          <a:latin typeface="Calibri"/>
                        </a:rPr>
                        <a:t>scoring must live in another system</a:t>
                      </a:r>
                    </a:p>
                  </a:txBody>
                  <a:tcPr marL="73152" marR="73152" marT="27432" marB="27432" anchor="ctr">
                    <a:solidFill>
                      <a:srgbClr val="F6F8FB"/>
                    </a:solidFill>
                  </a:tcPr>
                </a:tc>
                <a:tc>
                  <a:txBody>
                    <a:bodyPr wrap="square"/>
                    <a:lstStyle/>
                    <a:p>
                      <a:r>
                        <a:rPr sz="1150" b="0">
                          <a:solidFill>
                            <a:srgbClr val="1F2937"/>
                          </a:solidFill>
                          <a:latin typeface="Calibri"/>
                        </a:rPr>
                        <a:t>Not needed: extra conversion per version</a:t>
                      </a:r>
                    </a:p>
                  </a:txBody>
                  <a:tcPr marL="73152" marR="73152" marT="27432" marB="27432" anchor="ctr">
                    <a:solidFill>
                      <a:srgbClr val="F6F8FB"/>
                    </a:solidFill>
                  </a:tcPr>
                </a:tc>
              </a:tr>
            </a:tbl>
          </a:graphicData>
        </a:graphic>
      </p:graphicFrame>
      <p:sp>
        <p:nvSpPr>
          <p:cNvPr id="8" name="TextBox 7"/>
          <p:cNvSpPr txBox="1"/>
          <p:nvPr/>
        </p:nvSpPr>
        <p:spPr>
          <a:xfrm>
            <a:off x="548640" y="5074920"/>
            <a:ext cx="11064240" cy="1188720"/>
          </a:xfrm>
          <a:prstGeom prst="rect">
            <a:avLst/>
          </a:prstGeom>
          <a:noFill/>
        </p:spPr>
        <p:txBody>
          <a:bodyPr wrap="square" anchor="t" lIns="36576" rIns="36576" tIns="18288" bIns="18288">
            <a:spAutoFit/>
          </a:bodyPr>
          <a:lstStyle/>
          <a:p>
            <a:pPr algn="l"/>
            <a:r>
              <a:rPr sz="1300" b="1" i="0">
                <a:solidFill>
                  <a:srgbClr val="1F2937"/>
                </a:solidFill>
                <a:latin typeface="Calibri"/>
              </a:rPr>
              <a:t>Rollback = move the alias back. </a:t>
            </a:r>
            <a:r>
              <a:rPr sz="1300" b="0" i="0">
                <a:solidFill>
                  <a:srgbClr val="1F2937"/>
                </a:solidFill>
                <a:latin typeface="Calibri"/>
              </a:rPr>
              <a:t>Rehearsed on the real registry: @champion moved v1 → v3, scoring switched immediately; moved back, the original predictions were restored exactly. Every move is logged in governance_log.csv.</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Orchestration: three Airflow DAGs</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37</a:t>
            </a:r>
          </a:p>
        </p:txBody>
      </p:sp>
      <p:sp>
        <p:nvSpPr>
          <p:cNvPr id="5" name="Rounded Rectangle 4"/>
          <p:cNvSpPr/>
          <p:nvPr/>
        </p:nvSpPr>
        <p:spPr>
          <a:xfrm>
            <a:off x="548640" y="1280160"/>
            <a:ext cx="237744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53312"/>
            <a:ext cx="2194560" cy="365760"/>
          </a:xfrm>
          <a:prstGeom prst="rect">
            <a:avLst/>
          </a:prstGeom>
          <a:noFill/>
        </p:spPr>
        <p:txBody>
          <a:bodyPr wrap="square" anchor="t" lIns="36576" rIns="36576" tIns="18288" bIns="18288">
            <a:spAutoFit/>
          </a:bodyPr>
          <a:lstStyle/>
          <a:p>
            <a:pPr algn="l"/>
            <a:r>
              <a:rPr sz="1300" b="1" i="0">
                <a:solidFill>
                  <a:srgbClr val="14213D"/>
                </a:solidFill>
                <a:latin typeface="Calibri"/>
              </a:rPr>
              <a:t>data_pipeline</a:t>
            </a:r>
          </a:p>
        </p:txBody>
      </p:sp>
      <p:sp>
        <p:nvSpPr>
          <p:cNvPr id="7" name="TextBox 6"/>
          <p:cNvSpPr txBox="1"/>
          <p:nvPr/>
        </p:nvSpPr>
        <p:spPr>
          <a:xfrm>
            <a:off x="658368" y="1719072"/>
            <a:ext cx="2194560" cy="685800"/>
          </a:xfrm>
          <a:prstGeom prst="rect">
            <a:avLst/>
          </a:prstGeom>
          <a:noFill/>
        </p:spPr>
        <p:txBody>
          <a:bodyPr wrap="square" anchor="t" lIns="36576" rIns="36576" tIns="18288" bIns="18288">
            <a:spAutoFit/>
          </a:bodyPr>
          <a:lstStyle/>
          <a:p>
            <a:pPr algn="l"/>
            <a:r>
              <a:rPr sz="950" b="0" i="0">
                <a:solidFill>
                  <a:srgbClr val="5B6472"/>
                </a:solidFill>
                <a:latin typeface="Calibri"/>
              </a:rPr>
              <a:t>monthly · back-fill 2023-01 → 2025-11</a:t>
            </a:r>
          </a:p>
        </p:txBody>
      </p:sp>
      <p:sp>
        <p:nvSpPr>
          <p:cNvPr id="8" name="Rounded Rectangle 7"/>
          <p:cNvSpPr/>
          <p:nvPr/>
        </p:nvSpPr>
        <p:spPr>
          <a:xfrm>
            <a:off x="3154680" y="1481328"/>
            <a:ext cx="1569110" cy="73152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Bronze</a:t>
            </a:r>
          </a:p>
        </p:txBody>
      </p:sp>
      <p:cxnSp>
        <p:nvCxnSpPr>
          <p:cNvPr id="9" name="Connector 8"/>
          <p:cNvCxnSpPr/>
          <p:nvPr/>
        </p:nvCxnSpPr>
        <p:spPr>
          <a:xfrm>
            <a:off x="4732934" y="184708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88382" y="1481328"/>
            <a:ext cx="1569110" cy="73152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Silver</a:t>
            </a:r>
          </a:p>
        </p:txBody>
      </p:sp>
      <p:cxnSp>
        <p:nvCxnSpPr>
          <p:cNvPr id="11" name="Connector 10"/>
          <p:cNvCxnSpPr/>
          <p:nvPr/>
        </p:nvCxnSpPr>
        <p:spPr>
          <a:xfrm>
            <a:off x="6466636" y="184708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22084" y="1481328"/>
            <a:ext cx="1569110" cy="73152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Gold feature store</a:t>
            </a:r>
          </a:p>
        </p:txBody>
      </p:sp>
      <p:cxnSp>
        <p:nvCxnSpPr>
          <p:cNvPr id="13" name="Connector 12"/>
          <p:cNvCxnSpPr/>
          <p:nvPr/>
        </p:nvCxnSpPr>
        <p:spPr>
          <a:xfrm>
            <a:off x="8200339" y="184708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55787" y="1481328"/>
            <a:ext cx="1569110" cy="73152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Gold label store</a:t>
            </a:r>
          </a:p>
        </p:txBody>
      </p:sp>
      <p:cxnSp>
        <p:nvCxnSpPr>
          <p:cNvPr id="15" name="Connector 14"/>
          <p:cNvCxnSpPr/>
          <p:nvPr/>
        </p:nvCxnSpPr>
        <p:spPr>
          <a:xfrm>
            <a:off x="9934041" y="184708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089489" y="1481328"/>
            <a:ext cx="1569110" cy="73152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data_ready</a:t>
            </a:r>
          </a:p>
        </p:txBody>
      </p:sp>
      <p:sp>
        <p:nvSpPr>
          <p:cNvPr id="17" name="Rounded Rectangle 16"/>
          <p:cNvSpPr/>
          <p:nvPr/>
        </p:nvSpPr>
        <p:spPr>
          <a:xfrm>
            <a:off x="548640" y="2697480"/>
            <a:ext cx="237744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770632"/>
            <a:ext cx="2194560" cy="365760"/>
          </a:xfrm>
          <a:prstGeom prst="rect">
            <a:avLst/>
          </a:prstGeom>
          <a:noFill/>
        </p:spPr>
        <p:txBody>
          <a:bodyPr wrap="square" anchor="t" lIns="36576" rIns="36576" tIns="18288" bIns="18288">
            <a:spAutoFit/>
          </a:bodyPr>
          <a:lstStyle/>
          <a:p>
            <a:pPr algn="l"/>
            <a:r>
              <a:rPr sz="1300" b="1" i="0">
                <a:solidFill>
                  <a:srgbClr val="14213D"/>
                </a:solidFill>
                <a:latin typeface="Calibri"/>
              </a:rPr>
              <a:t>model_training</a:t>
            </a:r>
          </a:p>
        </p:txBody>
      </p:sp>
      <p:sp>
        <p:nvSpPr>
          <p:cNvPr id="19" name="TextBox 18"/>
          <p:cNvSpPr txBox="1"/>
          <p:nvPr/>
        </p:nvSpPr>
        <p:spPr>
          <a:xfrm>
            <a:off x="658368" y="3136392"/>
            <a:ext cx="2194560" cy="685800"/>
          </a:xfrm>
          <a:prstGeom prst="rect">
            <a:avLst/>
          </a:prstGeom>
          <a:noFill/>
        </p:spPr>
        <p:txBody>
          <a:bodyPr wrap="square" anchor="t" lIns="36576" rIns="36576" tIns="18288" bIns="18288">
            <a:spAutoFit/>
          </a:bodyPr>
          <a:lstStyle/>
          <a:p>
            <a:pPr algn="l"/>
            <a:r>
              <a:rPr sz="950" b="0" i="0">
                <a:solidFill>
                  <a:srgbClr val="5B6472"/>
                </a:solidFill>
                <a:latin typeface="Calibri"/>
              </a:rPr>
              <a:t>Jan / Jul (first 2025-07) or triggered</a:t>
            </a:r>
          </a:p>
        </p:txBody>
      </p:sp>
      <p:sp>
        <p:nvSpPr>
          <p:cNvPr id="20" name="Rounded Rectangle 19"/>
          <p:cNvSpPr/>
          <p:nvPr/>
        </p:nvSpPr>
        <p:spPr>
          <a:xfrm>
            <a:off x="3154680"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wait for data</a:t>
            </a:r>
          </a:p>
        </p:txBody>
      </p:sp>
      <p:cxnSp>
        <p:nvCxnSpPr>
          <p:cNvPr id="21" name="Connector 20"/>
          <p:cNvCxnSpPr/>
          <p:nvPr/>
        </p:nvCxnSpPr>
        <p:spPr>
          <a:xfrm>
            <a:off x="4082796" y="326440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38244"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full data validation</a:t>
            </a:r>
          </a:p>
        </p:txBody>
      </p:sp>
      <p:cxnSp>
        <p:nvCxnSpPr>
          <p:cNvPr id="23" name="Connector 22"/>
          <p:cNvCxnSpPr/>
          <p:nvPr/>
        </p:nvCxnSpPr>
        <p:spPr>
          <a:xfrm>
            <a:off x="5166359" y="3264408"/>
            <a:ext cx="146305"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321808"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split</a:t>
            </a:r>
          </a:p>
        </p:txBody>
      </p:sp>
      <p:cxnSp>
        <p:nvCxnSpPr>
          <p:cNvPr id="25" name="Connector 24"/>
          <p:cNvCxnSpPr/>
          <p:nvPr/>
        </p:nvCxnSpPr>
        <p:spPr>
          <a:xfrm>
            <a:off x="6249924" y="326440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05372"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Gold EDA</a:t>
            </a:r>
          </a:p>
        </p:txBody>
      </p:sp>
      <p:cxnSp>
        <p:nvCxnSpPr>
          <p:cNvPr id="27" name="Connector 26"/>
          <p:cNvCxnSpPr/>
          <p:nvPr/>
        </p:nvCxnSpPr>
        <p:spPr>
          <a:xfrm>
            <a:off x="7333488" y="326440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488936"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feature engineering</a:t>
            </a:r>
          </a:p>
        </p:txBody>
      </p:sp>
      <p:cxnSp>
        <p:nvCxnSpPr>
          <p:cNvPr id="29" name="Connector 28"/>
          <p:cNvCxnSpPr/>
          <p:nvPr/>
        </p:nvCxnSpPr>
        <p:spPr>
          <a:xfrm>
            <a:off x="8417052" y="326440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72500"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model development</a:t>
            </a:r>
          </a:p>
        </p:txBody>
      </p:sp>
      <p:cxnSp>
        <p:nvCxnSpPr>
          <p:cNvPr id="31" name="Connector 30"/>
          <p:cNvCxnSpPr/>
          <p:nvPr/>
        </p:nvCxnSpPr>
        <p:spPr>
          <a:xfrm>
            <a:off x="9500616" y="326440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656064"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register</a:t>
            </a:r>
          </a:p>
        </p:txBody>
      </p:sp>
      <p:cxnSp>
        <p:nvCxnSpPr>
          <p:cNvPr id="33" name="Connector 32"/>
          <p:cNvCxnSpPr/>
          <p:nvPr/>
        </p:nvCxnSpPr>
        <p:spPr>
          <a:xfrm>
            <a:off x="10584180" y="326440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739628" y="2898648"/>
            <a:ext cx="918972" cy="73152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monitoring reference</a:t>
            </a:r>
          </a:p>
        </p:txBody>
      </p:sp>
      <p:sp>
        <p:nvSpPr>
          <p:cNvPr id="35" name="Rounded Rectangle 34"/>
          <p:cNvSpPr/>
          <p:nvPr/>
        </p:nvSpPr>
        <p:spPr>
          <a:xfrm>
            <a:off x="548640" y="4114800"/>
            <a:ext cx="2377440" cy="114300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4187952"/>
            <a:ext cx="2194560" cy="365760"/>
          </a:xfrm>
          <a:prstGeom prst="rect">
            <a:avLst/>
          </a:prstGeom>
          <a:noFill/>
        </p:spPr>
        <p:txBody>
          <a:bodyPr wrap="square" anchor="t" lIns="36576" rIns="36576" tIns="18288" bIns="18288">
            <a:spAutoFit/>
          </a:bodyPr>
          <a:lstStyle/>
          <a:p>
            <a:pPr algn="l"/>
            <a:r>
              <a:rPr sz="1300" b="1" i="0">
                <a:solidFill>
                  <a:srgbClr val="14213D"/>
                </a:solidFill>
                <a:latin typeface="Calibri"/>
              </a:rPr>
              <a:t>inference</a:t>
            </a:r>
          </a:p>
        </p:txBody>
      </p:sp>
      <p:sp>
        <p:nvSpPr>
          <p:cNvPr id="37" name="TextBox 36"/>
          <p:cNvSpPr txBox="1"/>
          <p:nvPr/>
        </p:nvSpPr>
        <p:spPr>
          <a:xfrm>
            <a:off x="658368" y="4553712"/>
            <a:ext cx="2194560" cy="685800"/>
          </a:xfrm>
          <a:prstGeom prst="rect">
            <a:avLst/>
          </a:prstGeom>
          <a:noFill/>
        </p:spPr>
        <p:txBody>
          <a:bodyPr wrap="square" anchor="t" lIns="36576" rIns="36576" tIns="18288" bIns="18288">
            <a:spAutoFit/>
          </a:bodyPr>
          <a:lstStyle/>
          <a:p>
            <a:pPr algn="l"/>
            <a:r>
              <a:rPr sz="950" b="0" i="0">
                <a:solidFill>
                  <a:srgbClr val="5B6472"/>
                </a:solidFill>
                <a:latin typeface="Calibri"/>
              </a:rPr>
              <a:t>monthly · back-fill 2024-07 → 2025-07</a:t>
            </a:r>
          </a:p>
        </p:txBody>
      </p:sp>
      <p:sp>
        <p:nvSpPr>
          <p:cNvPr id="38" name="Rounded Rectangle 37"/>
          <p:cNvSpPr/>
          <p:nvPr/>
        </p:nvSpPr>
        <p:spPr>
          <a:xfrm>
            <a:off x="3154680" y="4315968"/>
            <a:ext cx="1569110" cy="731520"/>
          </a:xfrm>
          <a:prstGeom prst="round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wait for data + @champion</a:t>
            </a:r>
          </a:p>
        </p:txBody>
      </p:sp>
      <p:cxnSp>
        <p:nvCxnSpPr>
          <p:cNvPr id="39" name="Connector 38"/>
          <p:cNvCxnSpPr/>
          <p:nvPr/>
        </p:nvCxnSpPr>
        <p:spPr>
          <a:xfrm>
            <a:off x="4732934" y="468172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888382" y="4315968"/>
            <a:ext cx="1569110" cy="731520"/>
          </a:xfrm>
          <a:prstGeom prst="round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score new loans</a:t>
            </a:r>
          </a:p>
        </p:txBody>
      </p:sp>
      <p:cxnSp>
        <p:nvCxnSpPr>
          <p:cNvPr id="41" name="Connector 40"/>
          <p:cNvCxnSpPr/>
          <p:nvPr/>
        </p:nvCxnSpPr>
        <p:spPr>
          <a:xfrm>
            <a:off x="6466636" y="468172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622084" y="4315968"/>
            <a:ext cx="1569110" cy="731520"/>
          </a:xfrm>
          <a:prstGeom prst="round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monitor</a:t>
            </a:r>
          </a:p>
        </p:txBody>
      </p:sp>
      <p:cxnSp>
        <p:nvCxnSpPr>
          <p:cNvPr id="43" name="Connector 42"/>
          <p:cNvCxnSpPr/>
          <p:nvPr/>
        </p:nvCxnSpPr>
        <p:spPr>
          <a:xfrm>
            <a:off x="8200339" y="468172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355787" y="4315968"/>
            <a:ext cx="1569110" cy="731520"/>
          </a:xfrm>
          <a:prstGeom prst="round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governance check</a:t>
            </a:r>
          </a:p>
        </p:txBody>
      </p:sp>
      <p:cxnSp>
        <p:nvCxnSpPr>
          <p:cNvPr id="45" name="Connector 44"/>
          <p:cNvCxnSpPr/>
          <p:nvPr/>
        </p:nvCxnSpPr>
        <p:spPr>
          <a:xfrm>
            <a:off x="9934041" y="4681728"/>
            <a:ext cx="146304" cy="0"/>
          </a:xfrm>
          <a:prstGeom prst="line">
            <a:avLst/>
          </a:prstGeom>
          <a:ln w="25400">
            <a:solidFill>
              <a:srgbClr val="5B6472"/>
            </a:solidFill>
            <a:tailEnd type="triangle"/>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0089489" y="4315968"/>
            <a:ext cx="1569110" cy="731520"/>
          </a:xfrm>
          <a:prstGeom prst="round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r>
              <a:rPr sz="950" b="1">
                <a:solidFill>
                  <a:srgbClr val="FFFFFF"/>
                </a:solidFill>
                <a:latin typeface="Calibri"/>
              </a:rPr>
              <a:t>trigger training if rules fire</a:t>
            </a:r>
          </a:p>
        </p:txBody>
      </p:sp>
      <p:sp>
        <p:nvSpPr>
          <p:cNvPr id="47" name="TextBox 46"/>
          <p:cNvSpPr txBox="1"/>
          <p:nvPr/>
        </p:nvSpPr>
        <p:spPr>
          <a:xfrm>
            <a:off x="548640" y="5486400"/>
            <a:ext cx="11064240" cy="868680"/>
          </a:xfrm>
          <a:prstGeom prst="rect">
            <a:avLst/>
          </a:prstGeom>
          <a:noFill/>
        </p:spPr>
        <p:txBody>
          <a:bodyPr wrap="square" lIns="36576" rIns="36576">
            <a:spAutoFit/>
          </a:bodyPr>
          <a:lstStyle/>
          <a:p>
            <a:pPr marL="201168" indent="-182880">
              <a:spcAft>
                <a:spcPts val="800"/>
              </a:spcAft>
              <a:buFont typeface="Arial"/>
              <a:buChar char="•"/>
            </a:pPr>
            <a:r>
              <a:rPr sz="1250" b="1">
                <a:solidFill>
                  <a:srgbClr val="1F2937"/>
                </a:solidFill>
                <a:latin typeface="Calibri"/>
              </a:rPr>
              <a:t>Linked by sensors: </a:t>
            </a:r>
            <a:r>
              <a:rPr sz="1250" b="0">
                <a:solidFill>
                  <a:srgbClr val="1F2937"/>
                </a:solidFill>
                <a:latin typeface="Calibri"/>
              </a:rPr>
              <a:t>training and inference wait for the month's data_ready; inference waits for @champion. Each task = python util/pipeline_monthly.py &lt;task&gt; --snapshotdate {{ ds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9692640" cy="731520"/>
          </a:xfrm>
          <a:prstGeom prst="rect">
            <a:avLst/>
          </a:prstGeom>
          <a:noFill/>
        </p:spPr>
        <p:txBody>
          <a:bodyPr wrap="square" anchor="ctr" lIns="36576" rIns="36576" tIns="18288" bIns="18288">
            <a:spAutoFit/>
          </a:bodyPr>
          <a:lstStyle/>
          <a:p>
            <a:pPr algn="l"/>
            <a:r>
              <a:rPr sz="3000" b="1" i="0">
                <a:solidFill>
                  <a:srgbClr val="14213D"/>
                </a:solidFill>
                <a:latin typeface="Cambria"/>
              </a:rPr>
              <a:t>Month by month = full build, and it runs in Docker</a:t>
            </a:r>
          </a:p>
        </p:txBody>
      </p:sp>
      <p:sp>
        <p:nvSpPr>
          <p:cNvPr id="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5B6472"/>
                </a:solidFill>
                <a:latin typeface="Calibri"/>
              </a:rPr>
              <a:t>CS611 Assignment 2 · Loan default ML pipeline · Checklist V6.6 steps 24–36</a:t>
            </a:r>
          </a:p>
        </p:txBody>
      </p:sp>
      <p:sp>
        <p:nvSpPr>
          <p:cNvPr id="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5B6472"/>
                </a:solidFill>
                <a:latin typeface="Calibri"/>
              </a:rPr>
              <a:t>38</a:t>
            </a:r>
          </a:p>
        </p:txBody>
      </p:sp>
      <p:graphicFrame>
        <p:nvGraphicFramePr>
          <p:cNvPr id="5" name="Table"/>
          <p:cNvGraphicFramePr>
            <a:graphicFrameLocks noGrp="1"/>
          </p:cNvGraphicFramePr>
          <p:nvPr/>
        </p:nvGraphicFramePr>
        <p:xfrm>
          <a:off x="548640" y="1325880"/>
          <a:ext cx="6675120" cy="2880360"/>
        </p:xfrm>
        <a:graphic>
          <a:graphicData uri="http://schemas.openxmlformats.org/drawingml/2006/table">
            <a:tbl>
              <a:tblPr firstRow="0" bandRow="0">
                <a:tableStyleId>{5940675A-B579-460E-94D1-54222C63F5DA}</a:tableStyleId>
              </a:tblPr>
              <a:tblGrid>
                <a:gridCol w="3840480"/>
                <a:gridCol w="1280160"/>
                <a:gridCol w="1554480"/>
              </a:tblGrid>
              <a:tr h="411480">
                <a:tc>
                  <a:txBody>
                    <a:bodyPr wrap="square"/>
                    <a:lstStyle/>
                    <a:p>
                      <a:r>
                        <a:rPr sz="1150" b="1">
                          <a:solidFill>
                            <a:srgbClr val="FFFFFF"/>
                          </a:solidFill>
                          <a:latin typeface="Calibri"/>
                        </a:rPr>
                        <a:t>Monthly path vs full build</a:t>
                      </a:r>
                    </a:p>
                  </a:txBody>
                  <a:tcPr marL="73152" marR="73152" marT="27432" marB="27432" anchor="ctr">
                    <a:solidFill>
                      <a:srgbClr val="14213D"/>
                    </a:solidFill>
                  </a:tcPr>
                </a:tc>
                <a:tc>
                  <a:txBody>
                    <a:bodyPr wrap="square"/>
                    <a:lstStyle/>
                    <a:p>
                      <a:r>
                        <a:rPr sz="1150" b="1">
                          <a:solidFill>
                            <a:srgbClr val="FFFFFF"/>
                          </a:solidFill>
                          <a:latin typeface="Calibri"/>
                        </a:rPr>
                        <a:t>Rows</a:t>
                      </a:r>
                    </a:p>
                  </a:txBody>
                  <a:tcPr marL="73152" marR="73152" marT="27432" marB="27432" anchor="ctr">
                    <a:solidFill>
                      <a:srgbClr val="14213D"/>
                    </a:solidFill>
                  </a:tcPr>
                </a:tc>
                <a:tc>
                  <a:txBody>
                    <a:bodyPr wrap="square"/>
                    <a:lstStyle/>
                    <a:p>
                      <a:r>
                        <a:rPr sz="1150" b="1">
                          <a:solidFill>
                            <a:srgbClr val="FFFFFF"/>
                          </a:solidFill>
                          <a:latin typeface="Calibri"/>
                        </a:rPr>
                        <a:t>Result</a:t>
                      </a:r>
                    </a:p>
                  </a:txBody>
                  <a:tcPr marL="73152" marR="73152" marT="27432" marB="27432" anchor="ctr">
                    <a:solidFill>
                      <a:srgbClr val="14213D"/>
                    </a:solidFill>
                  </a:tcPr>
                </a:tc>
              </a:tr>
              <a:tr h="411480">
                <a:tc>
                  <a:txBody>
                    <a:bodyPr wrap="square"/>
                    <a:lstStyle/>
                    <a:p>
                      <a:r>
                        <a:rPr sz="1150" b="1">
                          <a:solidFill>
                            <a:srgbClr val="1F2937"/>
                          </a:solidFill>
                          <a:latin typeface="Calibri"/>
                        </a:rPr>
                        <a:t>Bronze (4 tables, one CSV per month)</a:t>
                      </a:r>
                    </a:p>
                  </a:txBody>
                  <a:tcPr marL="73152" marR="73152" marT="27432" marB="27432" anchor="ctr">
                    <a:solidFill>
                      <a:srgbClr val="FFFFFF"/>
                    </a:solidFill>
                  </a:tcPr>
                </a:tc>
                <a:tc>
                  <a:txBody>
                    <a:bodyPr wrap="square"/>
                    <a:lstStyle/>
                    <a:p>
                      <a:r>
                        <a:rPr sz="1150" b="0">
                          <a:solidFill>
                            <a:srgbClr val="1F2937"/>
                          </a:solidFill>
                          <a:latin typeface="Calibri"/>
                        </a:rPr>
                        <a:t>377,876</a:t>
                      </a:r>
                    </a:p>
                  </a:txBody>
                  <a:tcPr marL="73152" marR="73152" marT="27432" marB="27432" anchor="ctr">
                    <a:solidFill>
                      <a:srgbClr val="FFFFFF"/>
                    </a:solidFill>
                  </a:tcPr>
                </a:tc>
                <a:tc>
                  <a:txBody>
                    <a:bodyPr wrap="square"/>
                    <a:lstStyle/>
                    <a:p>
                      <a:r>
                        <a:rPr sz="1150" b="0">
                          <a:solidFill>
                            <a:srgbClr val="1F2937"/>
                          </a:solidFill>
                          <a:latin typeface="Calibri"/>
                        </a:rPr>
                        <a:t>identical</a:t>
                      </a:r>
                    </a:p>
                  </a:txBody>
                  <a:tcPr marL="73152" marR="73152" marT="27432" marB="27432" anchor="ctr">
                    <a:solidFill>
                      <a:srgbClr val="FFFFFF"/>
                    </a:solidFill>
                  </a:tcPr>
                </a:tc>
              </a:tr>
              <a:tr h="411480">
                <a:tc>
                  <a:txBody>
                    <a:bodyPr wrap="square"/>
                    <a:lstStyle/>
                    <a:p>
                      <a:r>
                        <a:rPr sz="1150" b="1">
                          <a:solidFill>
                            <a:srgbClr val="1F2937"/>
                          </a:solidFill>
                          <a:latin typeface="Calibri"/>
                        </a:rPr>
                        <a:t>Silver (4 tables)</a:t>
                      </a:r>
                    </a:p>
                  </a:txBody>
                  <a:tcPr marL="73152" marR="73152" marT="27432" marB="27432" anchor="ctr">
                    <a:solidFill>
                      <a:srgbClr val="F6F8FB"/>
                    </a:solidFill>
                  </a:tcPr>
                </a:tc>
                <a:tc>
                  <a:txBody>
                    <a:bodyPr wrap="square"/>
                    <a:lstStyle/>
                    <a:p>
                      <a:r>
                        <a:rPr sz="1150" b="0">
                          <a:solidFill>
                            <a:srgbClr val="1F2937"/>
                          </a:solidFill>
                          <a:latin typeface="Calibri"/>
                        </a:rPr>
                        <a:t>377,876</a:t>
                      </a:r>
                    </a:p>
                  </a:txBody>
                  <a:tcPr marL="73152" marR="73152" marT="27432" marB="27432" anchor="ctr">
                    <a:solidFill>
                      <a:srgbClr val="F6F8FB"/>
                    </a:solidFill>
                  </a:tcPr>
                </a:tc>
                <a:tc>
                  <a:txBody>
                    <a:bodyPr wrap="square"/>
                    <a:lstStyle/>
                    <a:p>
                      <a:r>
                        <a:rPr sz="1150" b="0">
                          <a:solidFill>
                            <a:srgbClr val="1F2937"/>
                          </a:solidFill>
                          <a:latin typeface="Calibri"/>
                        </a:rPr>
                        <a:t>identical</a:t>
                      </a:r>
                    </a:p>
                  </a:txBody>
                  <a:tcPr marL="73152" marR="73152" marT="27432" marB="27432" anchor="ctr">
                    <a:solidFill>
                      <a:srgbClr val="F6F8FB"/>
                    </a:solidFill>
                  </a:tcPr>
                </a:tc>
              </a:tr>
              <a:tr h="411480">
                <a:tc>
                  <a:txBody>
                    <a:bodyPr wrap="square"/>
                    <a:lstStyle/>
                    <a:p>
                      <a:r>
                        <a:rPr sz="1150" b="1">
                          <a:solidFill>
                            <a:srgbClr val="1F2937"/>
                          </a:solidFill>
                          <a:latin typeface="Calibri"/>
                        </a:rPr>
                        <a:t>Gold feature store</a:t>
                      </a:r>
                    </a:p>
                  </a:txBody>
                  <a:tcPr marL="73152" marR="73152" marT="27432" marB="27432" anchor="ctr">
                    <a:solidFill>
                      <a:srgbClr val="FFFFFF"/>
                    </a:solidFill>
                  </a:tcPr>
                </a:tc>
                <a:tc>
                  <a:txBody>
                    <a:bodyPr wrap="square"/>
                    <a:lstStyle/>
                    <a:p>
                      <a:r>
                        <a:rPr sz="1150" b="0">
                          <a:solidFill>
                            <a:srgbClr val="1F2937"/>
                          </a:solidFill>
                          <a:latin typeface="Calibri"/>
                        </a:rPr>
                        <a:t>12,500</a:t>
                      </a:r>
                    </a:p>
                  </a:txBody>
                  <a:tcPr marL="73152" marR="73152" marT="27432" marB="27432" anchor="ctr">
                    <a:solidFill>
                      <a:srgbClr val="FFFFFF"/>
                    </a:solidFill>
                  </a:tcPr>
                </a:tc>
                <a:tc>
                  <a:txBody>
                    <a:bodyPr wrap="square"/>
                    <a:lstStyle/>
                    <a:p>
                      <a:r>
                        <a:rPr sz="1150" b="0">
                          <a:solidFill>
                            <a:srgbClr val="1F2937"/>
                          </a:solidFill>
                          <a:latin typeface="Calibri"/>
                        </a:rPr>
                        <a:t>identical</a:t>
                      </a:r>
                    </a:p>
                  </a:txBody>
                  <a:tcPr marL="73152" marR="73152" marT="27432" marB="27432" anchor="ctr">
                    <a:solidFill>
                      <a:srgbClr val="FFFFFF"/>
                    </a:solidFill>
                  </a:tcPr>
                </a:tc>
              </a:tr>
              <a:tr h="411480">
                <a:tc>
                  <a:txBody>
                    <a:bodyPr wrap="square"/>
                    <a:lstStyle/>
                    <a:p>
                      <a:r>
                        <a:rPr sz="1150" b="1">
                          <a:solidFill>
                            <a:srgbClr val="1F2937"/>
                          </a:solidFill>
                          <a:latin typeface="Calibri"/>
                        </a:rPr>
                        <a:t>Gold label store</a:t>
                      </a:r>
                    </a:p>
                  </a:txBody>
                  <a:tcPr marL="73152" marR="73152" marT="27432" marB="27432" anchor="ctr">
                    <a:solidFill>
                      <a:srgbClr val="F6F8FB"/>
                    </a:solidFill>
                  </a:tcPr>
                </a:tc>
                <a:tc>
                  <a:txBody>
                    <a:bodyPr wrap="square"/>
                    <a:lstStyle/>
                    <a:p>
                      <a:r>
                        <a:rPr sz="1150" b="0">
                          <a:solidFill>
                            <a:srgbClr val="1F2937"/>
                          </a:solidFill>
                          <a:latin typeface="Calibri"/>
                        </a:rPr>
                        <a:t>12,500</a:t>
                      </a:r>
                    </a:p>
                  </a:txBody>
                  <a:tcPr marL="73152" marR="73152" marT="27432" marB="27432" anchor="ctr">
                    <a:solidFill>
                      <a:srgbClr val="F6F8FB"/>
                    </a:solidFill>
                  </a:tcPr>
                </a:tc>
                <a:tc>
                  <a:txBody>
                    <a:bodyPr wrap="square"/>
                    <a:lstStyle/>
                    <a:p>
                      <a:r>
                        <a:rPr sz="1150" b="0">
                          <a:solidFill>
                            <a:srgbClr val="1F2937"/>
                          </a:solidFill>
                          <a:latin typeface="Calibri"/>
                        </a:rPr>
                        <a:t>identical</a:t>
                      </a:r>
                    </a:p>
                  </a:txBody>
                  <a:tcPr marL="73152" marR="73152" marT="27432" marB="27432" anchor="ctr">
                    <a:solidFill>
                      <a:srgbClr val="F6F8FB"/>
                    </a:solidFill>
                  </a:tcPr>
                </a:tc>
              </a:tr>
              <a:tr h="411480">
                <a:tc>
                  <a:txBody>
                    <a:bodyPr wrap="square"/>
                    <a:lstStyle/>
                    <a:p>
                      <a:r>
                        <a:rPr sz="1150" b="1">
                          <a:solidFill>
                            <a:srgbClr val="1F2937"/>
                          </a:solidFill>
                          <a:latin typeface="Calibri"/>
                        </a:rPr>
                        <a:t>Predictions, 7 months (vs step 34)</a:t>
                      </a:r>
                    </a:p>
                  </a:txBody>
                  <a:tcPr marL="73152" marR="73152" marT="27432" marB="27432" anchor="ctr">
                    <a:solidFill>
                      <a:srgbClr val="FFFFFF"/>
                    </a:solidFill>
                  </a:tcPr>
                </a:tc>
                <a:tc>
                  <a:txBody>
                    <a:bodyPr wrap="square"/>
                    <a:lstStyle/>
                    <a:p>
                      <a:r>
                        <a:rPr sz="1150" b="0">
                          <a:solidFill>
                            <a:srgbClr val="1F2937"/>
                          </a:solidFill>
                          <a:latin typeface="Calibri"/>
                        </a:rPr>
                        <a:t>3,526</a:t>
                      </a:r>
                    </a:p>
                  </a:txBody>
                  <a:tcPr marL="73152" marR="73152" marT="27432" marB="27432" anchor="ctr">
                    <a:solidFill>
                      <a:srgbClr val="FFFFFF"/>
                    </a:solidFill>
                  </a:tcPr>
                </a:tc>
                <a:tc>
                  <a:txBody>
                    <a:bodyPr wrap="square"/>
                    <a:lstStyle/>
                    <a:p>
                      <a:r>
                        <a:rPr sz="1150" b="0">
                          <a:solidFill>
                            <a:srgbClr val="1F2937"/>
                          </a:solidFill>
                          <a:latin typeface="Calibri"/>
                        </a:rPr>
                        <a:t>identical</a:t>
                      </a:r>
                    </a:p>
                  </a:txBody>
                  <a:tcPr marL="73152" marR="73152" marT="27432" marB="27432" anchor="ctr">
                    <a:solidFill>
                      <a:srgbClr val="FFFFFF"/>
                    </a:solidFill>
                  </a:tcPr>
                </a:tc>
              </a:tr>
              <a:tr h="411480">
                <a:tc>
                  <a:txBody>
                    <a:bodyPr wrap="square"/>
                    <a:lstStyle/>
                    <a:p>
                      <a:r>
                        <a:rPr sz="1150" b="1">
                          <a:solidFill>
                            <a:srgbClr val="1F2937"/>
                          </a:solidFill>
                          <a:latin typeface="Calibri"/>
                        </a:rPr>
                        <a:t>Drift, performance, alerts (vs step 35)</a:t>
                      </a:r>
                    </a:p>
                  </a:txBody>
                  <a:tcPr marL="73152" marR="73152" marT="27432" marB="27432" anchor="ctr">
                    <a:solidFill>
                      <a:srgbClr val="F6F8FB"/>
                    </a:solidFill>
                  </a:tcPr>
                </a:tc>
                <a:tc>
                  <a:txBody>
                    <a:bodyPr wrap="square"/>
                    <a:lstStyle/>
                    <a:p>
                      <a:r>
                        <a:rPr sz="1150" b="0">
                          <a:solidFill>
                            <a:srgbClr val="1F2937"/>
                          </a:solidFill>
                          <a:latin typeface="Calibri"/>
                        </a:rPr>
                        <a:t>13 months</a:t>
                      </a:r>
                    </a:p>
                  </a:txBody>
                  <a:tcPr marL="73152" marR="73152" marT="27432" marB="27432" anchor="ctr">
                    <a:solidFill>
                      <a:srgbClr val="F6F8FB"/>
                    </a:solidFill>
                  </a:tcPr>
                </a:tc>
                <a:tc>
                  <a:txBody>
                    <a:bodyPr wrap="square"/>
                    <a:lstStyle/>
                    <a:p>
                      <a:r>
                        <a:rPr sz="1150" b="0">
                          <a:solidFill>
                            <a:srgbClr val="1F2937"/>
                          </a:solidFill>
                          <a:latin typeface="Calibri"/>
                        </a:rPr>
                        <a:t>identical</a:t>
                      </a:r>
                    </a:p>
                  </a:txBody>
                  <a:tcPr marL="73152" marR="73152" marT="27432" marB="27432" anchor="ctr">
                    <a:solidFill>
                      <a:srgbClr val="F6F8FB"/>
                    </a:solidFill>
                  </a:tcPr>
                </a:tc>
              </a:tr>
            </a:tbl>
          </a:graphicData>
        </a:graphic>
      </p:graphicFrame>
      <p:sp>
        <p:nvSpPr>
          <p:cNvPr id="6" name="TextBox 5"/>
          <p:cNvSpPr txBox="1"/>
          <p:nvPr/>
        </p:nvSpPr>
        <p:spPr>
          <a:xfrm>
            <a:off x="548640" y="4343400"/>
            <a:ext cx="6675120" cy="365760"/>
          </a:xfrm>
          <a:prstGeom prst="rect">
            <a:avLst/>
          </a:prstGeom>
          <a:noFill/>
        </p:spPr>
        <p:txBody>
          <a:bodyPr wrap="square" anchor="t" lIns="36576" rIns="36576" tIns="18288" bIns="18288">
            <a:spAutoFit/>
          </a:bodyPr>
          <a:lstStyle/>
          <a:p>
            <a:pPr algn="l"/>
            <a:r>
              <a:rPr sz="1100" b="0" i="1">
                <a:solidFill>
                  <a:srgbClr val="5B6472"/>
                </a:solidFill>
                <a:latin typeface="Calibri"/>
              </a:rPr>
              <a:t>Verified in notebooks/pipeline_monthly.ipynb (140 monthly tasks, isolated copy).</a:t>
            </a:r>
          </a:p>
        </p:txBody>
      </p:sp>
      <p:sp>
        <p:nvSpPr>
          <p:cNvPr id="7" name="Rounded Rectangle 6"/>
          <p:cNvSpPr/>
          <p:nvPr/>
        </p:nvSpPr>
        <p:spPr>
          <a:xfrm>
            <a:off x="7498079" y="1325880"/>
            <a:ext cx="4160520" cy="32461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0" y="1417320"/>
            <a:ext cx="3886200" cy="365760"/>
          </a:xfrm>
          <a:prstGeom prst="rect">
            <a:avLst/>
          </a:prstGeom>
          <a:noFill/>
        </p:spPr>
        <p:txBody>
          <a:bodyPr wrap="square" anchor="t" lIns="36576" rIns="36576" tIns="18288" bIns="18288">
            <a:spAutoFit/>
          </a:bodyPr>
          <a:lstStyle/>
          <a:p>
            <a:pPr algn="l"/>
            <a:r>
              <a:rPr sz="1400" b="1" i="0">
                <a:solidFill>
                  <a:srgbClr val="14213D"/>
                </a:solidFill>
                <a:latin typeface="Calibri"/>
              </a:rPr>
              <a:t>Docker setup</a:t>
            </a:r>
          </a:p>
        </p:txBody>
      </p:sp>
      <p:sp>
        <p:nvSpPr>
          <p:cNvPr id="9" name="TextBox 8"/>
          <p:cNvSpPr txBox="1"/>
          <p:nvPr/>
        </p:nvSpPr>
        <p:spPr>
          <a:xfrm>
            <a:off x="7635240" y="1783080"/>
            <a:ext cx="3886200" cy="2743200"/>
          </a:xfrm>
          <a:prstGeom prst="rect">
            <a:avLst/>
          </a:prstGeom>
          <a:noFill/>
        </p:spPr>
        <p:txBody>
          <a:bodyPr wrap="square" anchor="t" lIns="36576" rIns="36576" tIns="18288" bIns="18288">
            <a:spAutoFit/>
          </a:bodyPr>
          <a:lstStyle/>
          <a:p>
            <a:pPr algn="l"/>
            <a:r>
              <a:rPr sz="1150" b="0" i="0">
                <a:solidFill>
                  <a:srgbClr val="1F2937"/>
                </a:solidFill>
                <a:latin typeface="Calibri"/>
              </a:rPr>
              <a:t>• Jupyter image + Airflow 2.10 image (webserver, scheduler)
• Pipeline in its own Python environment inside the Airflow image — Airflow's libraries never clash with ours
• Fixes found by clean runs from raw data: Spark memory 4 GB, 4 cores, OpenMP library, kernel registration</a:t>
            </a:r>
          </a:p>
        </p:txBody>
      </p:sp>
      <p:sp>
        <p:nvSpPr>
          <p:cNvPr id="10" name="Rounded Rectangle 9"/>
          <p:cNvSpPr/>
          <p:nvPr/>
        </p:nvSpPr>
        <p:spPr>
          <a:xfrm>
            <a:off x="7498079" y="4754880"/>
            <a:ext cx="4160520" cy="1554480"/>
          </a:xfrm>
          <a:prstGeom prst="roundRect">
            <a:avLst>
              <a:gd name="adj" fmla="val 6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4846320"/>
            <a:ext cx="3886200" cy="365760"/>
          </a:xfrm>
          <a:prstGeom prst="rect">
            <a:avLst/>
          </a:prstGeom>
          <a:noFill/>
        </p:spPr>
        <p:txBody>
          <a:bodyPr wrap="square" anchor="t" lIns="36576" rIns="36576" tIns="18288" bIns="18288">
            <a:spAutoFit/>
          </a:bodyPr>
          <a:lstStyle/>
          <a:p>
            <a:pPr algn="l"/>
            <a:r>
              <a:rPr sz="1400" b="1" i="0">
                <a:solidFill>
                  <a:srgbClr val="14213D"/>
                </a:solidFill>
                <a:latin typeface="Calibri"/>
              </a:rPr>
              <a:t>Cross-platform note</a:t>
            </a:r>
          </a:p>
        </p:txBody>
      </p:sp>
      <p:sp>
        <p:nvSpPr>
          <p:cNvPr id="12" name="TextBox 11"/>
          <p:cNvSpPr txBox="1"/>
          <p:nvPr/>
        </p:nvSpPr>
        <p:spPr>
          <a:xfrm>
            <a:off x="7635240" y="5212080"/>
            <a:ext cx="3886200" cy="1051560"/>
          </a:xfrm>
          <a:prstGeom prst="rect">
            <a:avLst/>
          </a:prstGeom>
          <a:noFill/>
        </p:spPr>
        <p:txBody>
          <a:bodyPr wrap="square" anchor="t" lIns="36576" rIns="36576" tIns="18288" bIns="18288">
            <a:spAutoFit/>
          </a:bodyPr>
          <a:lstStyle/>
          <a:p>
            <a:pPr algn="l"/>
            <a:r>
              <a:rPr sz="1150" b="0" i="0">
                <a:solidFill>
                  <a:srgbClr val="1F2937"/>
                </a:solidFill>
                <a:latin typeface="Calibri"/>
              </a:rPr>
              <a:t>Linux vs Windows: data identical; XGBoost scores differ ≤ 0.005; same decisions.</a:t>
            </a:r>
          </a:p>
        </p:txBody>
      </p:sp>
      <p:sp>
        <p:nvSpPr>
          <p:cNvPr id="13" name="TextBox 12"/>
          <p:cNvSpPr txBox="1"/>
          <p:nvPr/>
        </p:nvSpPr>
        <p:spPr>
          <a:xfrm>
            <a:off x="548640" y="4800600"/>
            <a:ext cx="6675120" cy="1463040"/>
          </a:xfrm>
          <a:prstGeom prst="rect">
            <a:avLst/>
          </a:prstGeom>
          <a:noFill/>
        </p:spPr>
        <p:txBody>
          <a:bodyPr wrap="square" lIns="36576" rIns="36576">
            <a:spAutoFit/>
          </a:bodyPr>
          <a:lstStyle/>
          <a:p>
            <a:pPr marL="201168" indent="-182880">
              <a:spcAft>
                <a:spcPts val="800"/>
              </a:spcAft>
              <a:buFont typeface="Arial"/>
              <a:buChar char="•"/>
            </a:pPr>
            <a:r>
              <a:rPr sz="1250" b="1">
                <a:solidFill>
                  <a:srgbClr val="1F2937"/>
                </a:solidFill>
                <a:latin typeface="Calibri"/>
              </a:rPr>
              <a:t>Training starts with a full-history validation </a:t>
            </a:r>
            <a:r>
              <a:rPr sz="1250" b="0">
                <a:solidFill>
                  <a:srgbClr val="1F2937"/>
                </a:solidFill>
                <a:latin typeface="Calibri"/>
              </a:rPr>
              <a:t>(cross-table and ledger rules, audit, Gold acceptance) — the checks a single month cannot do.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640080"/>
            <a:ext cx="10515600" cy="731520"/>
          </a:xfrm>
          <a:prstGeom prst="rect">
            <a:avLst/>
          </a:prstGeom>
          <a:noFill/>
        </p:spPr>
        <p:txBody>
          <a:bodyPr wrap="square" anchor="t" lIns="36576" rIns="36576" tIns="18288" bIns="18288">
            <a:spAutoFit/>
          </a:bodyPr>
          <a:lstStyle/>
          <a:p>
            <a:pPr algn="l"/>
            <a:r>
              <a:rPr sz="3600" b="1" i="0">
                <a:solidFill>
                  <a:srgbClr val="FFFFFF"/>
                </a:solidFill>
                <a:latin typeface="Cambria"/>
              </a:rPr>
              <a:t>Key takeaways</a:t>
            </a:r>
          </a:p>
        </p:txBody>
      </p:sp>
      <p:sp>
        <p:nvSpPr>
          <p:cNvPr id="3" name="Rounded Rectangle 2"/>
          <p:cNvSpPr/>
          <p:nvPr/>
        </p:nvSpPr>
        <p:spPr>
          <a:xfrm>
            <a:off x="822960" y="1600200"/>
            <a:ext cx="3383280" cy="1600200"/>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1709928"/>
            <a:ext cx="3063240" cy="365760"/>
          </a:xfrm>
          <a:prstGeom prst="rect">
            <a:avLst/>
          </a:prstGeom>
          <a:noFill/>
        </p:spPr>
        <p:txBody>
          <a:bodyPr wrap="square" anchor="t" lIns="36576" rIns="36576" tIns="18288" bIns="18288">
            <a:spAutoFit/>
          </a:bodyPr>
          <a:lstStyle/>
          <a:p>
            <a:pPr algn="l"/>
            <a:r>
              <a:rPr sz="1550" b="1" i="0">
                <a:solidFill>
                  <a:srgbClr val="FFFFFF"/>
                </a:solidFill>
                <a:latin typeface="Calibri"/>
              </a:rPr>
              <a:t>Selected fairly</a:t>
            </a:r>
          </a:p>
        </p:txBody>
      </p:sp>
      <p:sp>
        <p:nvSpPr>
          <p:cNvPr id="5" name="TextBox 4"/>
          <p:cNvSpPr txBox="1"/>
          <p:nvPr/>
        </p:nvSpPr>
        <p:spPr>
          <a:xfrm>
            <a:off x="987552" y="2103120"/>
            <a:ext cx="3063240" cy="1051560"/>
          </a:xfrm>
          <a:prstGeom prst="rect">
            <a:avLst/>
          </a:prstGeom>
          <a:noFill/>
        </p:spPr>
        <p:txBody>
          <a:bodyPr wrap="square" anchor="t" lIns="36576" rIns="36576" tIns="18288" bIns="18288">
            <a:spAutoFit/>
          </a:bodyPr>
          <a:lstStyle/>
          <a:p>
            <a:pPr algn="l"/>
            <a:r>
              <a:rPr sz="1200" b="0" i="0">
                <a:solidFill>
                  <a:srgbClr val="CADCFC"/>
                </a:solidFill>
                <a:latin typeface="Calibri"/>
              </a:rPr>
              <a:t>Fixed metric and folds; 12 candidates; champion chosen for deployability, not only score.</a:t>
            </a:r>
          </a:p>
        </p:txBody>
      </p:sp>
      <p:sp>
        <p:nvSpPr>
          <p:cNvPr id="6" name="Rounded Rectangle 5"/>
          <p:cNvSpPr/>
          <p:nvPr/>
        </p:nvSpPr>
        <p:spPr>
          <a:xfrm>
            <a:off x="4407408" y="1600200"/>
            <a:ext cx="3383280" cy="1600200"/>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09928"/>
            <a:ext cx="3063240" cy="365760"/>
          </a:xfrm>
          <a:prstGeom prst="rect">
            <a:avLst/>
          </a:prstGeom>
          <a:noFill/>
        </p:spPr>
        <p:txBody>
          <a:bodyPr wrap="square" anchor="t" lIns="36576" rIns="36576" tIns="18288" bIns="18288">
            <a:spAutoFit/>
          </a:bodyPr>
          <a:lstStyle/>
          <a:p>
            <a:pPr algn="l"/>
            <a:r>
              <a:rPr sz="1550" b="1" i="0">
                <a:solidFill>
                  <a:srgbClr val="FFFFFF"/>
                </a:solidFill>
                <a:latin typeface="Calibri"/>
              </a:rPr>
              <a:t>Proven on unseen data</a:t>
            </a:r>
          </a:p>
        </p:txBody>
      </p:sp>
      <p:sp>
        <p:nvSpPr>
          <p:cNvPr id="8" name="TextBox 7"/>
          <p:cNvSpPr txBox="1"/>
          <p:nvPr/>
        </p:nvSpPr>
        <p:spPr>
          <a:xfrm>
            <a:off x="4572000" y="2103120"/>
            <a:ext cx="3063240" cy="1051560"/>
          </a:xfrm>
          <a:prstGeom prst="rect">
            <a:avLst/>
          </a:prstGeom>
          <a:noFill/>
        </p:spPr>
        <p:txBody>
          <a:bodyPr wrap="square" anchor="t" lIns="36576" rIns="36576" tIns="18288" bIns="18288">
            <a:spAutoFit/>
          </a:bodyPr>
          <a:lstStyle/>
          <a:p>
            <a:pPr algn="l"/>
            <a:r>
              <a:rPr sz="1200" b="0" i="0">
                <a:solidFill>
                  <a:srgbClr val="CADCFC"/>
                </a:solidFill>
                <a:latin typeface="Calibri"/>
              </a:rPr>
              <a:t>OOT PR-AUC 0.619 vs baseline 0.542; no drop from validation; CI excludes zero.</a:t>
            </a:r>
          </a:p>
        </p:txBody>
      </p:sp>
      <p:sp>
        <p:nvSpPr>
          <p:cNvPr id="9" name="Rounded Rectangle 8"/>
          <p:cNvSpPr/>
          <p:nvPr/>
        </p:nvSpPr>
        <p:spPr>
          <a:xfrm>
            <a:off x="7991856" y="1600200"/>
            <a:ext cx="3383280" cy="1600200"/>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6448" y="1709928"/>
            <a:ext cx="3063240" cy="365760"/>
          </a:xfrm>
          <a:prstGeom prst="rect">
            <a:avLst/>
          </a:prstGeom>
          <a:noFill/>
        </p:spPr>
        <p:txBody>
          <a:bodyPr wrap="square" anchor="t" lIns="36576" rIns="36576" tIns="18288" bIns="18288">
            <a:spAutoFit/>
          </a:bodyPr>
          <a:lstStyle/>
          <a:p>
            <a:pPr algn="l"/>
            <a:r>
              <a:rPr sz="1550" b="1" i="0">
                <a:solidFill>
                  <a:srgbClr val="FFFFFF"/>
                </a:solidFill>
                <a:latin typeface="Calibri"/>
              </a:rPr>
              <a:t>Every step tested, not assumed</a:t>
            </a:r>
          </a:p>
        </p:txBody>
      </p:sp>
      <p:sp>
        <p:nvSpPr>
          <p:cNvPr id="11" name="TextBox 10"/>
          <p:cNvSpPr txBox="1"/>
          <p:nvPr/>
        </p:nvSpPr>
        <p:spPr>
          <a:xfrm>
            <a:off x="8156448" y="2103120"/>
            <a:ext cx="3063240" cy="1051560"/>
          </a:xfrm>
          <a:prstGeom prst="rect">
            <a:avLst/>
          </a:prstGeom>
          <a:noFill/>
        </p:spPr>
        <p:txBody>
          <a:bodyPr wrap="square" anchor="t" lIns="36576" rIns="36576" tIns="18288" bIns="18288">
            <a:spAutoFit/>
          </a:bodyPr>
          <a:lstStyle/>
          <a:p>
            <a:pPr algn="l"/>
            <a:r>
              <a:rPr sz="1200" b="0" i="0">
                <a:solidFill>
                  <a:srgbClr val="CADCFC"/>
                </a:solidFill>
                <a:latin typeface="Calibri"/>
              </a:rPr>
              <a:t>Weighting and tuning tested and rejected by rule; feature set cut 66 → 30.</a:t>
            </a:r>
          </a:p>
        </p:txBody>
      </p:sp>
      <p:sp>
        <p:nvSpPr>
          <p:cNvPr id="12" name="Rounded Rectangle 11"/>
          <p:cNvSpPr/>
          <p:nvPr/>
        </p:nvSpPr>
        <p:spPr>
          <a:xfrm>
            <a:off x="822960" y="3383280"/>
            <a:ext cx="3383280" cy="1600200"/>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3493008"/>
            <a:ext cx="3063240" cy="365760"/>
          </a:xfrm>
          <a:prstGeom prst="rect">
            <a:avLst/>
          </a:prstGeom>
          <a:noFill/>
        </p:spPr>
        <p:txBody>
          <a:bodyPr wrap="square" anchor="t" lIns="36576" rIns="36576" tIns="18288" bIns="18288">
            <a:spAutoFit/>
          </a:bodyPr>
          <a:lstStyle/>
          <a:p>
            <a:pPr algn="l"/>
            <a:r>
              <a:rPr sz="1550" b="1" i="0">
                <a:solidFill>
                  <a:srgbClr val="FFFFFF"/>
                </a:solidFill>
                <a:latin typeface="Calibri"/>
              </a:rPr>
              <a:t>Understood and robust</a:t>
            </a:r>
          </a:p>
        </p:txBody>
      </p:sp>
      <p:sp>
        <p:nvSpPr>
          <p:cNvPr id="14" name="TextBox 13"/>
          <p:cNvSpPr txBox="1"/>
          <p:nvPr/>
        </p:nvSpPr>
        <p:spPr>
          <a:xfrm>
            <a:off x="987552" y="3886200"/>
            <a:ext cx="3063240" cy="1051560"/>
          </a:xfrm>
          <a:prstGeom prst="rect">
            <a:avLst/>
          </a:prstGeom>
          <a:noFill/>
        </p:spPr>
        <p:txBody>
          <a:bodyPr wrap="square" anchor="t" lIns="36576" rIns="36576" tIns="18288" bIns="18288">
            <a:spAutoFit/>
          </a:bodyPr>
          <a:lstStyle/>
          <a:p>
            <a:pPr algn="l"/>
            <a:r>
              <a:rPr sz="1200" b="0" i="0">
                <a:solidFill>
                  <a:srgbClr val="CADCFC"/>
                </a:solidFill>
                <a:latin typeface="Calibri"/>
              </a:rPr>
              <a:t>SHAP explains each score; noise, missing data, seeds and threshold changes barely move it.</a:t>
            </a:r>
          </a:p>
        </p:txBody>
      </p:sp>
      <p:sp>
        <p:nvSpPr>
          <p:cNvPr id="15" name="Rounded Rectangle 14"/>
          <p:cNvSpPr/>
          <p:nvPr/>
        </p:nvSpPr>
        <p:spPr>
          <a:xfrm>
            <a:off x="4407408" y="3383280"/>
            <a:ext cx="3383280" cy="1600200"/>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493008"/>
            <a:ext cx="3063240" cy="365760"/>
          </a:xfrm>
          <a:prstGeom prst="rect">
            <a:avLst/>
          </a:prstGeom>
          <a:noFill/>
        </p:spPr>
        <p:txBody>
          <a:bodyPr wrap="square" anchor="t" lIns="36576" rIns="36576" tIns="18288" bIns="18288">
            <a:spAutoFit/>
          </a:bodyPr>
          <a:lstStyle/>
          <a:p>
            <a:pPr algn="l"/>
            <a:r>
              <a:rPr sz="1550" b="1" i="0">
                <a:solidFill>
                  <a:srgbClr val="FFFFFF"/>
                </a:solidFill>
                <a:latin typeface="Calibri"/>
              </a:rPr>
              <a:t>Operated, not just trained</a:t>
            </a:r>
          </a:p>
        </p:txBody>
      </p:sp>
      <p:sp>
        <p:nvSpPr>
          <p:cNvPr id="17" name="TextBox 16"/>
          <p:cNvSpPr txBox="1"/>
          <p:nvPr/>
        </p:nvSpPr>
        <p:spPr>
          <a:xfrm>
            <a:off x="4572000" y="3886200"/>
            <a:ext cx="3063240" cy="1051560"/>
          </a:xfrm>
          <a:prstGeom prst="rect">
            <a:avLst/>
          </a:prstGeom>
          <a:noFill/>
        </p:spPr>
        <p:txBody>
          <a:bodyPr wrap="square" anchor="t" lIns="36576" rIns="36576" tIns="18288" bIns="18288">
            <a:spAutoFit/>
          </a:bodyPr>
          <a:lstStyle/>
          <a:p>
            <a:pPr algn="l"/>
            <a:r>
              <a:rPr sz="1200" b="0" i="0">
                <a:solidFill>
                  <a:srgbClr val="CADCFC"/>
                </a:solidFill>
                <a:latin typeface="Calibri"/>
              </a:rPr>
              <a:t>Monthly scoring from the registry; monitoring with delayed labels; rules for refresh and rollback.</a:t>
            </a:r>
          </a:p>
        </p:txBody>
      </p:sp>
      <p:sp>
        <p:nvSpPr>
          <p:cNvPr id="18" name="Rounded Rectangle 17"/>
          <p:cNvSpPr/>
          <p:nvPr/>
        </p:nvSpPr>
        <p:spPr>
          <a:xfrm>
            <a:off x="7991856" y="3383280"/>
            <a:ext cx="3383280" cy="1600200"/>
          </a:xfrm>
          <a:prstGeom prst="roundRect">
            <a:avLst>
              <a:gd name="adj" fmla="val 6000"/>
            </a:avLst>
          </a:prstGeom>
          <a:solidFill>
            <a:srgbClr val="22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6448" y="3493008"/>
            <a:ext cx="3063240" cy="365760"/>
          </a:xfrm>
          <a:prstGeom prst="rect">
            <a:avLst/>
          </a:prstGeom>
          <a:noFill/>
        </p:spPr>
        <p:txBody>
          <a:bodyPr wrap="square" anchor="t" lIns="36576" rIns="36576" tIns="18288" bIns="18288">
            <a:spAutoFit/>
          </a:bodyPr>
          <a:lstStyle/>
          <a:p>
            <a:pPr algn="l"/>
            <a:r>
              <a:rPr sz="1550" b="1" i="0">
                <a:solidFill>
                  <a:srgbClr val="FFFFFF"/>
                </a:solidFill>
                <a:latin typeface="Calibri"/>
              </a:rPr>
              <a:t>Reproducible end to end</a:t>
            </a:r>
          </a:p>
        </p:txBody>
      </p:sp>
      <p:sp>
        <p:nvSpPr>
          <p:cNvPr id="20" name="TextBox 19"/>
          <p:cNvSpPr txBox="1"/>
          <p:nvPr/>
        </p:nvSpPr>
        <p:spPr>
          <a:xfrm>
            <a:off x="8156448" y="3886200"/>
            <a:ext cx="3063240" cy="1051560"/>
          </a:xfrm>
          <a:prstGeom prst="rect">
            <a:avLst/>
          </a:prstGeom>
          <a:noFill/>
        </p:spPr>
        <p:txBody>
          <a:bodyPr wrap="square" anchor="t" lIns="36576" rIns="36576" tIns="18288" bIns="18288">
            <a:spAutoFit/>
          </a:bodyPr>
          <a:lstStyle/>
          <a:p>
            <a:pPr algn="l"/>
            <a:r>
              <a:rPr sz="1200" b="0" i="0">
                <a:solidFill>
                  <a:srgbClr val="CADCFC"/>
                </a:solidFill>
                <a:latin typeface="Calibri"/>
              </a:rPr>
              <a:t>Three Airflow DAGs in Docker; month by month identical to the full build.</a:t>
            </a:r>
          </a:p>
        </p:txBody>
      </p:sp>
      <p:sp>
        <p:nvSpPr>
          <p:cNvPr id="21" name="TextBox 20"/>
          <p:cNvSpPr txBox="1"/>
          <p:nvPr/>
        </p:nvSpPr>
        <p:spPr>
          <a:xfrm>
            <a:off x="822960" y="5349240"/>
            <a:ext cx="10515600" cy="365760"/>
          </a:xfrm>
          <a:prstGeom prst="rect">
            <a:avLst/>
          </a:prstGeom>
          <a:noFill/>
        </p:spPr>
        <p:txBody>
          <a:bodyPr wrap="square" anchor="t" lIns="36576" rIns="36576" tIns="18288" bIns="18288">
            <a:spAutoFit/>
          </a:bodyPr>
          <a:lstStyle/>
          <a:p>
            <a:pPr algn="l"/>
            <a:r>
              <a:rPr sz="1400" b="1" i="0">
                <a:solidFill>
                  <a:srgbClr val="CADCFC"/>
                </a:solidFill>
                <a:latin typeface="Calibri"/>
              </a:rPr>
              <a:t>WATCH ITEMS</a:t>
            </a:r>
          </a:p>
        </p:txBody>
      </p:sp>
      <p:sp>
        <p:nvSpPr>
          <p:cNvPr id="22" name="TextBox 21"/>
          <p:cNvSpPr txBox="1"/>
          <p:nvPr/>
        </p:nvSpPr>
        <p:spPr>
          <a:xfrm>
            <a:off x="822960" y="5669280"/>
            <a:ext cx="10607040" cy="640080"/>
          </a:xfrm>
          <a:prstGeom prst="rect">
            <a:avLst/>
          </a:prstGeom>
          <a:noFill/>
        </p:spPr>
        <p:txBody>
          <a:bodyPr wrap="square" anchor="t" lIns="36576" rIns="36576" tIns="18288" bIns="18288">
            <a:spAutoFit/>
          </a:bodyPr>
          <a:lstStyle/>
          <a:p>
            <a:pPr algn="l"/>
            <a:r>
              <a:rPr sz="1400" b="0" i="0">
                <a:solidFill>
                  <a:srgbClr val="FFFFFF"/>
                </a:solidFill>
                <a:latin typeface="Calibri"/>
              </a:rPr>
              <a:t>2025-01 cohort performance · segment under-prediction (managers, income Q4) · interest-rate and outstanding-debt inputs · challenger blocked until the clickstream feed returns</a:t>
            </a:r>
          </a:p>
        </p:txBody>
      </p:sp>
      <p:sp>
        <p:nvSpPr>
          <p:cNvPr id="23" name="Footer"/>
          <p:cNvSpPr txBox="1"/>
          <p:nvPr/>
        </p:nvSpPr>
        <p:spPr>
          <a:xfrm>
            <a:off x="548640" y="6419088"/>
            <a:ext cx="8229600" cy="274320"/>
          </a:xfrm>
          <a:prstGeom prst="rect">
            <a:avLst/>
          </a:prstGeom>
          <a:noFill/>
        </p:spPr>
        <p:txBody>
          <a:bodyPr wrap="square" anchor="t" lIns="36576" rIns="36576" tIns="18288" bIns="18288">
            <a:spAutoFit/>
          </a:bodyPr>
          <a:lstStyle/>
          <a:p>
            <a:pPr algn="l"/>
            <a:r>
              <a:rPr sz="1000" b="0" i="0">
                <a:solidFill>
                  <a:srgbClr val="CADCFC"/>
                </a:solidFill>
                <a:latin typeface="Calibri"/>
              </a:rPr>
              <a:t>CS611 Assignment 2 · Loan default ML pipeline · Checklist V6.6 steps 24–36</a:t>
            </a:r>
          </a:p>
        </p:txBody>
      </p:sp>
      <p:sp>
        <p:nvSpPr>
          <p:cNvPr id="24" name="Slide number"/>
          <p:cNvSpPr txBox="1"/>
          <p:nvPr/>
        </p:nvSpPr>
        <p:spPr>
          <a:xfrm>
            <a:off x="10881360" y="6419088"/>
            <a:ext cx="777240" cy="274320"/>
          </a:xfrm>
          <a:prstGeom prst="rect">
            <a:avLst/>
          </a:prstGeom>
          <a:noFill/>
        </p:spPr>
        <p:txBody>
          <a:bodyPr wrap="square" anchor="t" lIns="36576" rIns="36576" tIns="18288" bIns="18288">
            <a:spAutoFit/>
          </a:bodyPr>
          <a:lstStyle/>
          <a:p>
            <a:pPr algn="r"/>
            <a:r>
              <a:rPr sz="1000" b="0" i="0">
                <a:solidFill>
                  <a:srgbClr val="CADCFC"/>
                </a:solidFill>
                <a:latin typeface="Calibri"/>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default prediction: ML pipeline (steps 24-36)</dc:title>
  <dc:subject/>
  <dc:creator>albertsoh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